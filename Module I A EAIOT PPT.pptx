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328" r:id="rId6"/>
    <p:sldId id="329" r:id="rId7"/>
    <p:sldId id="331" r:id="rId8"/>
    <p:sldId id="334" r:id="rId9"/>
    <p:sldId id="333" r:id="rId10"/>
    <p:sldId id="336" r:id="rId11"/>
    <p:sldId id="337" r:id="rId12"/>
    <p:sldId id="338" r:id="rId13"/>
    <p:sldId id="339" r:id="rId14"/>
    <p:sldId id="344" r:id="rId15"/>
    <p:sldId id="345" r:id="rId16"/>
    <p:sldId id="346" r:id="rId17"/>
    <p:sldId id="347" r:id="rId18"/>
    <p:sldId id="348" r:id="rId19"/>
    <p:sldId id="349" r:id="rId20"/>
    <p:sldId id="350" r:id="rId21"/>
    <p:sldId id="351" r:id="rId22"/>
    <p:sldId id="360" r:id="rId23"/>
    <p:sldId id="352" r:id="rId24"/>
    <p:sldId id="353" r:id="rId25"/>
    <p:sldId id="354" r:id="rId26"/>
    <p:sldId id="355" r:id="rId27"/>
    <p:sldId id="356" r:id="rId28"/>
    <p:sldId id="361" r:id="rId29"/>
    <p:sldId id="357" r:id="rId30"/>
    <p:sldId id="358" r:id="rId31"/>
    <p:sldId id="362" r:id="rId3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6552056" y="1411935"/>
            <a:ext cx="4130040" cy="2331085"/>
          </a:xfrm>
          <a:prstGeom prst="rect">
            <a:avLst/>
          </a:prstGeom>
        </p:spPr>
        <p:txBody>
          <a:bodyPr wrap="square" lIns="0" tIns="0" rIns="0" bIns="0">
            <a:spAutoFit/>
          </a:bodyPr>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body" idx="1"/>
          </p:nvPr>
        </p:nvSpPr>
        <p:spPr/>
        <p:txBody>
          <a:bodyPr lIns="0" tIns="0" rIns="0" bIns="0"/>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sp>
        <p:nvSpPr>
          <p:cNvPr id="17" name="bg object 17"/>
          <p:cNvSpPr/>
          <p:nvPr/>
        </p:nvSpPr>
        <p:spPr>
          <a:xfrm>
            <a:off x="1194816" y="1898904"/>
            <a:ext cx="9966960" cy="0"/>
          </a:xfrm>
          <a:custGeom>
            <a:avLst/>
            <a:gdLst/>
            <a:ahLst/>
            <a:cxnLst/>
            <a:rect l="l" t="t" r="r" b="b"/>
            <a:pathLst>
              <a:path w="9966960">
                <a:moveTo>
                  <a:pt x="0" y="0"/>
                </a:moveTo>
                <a:lnTo>
                  <a:pt x="9966960" y="0"/>
                </a:lnTo>
              </a:path>
            </a:pathLst>
          </a:custGeom>
          <a:ln w="12192">
            <a:solidFill>
              <a:srgbClr val="404040"/>
            </a:solidFill>
          </a:ln>
        </p:spPr>
        <p:txBody>
          <a:bodyPr wrap="square" lIns="0" tIns="0" rIns="0" bIns="0" rtlCol="0"/>
          <a:lstStyle/>
          <a:p/>
        </p:txBody>
      </p:sp>
      <p:sp>
        <p:nvSpPr>
          <p:cNvPr id="2" name="Holder 2"/>
          <p:cNvSpPr>
            <a:spLocks noGrp="1"/>
          </p:cNvSpPr>
          <p:nvPr>
            <p:ph type="title"/>
          </p:nvPr>
        </p:nvSpPr>
        <p:spPr>
          <a:xfrm>
            <a:off x="890727" y="393649"/>
            <a:ext cx="10410545" cy="1371345"/>
          </a:xfrm>
          <a:prstGeom prst="rect">
            <a:avLst/>
          </a:prstGeom>
        </p:spPr>
        <p:txBody>
          <a:bodyPr wrap="square" lIns="0" tIns="0" rIns="0" bIns="0">
            <a:spAutoFit/>
          </a:bodyPr>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body" idx="1"/>
          </p:nvPr>
        </p:nvSpPr>
        <p:spPr>
          <a:xfrm>
            <a:off x="327761" y="2023237"/>
            <a:ext cx="10824845" cy="3743325"/>
          </a:xfrm>
          <a:prstGeom prst="rect">
            <a:avLst/>
          </a:prstGeom>
        </p:spPr>
        <p:txBody>
          <a:bodyPr wrap="square" lIns="0" tIns="0" rIns="0" bIns="0">
            <a:spAutoFit/>
          </a:bodyPr>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552056" y="1411935"/>
            <a:ext cx="4130040" cy="2259330"/>
          </a:xfrm>
          <a:prstGeom prst="rect">
            <a:avLst/>
          </a:prstGeom>
        </p:spPr>
        <p:txBody>
          <a:bodyPr vert="horz" wrap="square" lIns="0" tIns="12700" rIns="0" bIns="0" rtlCol="0">
            <a:spAutoFit/>
          </a:bodyPr>
          <a:lstStyle/>
          <a:p>
            <a:pPr marL="12700" marR="5080">
              <a:lnSpc>
                <a:spcPts val="5840"/>
              </a:lnSpc>
              <a:spcBef>
                <a:spcPts val="405"/>
              </a:spcBef>
            </a:pPr>
            <a:r>
              <a:rPr lang="en-US" sz="5400" dirty="0">
                <a:solidFill>
                  <a:srgbClr val="252525"/>
                </a:solidFill>
              </a:rPr>
              <a:t>CSD2006</a:t>
            </a:r>
            <a:br>
              <a:rPr lang="en-US" sz="5400" dirty="0">
                <a:solidFill>
                  <a:srgbClr val="252525"/>
                </a:solidFill>
              </a:rPr>
            </a:br>
            <a:r>
              <a:rPr lang="en-US" altLang="en-US" sz="5400" b="1" spc="-25" dirty="0">
                <a:solidFill>
                  <a:srgbClr val="252525"/>
                </a:solidFill>
              </a:rPr>
              <a:t>Fundamentals of Edge AI</a:t>
            </a:r>
            <a:r>
              <a:rPr sz="5400" b="1" spc="-25" dirty="0">
                <a:solidFill>
                  <a:srgbClr val="252525"/>
                </a:solidFill>
              </a:rPr>
              <a:t> </a:t>
            </a:r>
            <a:endParaRPr sz="5400" b="1"/>
          </a:p>
        </p:txBody>
      </p:sp>
      <p:pic>
        <p:nvPicPr>
          <p:cNvPr id="3" name="object 3"/>
          <p:cNvPicPr/>
          <p:nvPr/>
        </p:nvPicPr>
        <p:blipFill>
          <a:blip r:embed="rId1" cstate="print"/>
          <a:stretch>
            <a:fillRect/>
          </a:stretch>
        </p:blipFill>
        <p:spPr>
          <a:xfrm>
            <a:off x="0" y="0"/>
            <a:ext cx="6096000" cy="6857999"/>
          </a:xfrm>
          <a:prstGeom prst="rect">
            <a:avLst/>
          </a:prstGeom>
        </p:spPr>
      </p:pic>
      <p:sp>
        <p:nvSpPr>
          <p:cNvPr id="4" name="object 4"/>
          <p:cNvSpPr/>
          <p:nvPr/>
        </p:nvSpPr>
        <p:spPr>
          <a:xfrm>
            <a:off x="6806183" y="4294632"/>
            <a:ext cx="4389120" cy="0"/>
          </a:xfrm>
          <a:custGeom>
            <a:avLst/>
            <a:gdLst/>
            <a:ahLst/>
            <a:cxnLst/>
            <a:rect l="l" t="t" r="r" b="b"/>
            <a:pathLst>
              <a:path w="4389120">
                <a:moveTo>
                  <a:pt x="0" y="0"/>
                </a:moveTo>
                <a:lnTo>
                  <a:pt x="4389120" y="0"/>
                </a:lnTo>
              </a:path>
            </a:pathLst>
          </a:custGeom>
          <a:ln w="12192">
            <a:solidFill>
              <a:srgbClr val="404040"/>
            </a:solidFill>
          </a:ln>
        </p:spPr>
        <p:txBody>
          <a:bodyPr wrap="square" lIns="0" tIns="0" rIns="0" bIns="0" rtlCol="0"/>
          <a:lstStyle/>
          <a:p/>
        </p:txBody>
      </p:sp>
      <p:sp>
        <p:nvSpPr>
          <p:cNvPr id="5" name="object 5"/>
          <p:cNvSpPr txBox="1"/>
          <p:nvPr/>
        </p:nvSpPr>
        <p:spPr>
          <a:xfrm>
            <a:off x="6874002" y="4599203"/>
            <a:ext cx="2895600" cy="936625"/>
          </a:xfrm>
          <a:prstGeom prst="rect">
            <a:avLst/>
          </a:prstGeom>
        </p:spPr>
        <p:txBody>
          <a:bodyPr vert="horz" wrap="square" lIns="0" tIns="13335" rIns="0" bIns="0" rtlCol="0">
            <a:spAutoFit/>
          </a:bodyPr>
          <a:lstStyle/>
          <a:p>
            <a:pPr marL="12700">
              <a:lnSpc>
                <a:spcPct val="100000"/>
              </a:lnSpc>
              <a:spcBef>
                <a:spcPts val="105"/>
              </a:spcBef>
            </a:pPr>
            <a:r>
              <a:rPr sz="6000" spc="-20" dirty="0">
                <a:solidFill>
                  <a:srgbClr val="FF0000"/>
                </a:solidFill>
                <a:latin typeface="Calibri Light" panose="020F0302020204030204"/>
                <a:cs typeface="Calibri Light" panose="020F0302020204030204"/>
              </a:rPr>
              <a:t>Module</a:t>
            </a:r>
            <a:r>
              <a:rPr sz="6000" spc="-280" dirty="0">
                <a:solidFill>
                  <a:srgbClr val="FF0000"/>
                </a:solidFill>
                <a:latin typeface="Calibri Light" panose="020F0302020204030204"/>
                <a:cs typeface="Calibri Light" panose="020F0302020204030204"/>
              </a:rPr>
              <a:t> </a:t>
            </a:r>
            <a:r>
              <a:rPr sz="6000" spc="-25" dirty="0">
                <a:solidFill>
                  <a:srgbClr val="FF0000"/>
                </a:solidFill>
                <a:latin typeface="Calibri Light" panose="020F0302020204030204"/>
                <a:cs typeface="Calibri Light" panose="020F0302020204030204"/>
              </a:rPr>
              <a:t>I</a:t>
            </a:r>
            <a:endParaRPr sz="6000">
              <a:latin typeface="Calibri Light" panose="020F0302020204030204"/>
              <a:cs typeface="Calibri Light" panose="020F03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grpSp>
        <p:nvGrpSpPr>
          <p:cNvPr id="3" name="object 3"/>
          <p:cNvGrpSpPr/>
          <p:nvPr/>
        </p:nvGrpSpPr>
        <p:grpSpPr>
          <a:xfrm>
            <a:off x="0" y="0"/>
            <a:ext cx="11082655" cy="6858000"/>
            <a:chOff x="0" y="0"/>
            <a:chExt cx="11082655" cy="6858000"/>
          </a:xfrm>
        </p:grpSpPr>
        <p:sp>
          <p:nvSpPr>
            <p:cNvPr id="4" name="object 4"/>
            <p:cNvSpPr/>
            <p:nvPr/>
          </p:nvSpPr>
          <p:spPr>
            <a:xfrm>
              <a:off x="1207008" y="4474464"/>
              <a:ext cx="9875520" cy="0"/>
            </a:xfrm>
            <a:custGeom>
              <a:avLst/>
              <a:gdLst/>
              <a:ahLst/>
              <a:cxnLst/>
              <a:rect l="l" t="t" r="r" b="b"/>
              <a:pathLst>
                <a:path w="9875520">
                  <a:moveTo>
                    <a:pt x="0" y="0"/>
                  </a:moveTo>
                  <a:lnTo>
                    <a:pt x="9875520" y="0"/>
                  </a:lnTo>
                </a:path>
              </a:pathLst>
            </a:custGeom>
            <a:ln w="12192">
              <a:solidFill>
                <a:srgbClr val="404040"/>
              </a:solidFill>
            </a:ln>
          </p:spPr>
          <p:txBody>
            <a:bodyPr wrap="square" lIns="0" tIns="0" rIns="0" bIns="0" rtlCol="0"/>
            <a:lstStyle/>
            <a:p/>
          </p:txBody>
        </p:sp>
        <p:pic>
          <p:nvPicPr>
            <p:cNvPr id="5" name="object 5"/>
            <p:cNvPicPr/>
            <p:nvPr/>
          </p:nvPicPr>
          <p:blipFill>
            <a:blip r:embed="rId1" cstate="print"/>
            <a:stretch>
              <a:fillRect/>
            </a:stretch>
          </p:blipFill>
          <p:spPr>
            <a:xfrm>
              <a:off x="0" y="0"/>
              <a:ext cx="5593080" cy="6857999"/>
            </a:xfrm>
            <a:prstGeom prst="rect">
              <a:avLst/>
            </a:prstGeom>
          </p:spPr>
        </p:pic>
      </p:grpSp>
      <p:sp>
        <p:nvSpPr>
          <p:cNvPr id="6" name="object 6"/>
          <p:cNvSpPr txBox="1">
            <a:spLocks noGrp="1"/>
          </p:cNvSpPr>
          <p:nvPr>
            <p:ph type="title"/>
          </p:nvPr>
        </p:nvSpPr>
        <p:spPr>
          <a:xfrm>
            <a:off x="6279007" y="1381455"/>
            <a:ext cx="4126229" cy="935990"/>
          </a:xfrm>
          <a:prstGeom prst="rect">
            <a:avLst/>
          </a:prstGeom>
        </p:spPr>
        <p:txBody>
          <a:bodyPr vert="horz" wrap="square" lIns="0" tIns="12700" rIns="0" bIns="0" rtlCol="0">
            <a:spAutoFit/>
          </a:bodyPr>
          <a:lstStyle/>
          <a:p>
            <a:pPr marL="12700">
              <a:lnSpc>
                <a:spcPct val="100000"/>
              </a:lnSpc>
              <a:spcBef>
                <a:spcPts val="100"/>
              </a:spcBef>
            </a:pPr>
            <a:r>
              <a:rPr sz="6000" spc="-20" dirty="0">
                <a:solidFill>
                  <a:srgbClr val="252525"/>
                </a:solidFill>
              </a:rPr>
              <a:t>Module</a:t>
            </a:r>
            <a:r>
              <a:rPr sz="6000" spc="-235" dirty="0">
                <a:solidFill>
                  <a:srgbClr val="252525"/>
                </a:solidFill>
              </a:rPr>
              <a:t> </a:t>
            </a:r>
            <a:r>
              <a:rPr sz="6000" dirty="0">
                <a:solidFill>
                  <a:srgbClr val="252525"/>
                </a:solidFill>
              </a:rPr>
              <a:t>I</a:t>
            </a:r>
            <a:r>
              <a:rPr sz="6000" spc="-195" dirty="0">
                <a:solidFill>
                  <a:srgbClr val="252525"/>
                </a:solidFill>
              </a:rPr>
              <a:t> </a:t>
            </a:r>
            <a:r>
              <a:rPr sz="6000" spc="-25" dirty="0">
                <a:solidFill>
                  <a:srgbClr val="252525"/>
                </a:solidFill>
              </a:rPr>
              <a:t>–L1</a:t>
            </a:r>
            <a:endParaRPr sz="6000"/>
          </a:p>
        </p:txBody>
      </p:sp>
      <p:sp>
        <p:nvSpPr>
          <p:cNvPr id="7" name="object 7"/>
          <p:cNvSpPr txBox="1"/>
          <p:nvPr/>
        </p:nvSpPr>
        <p:spPr>
          <a:xfrm>
            <a:off x="5672455" y="2642235"/>
            <a:ext cx="6435090" cy="2080895"/>
          </a:xfrm>
          <a:prstGeom prst="rect">
            <a:avLst/>
          </a:prstGeom>
        </p:spPr>
        <p:txBody>
          <a:bodyPr vert="horz" wrap="square" lIns="0" tIns="12065" rIns="0" bIns="0" rtlCol="0">
            <a:spAutoFit/>
          </a:bodyPr>
          <a:lstStyle/>
          <a:p>
            <a:pPr marL="0" indent="0">
              <a:buNone/>
            </a:pPr>
            <a:r>
              <a:rPr lang="en-US" sz="1900" b="1">
                <a:sym typeface="+mn-ea"/>
              </a:rPr>
              <a:t>After going through this topic student should be able to</a:t>
            </a:r>
            <a:endParaRPr lang="en-US" sz="1900" b="1">
              <a:sym typeface="+mn-ea"/>
            </a:endParaRPr>
          </a:p>
          <a:p>
            <a:pPr marL="0" indent="0">
              <a:buNone/>
            </a:pPr>
            <a:endParaRPr lang="en-US" sz="1900" b="1"/>
          </a:p>
          <a:p>
            <a:pPr marL="12700">
              <a:lnSpc>
                <a:spcPts val="2220"/>
              </a:lnSpc>
              <a:spcBef>
                <a:spcPts val="95"/>
              </a:spcBef>
              <a:tabLst>
                <a:tab pos="2570480" algn="l"/>
                <a:tab pos="3921125" algn="l"/>
              </a:tabLst>
            </a:pPr>
            <a:r>
              <a:rPr lang="en-US" sz="1900">
                <a:sym typeface="+mn-ea"/>
              </a:rPr>
              <a:t>CO1:</a:t>
            </a:r>
            <a:r>
              <a:rPr lang="en-US" altLang="en-US" sz="1900">
                <a:sym typeface="+mn-ea"/>
              </a:rPr>
              <a:t>Define Edge Computing</a:t>
            </a:r>
            <a:endParaRPr lang="en-US" altLang="en-US" sz="1900"/>
          </a:p>
          <a:p>
            <a:pPr marL="12700">
              <a:lnSpc>
                <a:spcPts val="2220"/>
              </a:lnSpc>
              <a:spcBef>
                <a:spcPts val="95"/>
              </a:spcBef>
              <a:tabLst>
                <a:tab pos="2570480" algn="l"/>
                <a:tab pos="3921125" algn="l"/>
              </a:tabLst>
            </a:pPr>
            <a:r>
              <a:rPr lang="en-US" altLang="en-US" sz="1900">
                <a:sym typeface="+mn-ea"/>
              </a:rPr>
              <a:t>CO2:</a:t>
            </a:r>
            <a:r>
              <a:rPr lang="en-US" sz="1900" dirty="0">
                <a:latin typeface="Times New Roman" panose="02020603050405020304" charset="0"/>
                <a:cs typeface="Times New Roman" panose="02020603050405020304" charset="0"/>
                <a:sym typeface="+mn-ea"/>
              </a:rPr>
              <a:t>Why Edge Computing is Needed</a:t>
            </a:r>
            <a:endParaRPr lang="en-US" sz="1900" dirty="0">
              <a:latin typeface="Times New Roman" panose="02020603050405020304" charset="0"/>
              <a:cs typeface="Times New Roman" panose="02020603050405020304" charset="0"/>
              <a:sym typeface="+mn-ea"/>
            </a:endParaRPr>
          </a:p>
          <a:p>
            <a:pPr marL="12700">
              <a:lnSpc>
                <a:spcPts val="2220"/>
              </a:lnSpc>
              <a:spcBef>
                <a:spcPts val="95"/>
              </a:spcBef>
              <a:tabLst>
                <a:tab pos="2570480" algn="l"/>
                <a:tab pos="3921125" algn="l"/>
              </a:tabLst>
            </a:pPr>
            <a:r>
              <a:rPr lang="en-US" altLang="en-US" sz="1900">
                <a:sym typeface="+mn-ea"/>
              </a:rPr>
              <a:t>CO3:What is meant by Edge AI?</a:t>
            </a:r>
            <a:endParaRPr lang="en-US" altLang="en-US" sz="1900"/>
          </a:p>
          <a:p>
            <a:pPr marL="12700">
              <a:lnSpc>
                <a:spcPts val="2220"/>
              </a:lnSpc>
              <a:spcBef>
                <a:spcPts val="95"/>
              </a:spcBef>
              <a:tabLst>
                <a:tab pos="2570480" algn="l"/>
                <a:tab pos="3921125" algn="l"/>
              </a:tabLst>
            </a:pPr>
            <a:r>
              <a:rPr lang="en-US" altLang="en-US" sz="1900">
                <a:sym typeface="+mn-ea"/>
              </a:rPr>
              <a:t>CO4:why Edge AI is a cutting-edge technology</a:t>
            </a:r>
            <a:endParaRPr lang="en-US" altLang="en-US" sz="1900"/>
          </a:p>
          <a:p>
            <a:pPr marL="12700">
              <a:lnSpc>
                <a:spcPts val="2220"/>
              </a:lnSpc>
              <a:spcBef>
                <a:spcPts val="95"/>
              </a:spcBef>
              <a:tabLst>
                <a:tab pos="2570480" algn="l"/>
                <a:tab pos="3921125" algn="l"/>
              </a:tabLst>
            </a:pPr>
            <a:endParaRPr sz="1900">
              <a:latin typeface="Trebuchet MS" panose="020B0603020202020204"/>
              <a:cs typeface="Trebuchet MS" panose="020B0603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58927" rIns="0" bIns="0" rtlCol="0">
            <a:spAutoFit/>
          </a:bodyPr>
          <a:lstStyle/>
          <a:p>
            <a:pPr marL="297815">
              <a:lnSpc>
                <a:spcPct val="100000"/>
              </a:lnSpc>
              <a:spcBef>
                <a:spcPts val="110"/>
              </a:spcBef>
            </a:pPr>
            <a:r>
              <a:rPr spc="-55" dirty="0"/>
              <a:t>Introduction</a:t>
            </a:r>
            <a:endParaRPr spc="-55" dirty="0"/>
          </a:p>
        </p:txBody>
      </p:sp>
      <p:sp>
        <p:nvSpPr>
          <p:cNvPr id="4" name="object 4"/>
          <p:cNvSpPr txBox="1"/>
          <p:nvPr/>
        </p:nvSpPr>
        <p:spPr>
          <a:xfrm>
            <a:off x="76200" y="1981200"/>
            <a:ext cx="11866880" cy="3905250"/>
          </a:xfrm>
          <a:prstGeom prst="rect">
            <a:avLst/>
          </a:prstGeom>
        </p:spPr>
        <p:txBody>
          <a:bodyPr vert="horz" wrap="square" lIns="0" tIns="13335" rIns="0" bIns="0" rtlCol="0">
            <a:noAutofit/>
          </a:bodyPr>
          <a:lstStyle/>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r>
              <a:rPr lang="en-US" sz="2400" b="1" dirty="0">
                <a:latin typeface="Times New Roman" panose="02020603050405020304" charset="0"/>
                <a:cs typeface="Times New Roman" panose="02020603050405020304" charset="0"/>
                <a:sym typeface="+mn-ea"/>
              </a:rPr>
              <a:t>Edge Computing</a:t>
            </a:r>
            <a:r>
              <a:rPr lang="en-US" sz="2400" dirty="0">
                <a:latin typeface="Times New Roman" panose="02020603050405020304" charset="0"/>
                <a:cs typeface="Times New Roman" panose="02020603050405020304" charset="0"/>
                <a:sym typeface="+mn-ea"/>
              </a:rPr>
              <a:t> is a modern computing paradigm that brings </a:t>
            </a:r>
            <a:r>
              <a:rPr lang="en-US" sz="2400" b="1" dirty="0">
                <a:latin typeface="Times New Roman" panose="02020603050405020304" charset="0"/>
                <a:cs typeface="Times New Roman" panose="02020603050405020304" charset="0"/>
                <a:sym typeface="+mn-ea"/>
              </a:rPr>
              <a:t>data processing and computation closer to the data source </a:t>
            </a:r>
            <a:r>
              <a:rPr lang="en-US" sz="2400" dirty="0">
                <a:latin typeface="Times New Roman" panose="02020603050405020304" charset="0"/>
                <a:cs typeface="Times New Roman" panose="02020603050405020304" charset="0"/>
                <a:sym typeface="+mn-ea"/>
              </a:rPr>
              <a:t>such as IoT devices, sensors, and gateways—instead of  centralized cloud.</a:t>
            </a:r>
            <a:endParaRPr lang="en-US" sz="2400" dirty="0">
              <a:latin typeface="Times New Roman" panose="02020603050405020304" charset="0"/>
              <a:cs typeface="Times New Roman" panose="02020603050405020304" charset="0"/>
              <a:sym typeface="+mn-ea"/>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lang="en-US" sz="2400" dirty="0">
              <a:latin typeface="Times New Roman" panose="02020603050405020304" charset="0"/>
              <a:cs typeface="Times New Roman" panose="02020603050405020304" charset="0"/>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r>
              <a:rPr lang="en-US" sz="2400" dirty="0">
                <a:latin typeface="Times New Roman" panose="02020603050405020304" charset="0"/>
                <a:cs typeface="Times New Roman" panose="02020603050405020304" charset="0"/>
                <a:sym typeface="+mn-ea"/>
              </a:rPr>
              <a:t>The “</a:t>
            </a:r>
            <a:r>
              <a:rPr lang="en-US" sz="2400" b="1" dirty="0">
                <a:latin typeface="Times New Roman" panose="02020603050405020304" charset="0"/>
                <a:cs typeface="Times New Roman" panose="02020603050405020304" charset="0"/>
                <a:sym typeface="+mn-ea"/>
              </a:rPr>
              <a:t>edge</a:t>
            </a:r>
            <a:r>
              <a:rPr lang="en-US" sz="2400" dirty="0">
                <a:latin typeface="Times New Roman" panose="02020603050405020304" charset="0"/>
                <a:cs typeface="Times New Roman" panose="02020603050405020304" charset="0"/>
                <a:sym typeface="+mn-ea"/>
              </a:rPr>
              <a:t>” refers to the </a:t>
            </a:r>
            <a:r>
              <a:rPr lang="en-US" sz="2400" b="1" dirty="0">
                <a:latin typeface="Times New Roman" panose="02020603050405020304" charset="0"/>
                <a:cs typeface="Times New Roman" panose="02020603050405020304" charset="0"/>
                <a:sym typeface="+mn-ea"/>
              </a:rPr>
              <a:t>edge of the network</a:t>
            </a:r>
            <a:r>
              <a:rPr lang="en-US" sz="2400" dirty="0">
                <a:latin typeface="Times New Roman" panose="02020603050405020304" charset="0"/>
                <a:cs typeface="Times New Roman" panose="02020603050405020304" charset="0"/>
                <a:sym typeface="+mn-ea"/>
              </a:rPr>
              <a:t>, where the data is generated by processing data locally, Edge Computing reduces the </a:t>
            </a:r>
            <a:r>
              <a:rPr lang="en-US" sz="2400" b="1" dirty="0">
                <a:solidFill>
                  <a:srgbClr val="FF0000"/>
                </a:solidFill>
                <a:latin typeface="Times New Roman" panose="02020603050405020304" charset="0"/>
                <a:cs typeface="Times New Roman" panose="02020603050405020304" charset="0"/>
                <a:sym typeface="+mn-ea"/>
              </a:rPr>
              <a:t>time and bandwidth</a:t>
            </a:r>
            <a:r>
              <a:rPr lang="en-US" sz="2400" dirty="0">
                <a:latin typeface="Times New Roman" panose="02020603050405020304" charset="0"/>
                <a:cs typeface="Times New Roman" panose="02020603050405020304" charset="0"/>
                <a:sym typeface="+mn-ea"/>
              </a:rPr>
              <a:t> needed to send data to distant </a:t>
            </a:r>
            <a:r>
              <a:rPr lang="en-US" sz="2400" b="1" dirty="0">
                <a:solidFill>
                  <a:srgbClr val="FF0000"/>
                </a:solidFill>
                <a:latin typeface="Times New Roman" panose="02020603050405020304" charset="0"/>
                <a:cs typeface="Times New Roman" panose="02020603050405020304" charset="0"/>
                <a:sym typeface="+mn-ea"/>
              </a:rPr>
              <a:t>cloud servers</a:t>
            </a:r>
            <a:r>
              <a:rPr lang="en-US" sz="2400" dirty="0">
                <a:latin typeface="Times New Roman" panose="02020603050405020304" charset="0"/>
                <a:cs typeface="Times New Roman" panose="02020603050405020304" charset="0"/>
                <a:sym typeface="+mn-ea"/>
              </a:rPr>
              <a:t>.</a:t>
            </a:r>
            <a:endParaRPr lang="en-US" sz="2400" dirty="0">
              <a:latin typeface="Times New Roman" panose="02020603050405020304" charset="0"/>
              <a:cs typeface="Times New Roman" panose="02020603050405020304" charset="0"/>
              <a:sym typeface="+mn-ea"/>
            </a:endParaRPr>
          </a:p>
          <a:p>
            <a:pPr marL="342900" indent="-342900" algn="just">
              <a:buFont typeface="Wingdings" panose="05000000000000000000" charset="0"/>
              <a:buChar char="v"/>
            </a:pPr>
            <a:r>
              <a:rPr lang="en-US" sz="2400" dirty="0">
                <a:latin typeface="Times New Roman" panose="02020603050405020304" charset="0"/>
                <a:cs typeface="Times New Roman" panose="02020603050405020304" charset="0"/>
                <a:sym typeface="+mn-ea"/>
              </a:rPr>
              <a:t>Processes  the data directly on the nearby device.Enhances </a:t>
            </a:r>
            <a:r>
              <a:rPr lang="en-US" sz="2400" b="1" dirty="0">
                <a:latin typeface="Times New Roman" panose="02020603050405020304" charset="0"/>
                <a:cs typeface="Times New Roman" panose="02020603050405020304" charset="0"/>
                <a:sym typeface="+mn-ea"/>
              </a:rPr>
              <a:t>speed, reliability, and privacy</a:t>
            </a:r>
            <a:r>
              <a:rPr lang="en-US" sz="2400" dirty="0">
                <a:latin typeface="Times New Roman" panose="02020603050405020304" charset="0"/>
                <a:cs typeface="Times New Roman" panose="02020603050405020304" charset="0"/>
                <a:sym typeface="+mn-ea"/>
              </a:rPr>
              <a:t>.</a:t>
            </a:r>
            <a:endParaRPr lang="en-US" sz="2400" dirty="0">
              <a:latin typeface="Times New Roman" panose="02020603050405020304" charset="0"/>
              <a:cs typeface="Times New Roman" panose="02020603050405020304" charset="0"/>
            </a:endParaRPr>
          </a:p>
          <a:p>
            <a:pPr marL="0" indent="0" algn="just">
              <a:buFont typeface="Wingdings" panose="05000000000000000000" charset="0"/>
              <a:buNone/>
            </a:pPr>
            <a:r>
              <a:rPr lang="en-US" sz="2400" dirty="0">
                <a:latin typeface="Times New Roman" panose="02020603050405020304" charset="0"/>
                <a:cs typeface="Times New Roman" panose="02020603050405020304" charset="0"/>
                <a:sym typeface="+mn-ea"/>
              </a:rPr>
              <a:t>     Example: A </a:t>
            </a:r>
            <a:r>
              <a:rPr lang="en-US" sz="2400" b="1" dirty="0">
                <a:solidFill>
                  <a:srgbClr val="FF0000"/>
                </a:solidFill>
                <a:latin typeface="Times New Roman" panose="02020603050405020304" charset="0"/>
                <a:cs typeface="Times New Roman" panose="02020603050405020304" charset="0"/>
                <a:sym typeface="+mn-ea"/>
              </a:rPr>
              <a:t>smart camera</a:t>
            </a:r>
            <a:r>
              <a:rPr lang="en-US" sz="2400" dirty="0">
                <a:latin typeface="Times New Roman" panose="02020603050405020304" charset="0"/>
                <a:cs typeface="Times New Roman" panose="02020603050405020304" charset="0"/>
                <a:sym typeface="+mn-ea"/>
              </a:rPr>
              <a:t> detecting motion and alerting </a:t>
            </a:r>
            <a:r>
              <a:rPr lang="en-US" sz="2400" dirty="0">
                <a:solidFill>
                  <a:srgbClr val="FF0000"/>
                </a:solidFill>
                <a:latin typeface="Times New Roman" panose="02020603050405020304" charset="0"/>
                <a:cs typeface="Times New Roman" panose="02020603050405020304" charset="0"/>
                <a:sym typeface="+mn-ea"/>
              </a:rPr>
              <a:t>without uploading video to the cloud</a:t>
            </a:r>
            <a:endParaRPr lang="en-US" sz="2400"/>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lang="en-US" sz="2400" dirty="0">
              <a:latin typeface="Times New Roman" panose="02020603050405020304" charset="0"/>
              <a:cs typeface="Times New Roman" panose="02020603050405020304" charset="0"/>
              <a:sym typeface="+mn-ea"/>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sz="2400">
              <a:latin typeface="Segoe UI" panose="020B0502040204020203"/>
              <a:cs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727" y="393649"/>
            <a:ext cx="10410545" cy="707390"/>
          </a:xfrm>
        </p:spPr>
        <p:txBody>
          <a:bodyPr/>
          <a:lstStyle/>
          <a:p>
            <a:r>
              <a:rPr lang="en-US" dirty="0">
                <a:latin typeface="Times New Roman" panose="02020603050405020304" charset="0"/>
                <a:cs typeface="Times New Roman" panose="02020603050405020304" charset="0"/>
              </a:rPr>
              <a:t>Why Edge Computing is Needed</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981200"/>
            <a:ext cx="10629900" cy="4062730"/>
          </a:xfrm>
        </p:spPr>
        <p:txBody>
          <a:bodyPr wrap="square"/>
          <a:lstStyle/>
          <a:p>
            <a:r>
              <a:rPr lang="en-US" sz="2400" dirty="0">
                <a:latin typeface="Times New Roman" panose="02020603050405020304" charset="0"/>
                <a:cs typeface="Times New Roman" panose="02020603050405020304" charset="0"/>
              </a:rPr>
              <a:t>Traditional </a:t>
            </a:r>
            <a:r>
              <a:rPr lang="en-US" sz="2400" b="1" dirty="0">
                <a:latin typeface="Times New Roman" panose="02020603050405020304" charset="0"/>
                <a:cs typeface="Times New Roman" panose="02020603050405020304" charset="0"/>
              </a:rPr>
              <a:t>Cloud Computing</a:t>
            </a:r>
            <a:r>
              <a:rPr lang="en-US" sz="2400" b="0" dirty="0">
                <a:latin typeface="Times New Roman" panose="02020603050405020304" charset="0"/>
                <a:cs typeface="Times New Roman" panose="02020603050405020304" charset="0"/>
              </a:rPr>
              <a:t> involves sending all data from IoT devices to remote data centers for processing However, this causes:</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High latency (delay)</a:t>
            </a:r>
            <a:r>
              <a:rPr lang="en-US" sz="2400" dirty="0">
                <a:latin typeface="Times New Roman" panose="02020603050405020304" charset="0"/>
                <a:cs typeface="Times New Roman" panose="02020603050405020304" charset="0"/>
              </a:rPr>
              <a:t> </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dirty="0">
                <a:latin typeface="Times New Roman" panose="02020603050405020304" charset="0"/>
                <a:cs typeface="Times New Roman" panose="02020603050405020304" charset="0"/>
              </a:rPr>
              <a:t>due to long-distance data travel</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Network congestion</a:t>
            </a:r>
            <a:r>
              <a:rPr lang="en-US" sz="2400" dirty="0">
                <a:latin typeface="Times New Roman" panose="02020603050405020304" charset="0"/>
                <a:cs typeface="Times New Roman" panose="02020603050405020304" charset="0"/>
              </a:rPr>
              <a:t> from large data transfers</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Security concerns</a:t>
            </a:r>
            <a:r>
              <a:rPr lang="en-US" sz="2400" dirty="0">
                <a:latin typeface="Times New Roman" panose="02020603050405020304" charset="0"/>
                <a:cs typeface="Times New Roman" panose="02020603050405020304" charset="0"/>
              </a:rPr>
              <a:t> while transmitting sensitive data</a:t>
            </a:r>
            <a:endParaRPr lang="en-US" sz="2400" dirty="0">
              <a:latin typeface="Times New Roman" panose="02020603050405020304" charset="0"/>
              <a:cs typeface="Times New Roman" panose="02020603050405020304" charset="0"/>
            </a:endParaRPr>
          </a:p>
          <a:p>
            <a:pPr indent="0">
              <a:buFont typeface="Wingdings" panose="05000000000000000000" charset="0"/>
              <a:buNone/>
            </a:pPr>
            <a:endParaRPr lang="en-US" sz="2400" dirty="0">
              <a:latin typeface="Times New Roman" panose="02020603050405020304" charset="0"/>
              <a:cs typeface="Times New Roman" panose="02020603050405020304" charset="0"/>
            </a:endParaRPr>
          </a:p>
          <a:p>
            <a:r>
              <a:rPr lang="en-US" sz="2400" dirty="0">
                <a:latin typeface="Times New Roman" panose="02020603050405020304" charset="0"/>
                <a:cs typeface="Times New Roman" panose="02020603050405020304" charset="0"/>
              </a:rPr>
              <a:t>To overcome these limitations, </a:t>
            </a:r>
            <a:r>
              <a:rPr lang="en-US" sz="2400" dirty="0">
                <a:solidFill>
                  <a:srgbClr val="FF0000"/>
                </a:solidFill>
                <a:latin typeface="Times New Roman" panose="02020603050405020304" charset="0"/>
                <a:cs typeface="Times New Roman" panose="02020603050405020304" charset="0"/>
              </a:rPr>
              <a:t>Edge Computing processes data locally  or near the  data source.</a:t>
            </a:r>
            <a:endParaRPr lang="en-US" sz="2400" dirty="0">
              <a:solidFill>
                <a:srgbClr val="FF0000"/>
              </a:solidFill>
              <a:latin typeface="Times New Roman" panose="02020603050405020304" charset="0"/>
              <a:cs typeface="Times New Roman" panose="02020603050405020304" charset="0"/>
            </a:endParaRPr>
          </a:p>
          <a:p>
            <a:endParaRPr lang="en-US" sz="2400" dirty="0">
              <a:solidFill>
                <a:srgbClr val="FF0000"/>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838200"/>
            <a:ext cx="6447501" cy="609600"/>
          </a:xfrm>
        </p:spPr>
        <p:txBody>
          <a:bodyPr>
            <a:normAutofit fontScale="90000"/>
          </a:bodyPr>
          <a:lstStyle/>
          <a:p>
            <a:r>
              <a:rPr lang="en-IN" dirty="0">
                <a:latin typeface="Times New Roman" panose="02020603050405020304" charset="0"/>
                <a:cs typeface="Times New Roman" panose="02020603050405020304" charset="0"/>
              </a:rPr>
              <a:t>Working Principle</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6200" y="1905000"/>
            <a:ext cx="11770360" cy="4495800"/>
          </a:xfrm>
        </p:spPr>
        <p:txBody>
          <a:bodyPr>
            <a:normAutofit/>
          </a:bodyPr>
          <a:lstStyle/>
          <a:p>
            <a:r>
              <a:rPr lang="en-US" sz="2400" dirty="0">
                <a:latin typeface="Times New Roman" panose="02020603050405020304" charset="0"/>
                <a:cs typeface="Times New Roman" panose="02020603050405020304" charset="0"/>
              </a:rPr>
              <a:t>The working of Edge Computing involves three main stages:</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Data Generation:</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IoT devices (e.g., sensors, cameras, smart meters) generate data continuously.</a:t>
            </a:r>
            <a:endParaRPr lang="en-US" sz="2400" b="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Local Processing (Edge Nodes):</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Small computing devices (like routers, gateways, or micro servers) near the data source process and analyze data in real time.</a:t>
            </a:r>
            <a:endParaRPr lang="en-US" sz="2400" b="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Cloud Interaction (Optional):</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Only selected or summarized data is sent to the cloud for further storage, analysis, or long-term decision-making.</a:t>
            </a:r>
            <a:endParaRPr lang="en-US" sz="2400" dirty="0">
              <a:latin typeface="Times New Roman" panose="02020603050405020304" charset="0"/>
              <a:cs typeface="Times New Roman" panose="02020603050405020304"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685749"/>
            <a:ext cx="10410545" cy="707390"/>
          </a:xfrm>
        </p:spPr>
        <p:txBody>
          <a:bodyPr/>
          <a:p>
            <a:r>
              <a:rPr lang="en-US" altLang="en-US" b="1">
                <a:sym typeface="+mn-ea"/>
              </a:rPr>
              <a:t>OVERVIEW OF EDGE AI</a:t>
            </a:r>
            <a:endParaRPr lang="en-US" b="1"/>
          </a:p>
        </p:txBody>
      </p:sp>
      <p:sp>
        <p:nvSpPr>
          <p:cNvPr id="3" name="Content Placeholder 2"/>
          <p:cNvSpPr>
            <a:spLocks noGrp="1"/>
          </p:cNvSpPr>
          <p:nvPr>
            <p:ph idx="1"/>
          </p:nvPr>
        </p:nvSpPr>
        <p:spPr>
          <a:xfrm>
            <a:off x="152400" y="1981200"/>
            <a:ext cx="11753850" cy="3693160"/>
          </a:xfrm>
        </p:spPr>
        <p:txBody>
          <a:bodyPr wrap="square"/>
          <a:p>
            <a:pPr marL="285750" indent="-285750">
              <a:buFont typeface="Wingdings" panose="05000000000000000000" charset="0"/>
              <a:buChar char="v"/>
            </a:pPr>
            <a:r>
              <a:rPr lang="en-US" altLang="en-US" sz="1600"/>
              <a:t> </a:t>
            </a:r>
            <a:r>
              <a:rPr lang="en-US" altLang="en-US" sz="1600" b="1"/>
              <a:t> </a:t>
            </a:r>
            <a:r>
              <a:rPr lang="en-US" altLang="en-US" b="1"/>
              <a:t>Edge Computing Concept:</a:t>
            </a:r>
            <a:endParaRPr lang="en-US" altLang="en-US"/>
          </a:p>
          <a:p>
            <a:pPr algn="just"/>
            <a:r>
              <a:rPr lang="en-US" altLang="en-US" b="0"/>
              <a:t>Moves data processing from centralized cloud data centers to servers closer to end users.Aims to improve </a:t>
            </a:r>
            <a:r>
              <a:rPr lang="en-US" altLang="en-US"/>
              <a:t>quality of experience (QoE)</a:t>
            </a:r>
            <a:r>
              <a:rPr lang="en-US" altLang="en-US" b="0"/>
              <a:t> for users of mobile and fixed Internet-connected devices.Especially important for </a:t>
            </a:r>
            <a:r>
              <a:rPr lang="en-US" altLang="en-US" b="0">
                <a:solidFill>
                  <a:srgbClr val="FF0000"/>
                </a:solidFill>
              </a:rPr>
              <a:t>wireless networks and latency-sensitive applications.</a:t>
            </a:r>
            <a:endParaRPr lang="en-US" altLang="en-US" b="0">
              <a:solidFill>
                <a:srgbClr val="FF0000"/>
              </a:solidFill>
            </a:endParaRPr>
          </a:p>
          <a:p>
            <a:pPr algn="just"/>
            <a:endParaRPr lang="en-US" altLang="en-US" b="0"/>
          </a:p>
          <a:p>
            <a:pPr marL="342900" indent="-342900" algn="just">
              <a:buFont typeface="Wingdings" panose="05000000000000000000" charset="0"/>
              <a:buChar char="v"/>
            </a:pPr>
            <a:r>
              <a:rPr lang="en-US" altLang="en-US"/>
              <a:t>Edge AI:</a:t>
            </a:r>
            <a:r>
              <a:rPr lang="en-US" altLang="en-US" b="0"/>
              <a:t> is a computing paradigm in which</a:t>
            </a:r>
            <a:r>
              <a:rPr lang="en-US" altLang="en-US" b="0">
                <a:solidFill>
                  <a:srgbClr val="FF0000"/>
                </a:solidFill>
              </a:rPr>
              <a:t> artificial intelligence models</a:t>
            </a:r>
            <a:r>
              <a:rPr lang="en-US" altLang="en-US" b="0"/>
              <a:t> and algorithms are deployed and </a:t>
            </a:r>
            <a:r>
              <a:rPr lang="en-US" altLang="en-US" b="0">
                <a:solidFill>
                  <a:srgbClr val="FF0000"/>
                </a:solidFill>
              </a:rPr>
              <a:t>executed directly on edge devices or edge nodes</a:t>
            </a:r>
            <a:endParaRPr lang="en-US" altLang="en-US" b="0"/>
          </a:p>
          <a:p>
            <a:pPr marL="342900" indent="-342900">
              <a:buFont typeface="Wingdings" panose="05000000000000000000" charset="0"/>
              <a:buChar char="v"/>
            </a:pPr>
            <a:endParaRPr lang="en-US" altLang="en-US"/>
          </a:p>
          <a:p>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761949"/>
            <a:ext cx="10410545" cy="707390"/>
          </a:xfrm>
        </p:spPr>
        <p:txBody>
          <a:bodyPr/>
          <a:p>
            <a:r>
              <a:rPr lang="en-US" altLang="en-US" b="1">
                <a:sym typeface="+mn-ea"/>
              </a:rPr>
              <a:t>OVERVIEW OF EDGE AI</a:t>
            </a:r>
            <a:endParaRPr lang="en-US" b="1"/>
          </a:p>
        </p:txBody>
      </p:sp>
      <p:sp>
        <p:nvSpPr>
          <p:cNvPr id="3" name="Text Placeholder 2"/>
          <p:cNvSpPr>
            <a:spLocks noGrp="1"/>
          </p:cNvSpPr>
          <p:nvPr>
            <p:ph type="body" idx="1"/>
          </p:nvPr>
        </p:nvSpPr>
        <p:spPr>
          <a:xfrm>
            <a:off x="144780" y="2023110"/>
            <a:ext cx="11722100" cy="4344670"/>
          </a:xfrm>
        </p:spPr>
        <p:txBody>
          <a:bodyPr wrap="square">
            <a:noAutofit/>
          </a:bodyPr>
          <a:p>
            <a:pPr marL="342900" indent="-342900" algn="just">
              <a:buFont typeface="Wingdings" panose="05000000000000000000" charset="0"/>
              <a:buChar char="v"/>
            </a:pPr>
            <a:r>
              <a:rPr lang="en-US" altLang="en-US">
                <a:sym typeface="+mn-ea"/>
              </a:rPr>
              <a:t>Edge Ai</a:t>
            </a:r>
            <a:r>
              <a:rPr lang="en-US" altLang="en-US" b="0">
                <a:sym typeface="+mn-ea"/>
              </a:rPr>
              <a:t>: Edge AI refers to deploying artificial intelligence algorithms directly on edge devices such as </a:t>
            </a:r>
            <a:r>
              <a:rPr lang="en-US" altLang="en-US">
                <a:solidFill>
                  <a:srgbClr val="FF0000"/>
                </a:solidFill>
                <a:sym typeface="+mn-ea"/>
              </a:rPr>
              <a:t>sensors, mobile devices, and IoT nodes instead  cloud servers.</a:t>
            </a:r>
            <a:endParaRPr lang="en-US" altLang="en-US">
              <a:solidFill>
                <a:srgbClr val="FF0000"/>
              </a:solidFill>
              <a:sym typeface="+mn-ea"/>
            </a:endParaRPr>
          </a:p>
          <a:p>
            <a:pPr marL="342900" indent="-342900" algn="just">
              <a:buFont typeface="Wingdings" panose="05000000000000000000" charset="0"/>
              <a:buChar char="v"/>
            </a:pPr>
            <a:endParaRPr lang="en-US" altLang="en-US" b="0"/>
          </a:p>
          <a:p>
            <a:pPr marL="342900" indent="-342900" algn="just">
              <a:buFont typeface="Wingdings" panose="05000000000000000000" charset="0"/>
              <a:buChar char="v"/>
            </a:pPr>
            <a:r>
              <a:rPr lang="en-US" altLang="en-US">
                <a:sym typeface="+mn-ea"/>
              </a:rPr>
              <a:t>Location of Intelligence:</a:t>
            </a:r>
            <a:r>
              <a:rPr lang="en-US" altLang="en-US" b="0">
                <a:sym typeface="+mn-ea"/>
              </a:rPr>
              <a:t> </a:t>
            </a:r>
            <a:endParaRPr lang="en-US" altLang="en-US" b="0">
              <a:sym typeface="+mn-ea"/>
            </a:endParaRPr>
          </a:p>
          <a:p>
            <a:pPr indent="0" algn="just">
              <a:buFont typeface="Wingdings" panose="05000000000000000000" charset="0"/>
              <a:buNone/>
            </a:pPr>
            <a:r>
              <a:rPr lang="en-US" altLang="en-US" b="0">
                <a:sym typeface="+mn-ea"/>
              </a:rPr>
              <a:t>  AI processing is performed </a:t>
            </a:r>
            <a:r>
              <a:rPr lang="en-US" altLang="en-US">
                <a:solidFill>
                  <a:srgbClr val="FF0000"/>
                </a:solidFill>
                <a:sym typeface="+mn-ea"/>
              </a:rPr>
              <a:t>near the data source</a:t>
            </a:r>
            <a:r>
              <a:rPr lang="en-US" altLang="en-US" b="0">
                <a:sym typeface="+mn-ea"/>
              </a:rPr>
              <a:t> (network edge), reducing dependency on centralized cloud infrastructure.</a:t>
            </a:r>
            <a:endParaRPr lang="en-US" altLang="en-US" b="0">
              <a:sym typeface="+mn-ea"/>
            </a:endParaRPr>
          </a:p>
          <a:p>
            <a:pPr marL="342900" indent="-342900">
              <a:buFont typeface="Wingdings" panose="05000000000000000000" charset="0"/>
              <a:buChar char="v"/>
            </a:pPr>
            <a:endParaRPr lang="en-US" altLang="en-US" b="0"/>
          </a:p>
          <a:p>
            <a:pPr marL="342900" indent="-342900">
              <a:buFont typeface="Wingdings" panose="05000000000000000000" charset="0"/>
              <a:buChar char="v"/>
            </a:pPr>
            <a:r>
              <a:rPr lang="en-US" altLang="en-US">
                <a:sym typeface="+mn-ea"/>
              </a:rPr>
              <a:t>Benefits of Edge AI:</a:t>
            </a:r>
            <a:endParaRPr lang="en-US" altLang="en-US"/>
          </a:p>
          <a:p>
            <a:pPr marL="0" indent="0">
              <a:buNone/>
            </a:pPr>
            <a:r>
              <a:rPr lang="en-US" altLang="en-US" b="0">
                <a:sym typeface="+mn-ea"/>
              </a:rPr>
              <a:t>Reduced latency and </a:t>
            </a:r>
            <a:r>
              <a:rPr lang="en-US" altLang="en-US" b="0">
                <a:solidFill>
                  <a:srgbClr val="FF0000"/>
                </a:solidFill>
                <a:sym typeface="+mn-ea"/>
              </a:rPr>
              <a:t>faster decision-making</a:t>
            </a:r>
            <a:endParaRPr lang="en-US" altLang="en-US" b="0">
              <a:solidFill>
                <a:srgbClr val="FF0000"/>
              </a:solidFill>
            </a:endParaRPr>
          </a:p>
          <a:p>
            <a:pPr marL="0" indent="0">
              <a:buNone/>
            </a:pPr>
            <a:r>
              <a:rPr lang="en-US" altLang="en-US" b="0">
                <a:sym typeface="+mn-ea"/>
              </a:rPr>
              <a:t>Improved privacy and security </a:t>
            </a:r>
            <a:r>
              <a:rPr lang="en-US" altLang="en-US" b="0">
                <a:solidFill>
                  <a:srgbClr val="FF0000"/>
                </a:solidFill>
                <a:sym typeface="+mn-ea"/>
              </a:rPr>
              <a:t>by minimizing data</a:t>
            </a:r>
            <a:r>
              <a:rPr lang="en-US" altLang="en-US" b="0">
                <a:sym typeface="+mn-ea"/>
              </a:rPr>
              <a:t> transmission to the cloud</a:t>
            </a:r>
            <a:endParaRPr lang="en-US" altLang="en-US" b="0"/>
          </a:p>
          <a:p>
            <a:pPr marL="0" indent="0">
              <a:buNone/>
            </a:pPr>
            <a:r>
              <a:rPr lang="en-US" altLang="en-US" b="0">
                <a:sym typeface="+mn-ea"/>
              </a:rPr>
              <a:t>Efficient data processing and r</a:t>
            </a:r>
            <a:r>
              <a:rPr lang="en-US" altLang="en-US" b="0">
                <a:solidFill>
                  <a:srgbClr val="FF0000"/>
                </a:solidFill>
                <a:sym typeface="+mn-ea"/>
              </a:rPr>
              <a:t>educed bandwidth usage</a:t>
            </a:r>
            <a:endParaRPr lang="en-US" altLang="en-US" b="0"/>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422" y="761949"/>
            <a:ext cx="10410545" cy="707390"/>
          </a:xfrm>
        </p:spPr>
        <p:txBody>
          <a:bodyPr/>
          <a:p>
            <a:r>
              <a:rPr lang="en-US" altLang="en-US" b="1">
                <a:sym typeface="+mn-ea"/>
              </a:rPr>
              <a:t>Cutting-Edge - Computing </a:t>
            </a:r>
            <a:endParaRPr lang="en-US" altLang="en-US" b="1">
              <a:sym typeface="+mn-ea"/>
            </a:endParaRPr>
          </a:p>
        </p:txBody>
      </p:sp>
      <p:sp>
        <p:nvSpPr>
          <p:cNvPr id="3" name="Content Placeholder 2"/>
          <p:cNvSpPr>
            <a:spLocks noGrp="1"/>
          </p:cNvSpPr>
          <p:nvPr>
            <p:ph idx="1"/>
          </p:nvPr>
        </p:nvSpPr>
        <p:spPr>
          <a:xfrm>
            <a:off x="163830" y="1905000"/>
            <a:ext cx="11963400" cy="3831590"/>
          </a:xfrm>
        </p:spPr>
        <p:txBody>
          <a:bodyPr wrap="square">
            <a:noAutofit/>
          </a:bodyPr>
          <a:p>
            <a:pPr marL="342900" indent="-342900">
              <a:buFont typeface="Wingdings" panose="05000000000000000000" charset="0"/>
              <a:buChar char="v"/>
            </a:pPr>
            <a:r>
              <a:rPr lang="en-US" altLang="en-US"/>
              <a:t>Definition</a:t>
            </a:r>
            <a:r>
              <a:rPr lang="en-US" altLang="en-US" b="0"/>
              <a:t>:Cutting Edge computing places </a:t>
            </a:r>
            <a:r>
              <a:rPr lang="en-US" altLang="en-US">
                <a:solidFill>
                  <a:srgbClr val="FF0000"/>
                </a:solidFill>
              </a:rPr>
              <a:t>computing and storage resources</a:t>
            </a:r>
            <a:r>
              <a:rPr lang="en-US" altLang="en-US" b="0"/>
              <a:t> close to users and data sources to overcome cloud computing issues.</a:t>
            </a:r>
            <a:endParaRPr lang="en-US" altLang="en-US" b="0"/>
          </a:p>
          <a:p>
            <a:pPr marL="342900" indent="-342900">
              <a:buFont typeface="Wingdings" panose="05000000000000000000" charset="0"/>
              <a:buChar char="v"/>
            </a:pPr>
            <a:endParaRPr lang="en-US" altLang="en-US" b="0"/>
          </a:p>
          <a:p>
            <a:pPr marL="342900" indent="-342900">
              <a:buFont typeface="Wingdings" panose="05000000000000000000" charset="0"/>
              <a:buChar char="v"/>
            </a:pPr>
            <a:r>
              <a:rPr lang="en-US" altLang="en-US"/>
              <a:t>Need for Cutting Edge Computing</a:t>
            </a:r>
            <a:r>
              <a:rPr lang="en-US" altLang="en-US" b="0"/>
              <a:t>:Addresses cloud limitations such as </a:t>
            </a:r>
            <a:r>
              <a:rPr lang="en-US" altLang="en-US" b="0">
                <a:solidFill>
                  <a:srgbClr val="FF0000"/>
                </a:solidFill>
              </a:rPr>
              <a:t>high latency, jitter, and bandwidth constraints</a:t>
            </a:r>
            <a:r>
              <a:rPr lang="en-US" altLang="en-US" b="0"/>
              <a:t>, especially in IoT and wireless networks.</a:t>
            </a:r>
            <a:endParaRPr lang="en-US" altLang="en-US" b="0"/>
          </a:p>
          <a:p>
            <a:pPr marL="342900" indent="-342900">
              <a:buFont typeface="Wingdings" panose="05000000000000000000" charset="0"/>
              <a:buChar char="v"/>
            </a:pPr>
            <a:endParaRPr lang="en-US" altLang="en-US" b="1"/>
          </a:p>
          <a:p>
            <a:pPr marL="342900" indent="-342900" algn="just">
              <a:buFont typeface="Wingdings" panose="05000000000000000000" charset="0"/>
              <a:buChar char="v"/>
            </a:pPr>
            <a:r>
              <a:rPr lang="en-US" altLang="en-US" b="0">
                <a:sym typeface="+mn-ea"/>
              </a:rPr>
              <a:t>Cutting Edge AI refers to deploying artificial intelligence algorithms directly on edge devices such as sensors, mobile devices, and IoT nodes instead of relying on cloud servers.</a:t>
            </a:r>
            <a:r>
              <a:rPr lang="en-US" altLang="en-US" b="0">
                <a:solidFill>
                  <a:srgbClr val="FF0000"/>
                </a:solidFill>
                <a:sym typeface="+mn-ea"/>
              </a:rPr>
              <a:t>Data collection and processing through by </a:t>
            </a:r>
            <a:r>
              <a:rPr lang="en-US" altLang="en-US">
                <a:solidFill>
                  <a:srgbClr val="FF0000"/>
                </a:solidFill>
                <a:sym typeface="+mn-ea"/>
              </a:rPr>
              <a:t>Training Machine Learning models</a:t>
            </a:r>
            <a:r>
              <a:rPr lang="en-US" altLang="en-US" b="0">
                <a:solidFill>
                  <a:srgbClr val="FF0000"/>
                </a:solidFill>
                <a:sym typeface="+mn-ea"/>
              </a:rPr>
              <a:t> </a:t>
            </a:r>
            <a:r>
              <a:rPr lang="en-US" altLang="en-US" b="0">
                <a:sym typeface="+mn-ea"/>
              </a:rPr>
              <a:t>at the Edge</a:t>
            </a:r>
            <a:endParaRPr lang="en-US" altLang="en-US" b="0"/>
          </a:p>
          <a:p>
            <a:pPr marL="0" indent="0">
              <a:buNone/>
            </a:pP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4222" y="761949"/>
            <a:ext cx="10410545" cy="707390"/>
          </a:xfrm>
        </p:spPr>
        <p:txBody>
          <a:bodyPr/>
          <a:p>
            <a:r>
              <a:rPr lang="en-US"/>
              <a:t>Conti...</a:t>
            </a:r>
            <a:endParaRPr lang="en-US"/>
          </a:p>
        </p:txBody>
      </p:sp>
      <p:sp>
        <p:nvSpPr>
          <p:cNvPr id="3" name="Text Placeholder 2"/>
          <p:cNvSpPr>
            <a:spLocks noGrp="1"/>
          </p:cNvSpPr>
          <p:nvPr>
            <p:ph type="body" idx="1"/>
          </p:nvPr>
        </p:nvSpPr>
        <p:spPr>
          <a:xfrm>
            <a:off x="304800" y="1524000"/>
            <a:ext cx="5426710" cy="4786630"/>
          </a:xfrm>
        </p:spPr>
        <p:txBody>
          <a:bodyPr wrap="square">
            <a:noAutofit/>
          </a:bodyPr>
          <a:p>
            <a:pPr indent="0" defTabSz="457200">
              <a:lnSpc>
                <a:spcPct val="107000"/>
              </a:lnSpc>
              <a:buFont typeface="Arial" panose="020B0604020202020204" pitchFamily="34" charset="0"/>
              <a:buNone/>
            </a:pPr>
            <a:r>
              <a:rPr lang="en-US" altLang="en-US" b="0">
                <a:solidFill>
                  <a:srgbClr val="FF0000"/>
                </a:solidFill>
                <a:sym typeface="+mn-ea"/>
              </a:rPr>
              <a:t>Training Machine Learning models </a:t>
            </a:r>
            <a:r>
              <a:rPr lang="en-US">
                <a:latin typeface="Calibri" panose="020F0502020204030204"/>
                <a:ea typeface="Times New Roman" panose="02020603050405020304"/>
                <a:sym typeface="+mn-ea"/>
              </a:rPr>
              <a:t>Integration  results - AI +IoT=AIoT</a:t>
            </a:r>
            <a:endParaRPr lang="en-US">
              <a:latin typeface="Calibri" panose="020F0502020204030204"/>
              <a:ea typeface="Times New Roman" panose="02020603050405020304"/>
              <a:sym typeface="+mn-ea"/>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Real-Time Data Processing:</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Capabilities of Edge AI Systems</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Subfields of Artificial Intelligence:</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Applications of Computational Intelligence:</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M2M, IIoT Communication</a:t>
            </a:r>
            <a:endParaRPr lang="en-US" altLang="en-US">
              <a:latin typeface="Calibri" panose="020F0502020204030204"/>
              <a:ea typeface="Calibri" panose="020F0502020204030204"/>
              <a:sym typeface="+mn-ea"/>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Smartphones and tablets</a:t>
            </a:r>
            <a:endParaRPr lang="en-US" altLang="en-US">
              <a:latin typeface="Calibri" panose="020F0502020204030204" charset="0"/>
              <a:cs typeface="Calibri" panose="020F0502020204030204" charset="0"/>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	Smart speakers and wearables</a:t>
            </a:r>
            <a:endParaRPr lang="en-US" altLang="en-US">
              <a:latin typeface="Calibri" panose="020F0502020204030204" charset="0"/>
              <a:cs typeface="Calibri" panose="020F0502020204030204" charset="0"/>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	Cameras, sensors, robotics</a:t>
            </a:r>
            <a:endParaRPr lang="en-US" altLang="en-US">
              <a:latin typeface="Calibri" panose="020F0502020204030204" charset="0"/>
              <a:cs typeface="Calibri" panose="020F0502020204030204" charset="0"/>
            </a:endParaRPr>
          </a:p>
          <a:p>
            <a:pPr indent="0" defTabSz="457200">
              <a:lnSpc>
                <a:spcPct val="107000"/>
              </a:lnSpc>
              <a:buFont typeface="Wingdings" panose="05000000000000000000" charset="0"/>
              <a:buNone/>
            </a:pPr>
            <a:r>
              <a:rPr lang="en-US" altLang="en-US">
                <a:sym typeface="+mn-ea"/>
              </a:rPr>
              <a:t> </a:t>
            </a:r>
            <a:endParaRPr lang="en-US" altLang="en-US"/>
          </a:p>
          <a:p>
            <a:pPr marL="342900" indent="-342900" defTabSz="457200">
              <a:lnSpc>
                <a:spcPct val="107000"/>
              </a:lnSpc>
              <a:buFont typeface="Wingdings" panose="05000000000000000000" charset="0"/>
              <a:buChar char="v"/>
            </a:pPr>
            <a:endParaRPr lang="en-US"/>
          </a:p>
        </p:txBody>
      </p:sp>
      <p:graphicFrame>
        <p:nvGraphicFramePr>
          <p:cNvPr id="6" name="Object 5"/>
          <p:cNvGraphicFramePr>
            <a:graphicFrameLocks noChangeAspect="1"/>
          </p:cNvGraphicFramePr>
          <p:nvPr/>
        </p:nvGraphicFramePr>
        <p:xfrm>
          <a:off x="5419725" y="234950"/>
          <a:ext cx="6709410" cy="6097905"/>
        </p:xfrm>
        <a:graphic>
          <a:graphicData uri="http://schemas.openxmlformats.org/presentationml/2006/ole">
            <mc:AlternateContent xmlns:mc="http://schemas.openxmlformats.org/markup-compatibility/2006">
              <mc:Choice xmlns:v="urn:schemas-microsoft-com:vml" Requires="v">
                <p:oleObj spid="_x0000_s7" name="" r:id="rId1" imgW="5867400" imgH="4933950" progId="Paint.Picture">
                  <p:embed/>
                </p:oleObj>
              </mc:Choice>
              <mc:Fallback>
                <p:oleObj name="" r:id="rId1" imgW="5867400" imgH="4933950" progId="Paint.Picture">
                  <p:embed/>
                  <p:pic>
                    <p:nvPicPr>
                      <p:cNvPr id="0" name="Picture 6"/>
                      <p:cNvPicPr/>
                      <p:nvPr/>
                    </p:nvPicPr>
                    <p:blipFill>
                      <a:blip r:embed="rId2"/>
                      <a:stretch>
                        <a:fillRect/>
                      </a:stretch>
                    </p:blipFill>
                    <p:spPr>
                      <a:xfrm>
                        <a:off x="5419725" y="234950"/>
                        <a:ext cx="6709410" cy="6097905"/>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pPr algn="ctr"/>
            <a:r>
              <a:rPr lang="en-US" altLang="en-US">
                <a:sym typeface="+mn-ea"/>
              </a:rPr>
              <a:t>Module I –L2</a:t>
            </a:r>
            <a:endParaRPr lang="en-US"/>
          </a:p>
        </p:txBody>
      </p:sp>
      <p:sp>
        <p:nvSpPr>
          <p:cNvPr id="3" name="Text Placeholder 2"/>
          <p:cNvSpPr>
            <a:spLocks noGrp="1"/>
          </p:cNvSpPr>
          <p:nvPr>
            <p:ph type="body" idx="1"/>
          </p:nvPr>
        </p:nvSpPr>
        <p:spPr>
          <a:xfrm>
            <a:off x="457301" y="3124327"/>
            <a:ext cx="10824845" cy="1846580"/>
          </a:xfrm>
        </p:spPr>
        <p:txBody>
          <a:bodyPr/>
          <a:p>
            <a:pPr algn="l"/>
            <a:r>
              <a:rPr lang="en-US">
                <a:sym typeface="+mn-ea"/>
              </a:rPr>
              <a:t>After going through this topic student should be able to</a:t>
            </a:r>
            <a:endParaRPr lang="en-US" altLang="en-US">
              <a:sym typeface="+mn-ea"/>
            </a:endParaRPr>
          </a:p>
          <a:p>
            <a:pPr algn="l"/>
            <a:r>
              <a:rPr lang="en-US" altLang="en-US" b="0">
                <a:sym typeface="+mn-ea"/>
              </a:rPr>
              <a:t>CO1: </a:t>
            </a:r>
            <a:r>
              <a:rPr lang="en-US" altLang="en-US" b="0">
                <a:sym typeface="+mn-ea"/>
              </a:rPr>
              <a:t>Explain Cloud AI </a:t>
            </a:r>
            <a:endParaRPr lang="en-US" altLang="en-US" b="0">
              <a:sym typeface="+mn-ea"/>
            </a:endParaRPr>
          </a:p>
          <a:p>
            <a:pPr algn="l"/>
            <a:r>
              <a:rPr lang="en-US" altLang="en-US" b="0">
                <a:sym typeface="+mn-ea"/>
              </a:rPr>
              <a:t>CO2: </a:t>
            </a:r>
            <a:r>
              <a:rPr lang="en-US" altLang="en-US" b="0">
                <a:sym typeface="+mn-ea"/>
              </a:rPr>
              <a:t>Define  Edge AI</a:t>
            </a:r>
            <a:endParaRPr lang="en-US" altLang="en-US" b="0">
              <a:sym typeface="+mn-ea"/>
            </a:endParaRPr>
          </a:p>
          <a:p>
            <a:pPr algn="l"/>
            <a:r>
              <a:rPr lang="en-US" altLang="en-US" b="0">
                <a:sym typeface="+mn-ea"/>
              </a:rPr>
              <a:t>CO3: Difference between Cloud AI and Edge AI</a:t>
            </a:r>
            <a:endParaRPr lang="en-US" altLang="en-US" b="0"/>
          </a:p>
          <a:p>
            <a:pPr algn="l"/>
            <a:endParaRPr 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8125" y="762000"/>
            <a:ext cx="11603355" cy="707390"/>
          </a:xfrm>
        </p:spPr>
        <p:txBody>
          <a:bodyPr wrap="square"/>
          <a:p>
            <a:r>
              <a:rPr lang="en-US" altLang="en-US"/>
              <a:t>DIFFERENCES BETWEEN CLOUD AI AND EDGE AI</a:t>
            </a:r>
            <a:endParaRPr lang="en-US" altLang="en-US"/>
          </a:p>
        </p:txBody>
      </p:sp>
      <p:sp>
        <p:nvSpPr>
          <p:cNvPr id="3" name="Content Placeholder 2"/>
          <p:cNvSpPr>
            <a:spLocks noGrp="1"/>
          </p:cNvSpPr>
          <p:nvPr>
            <p:ph idx="1"/>
          </p:nvPr>
        </p:nvSpPr>
        <p:spPr>
          <a:xfrm>
            <a:off x="327761" y="2023237"/>
            <a:ext cx="10824845" cy="3877945"/>
          </a:xfrm>
        </p:spPr>
        <p:txBody>
          <a:bodyPr/>
          <a:p>
            <a:pPr marL="0" indent="0">
              <a:buNone/>
            </a:pPr>
            <a:r>
              <a:rPr lang="en-US" altLang="en-US" sz="2000"/>
              <a:t>Cloud AI –</a:t>
            </a:r>
            <a:endParaRPr lang="en-US" altLang="en-US" sz="2000"/>
          </a:p>
          <a:p>
            <a:pPr marL="0" indent="0">
              <a:buNone/>
            </a:pPr>
            <a:endParaRPr lang="en-US" altLang="en-US" sz="2000"/>
          </a:p>
          <a:p>
            <a:r>
              <a:rPr lang="en-US" altLang="en-US" b="0"/>
              <a:t>Uses centralized cloud servers with high computational power and storage.</a:t>
            </a:r>
            <a:endParaRPr lang="en-US" altLang="en-US" b="0"/>
          </a:p>
          <a:p>
            <a:r>
              <a:rPr lang="en-US" altLang="en-US" b="0"/>
              <a:t>Few  constraints on </a:t>
            </a:r>
            <a:r>
              <a:rPr lang="en-US" altLang="en-US" b="0">
                <a:solidFill>
                  <a:srgbClr val="FF0000"/>
                </a:solidFill>
              </a:rPr>
              <a:t>model size, memory, and processing speed.</a:t>
            </a:r>
            <a:endParaRPr lang="en-US" altLang="en-US" b="0"/>
          </a:p>
          <a:p>
            <a:endParaRPr lang="en-US" altLang="en-US" b="0"/>
          </a:p>
          <a:p>
            <a:pPr marL="342900" indent="-342900">
              <a:buFont typeface="Wingdings" panose="05000000000000000000" charset="0"/>
              <a:buChar char="v"/>
            </a:pPr>
            <a:r>
              <a:rPr lang="en-US" altLang="en-US" b="0"/>
              <a:t>High cost associated </a:t>
            </a:r>
            <a:endParaRPr lang="en-US" altLang="en-US" b="0"/>
          </a:p>
          <a:p>
            <a:pPr marL="342900" indent="-342900">
              <a:buFont typeface="Wingdings" panose="05000000000000000000" charset="0"/>
              <a:buChar char="v"/>
            </a:pPr>
            <a:r>
              <a:rPr lang="en-US" altLang="en-US" b="0"/>
              <a:t>Long-term cloud storage</a:t>
            </a:r>
            <a:endParaRPr lang="en-US" altLang="en-US" b="0"/>
          </a:p>
          <a:p>
            <a:pPr marL="342900" indent="-342900">
              <a:buFont typeface="Wingdings" panose="05000000000000000000" charset="0"/>
              <a:buChar char="v"/>
            </a:pPr>
            <a:r>
              <a:rPr lang="en-US" altLang="en-US" b="0"/>
              <a:t>Continuous data transmission</a:t>
            </a:r>
            <a:endParaRPr lang="en-US" altLang="en-US" b="0"/>
          </a:p>
          <a:p>
            <a:pPr marL="342900" indent="-342900">
              <a:buFont typeface="Wingdings" panose="05000000000000000000" charset="0"/>
              <a:buChar char="v"/>
            </a:pPr>
            <a:r>
              <a:rPr lang="en-US" altLang="en-US" b="0"/>
              <a:t>Performance depends on network connectivity.</a:t>
            </a:r>
            <a:endParaRPr lang="en-US" altLang="en-US" b="0"/>
          </a:p>
          <a:p>
            <a:pPr marL="342900" indent="-342900">
              <a:buFont typeface="Wingdings" panose="05000000000000000000" charset="0"/>
              <a:buChar char="v"/>
            </a:pPr>
            <a:r>
              <a:rPr lang="en-US" altLang="en-US" b="0"/>
              <a:t>Privacy-sensitive data may need to be transmitted off-premises concer</a:t>
            </a:r>
            <a:r>
              <a:rPr lang="en-US" altLang="en-US" sz="2000" b="0"/>
              <a:t>ns.</a:t>
            </a:r>
            <a:endParaRPr lang="en-US" altLang="en-US" sz="2000" b="0"/>
          </a:p>
          <a:p>
            <a:pPr marL="342900" indent="-342900">
              <a:buFont typeface="Wingdings" panose="05000000000000000000" charset="0"/>
              <a:buChar char="v"/>
            </a:pPr>
            <a:endParaRPr lang="en-US" altLang="en-US" sz="20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022" y="761949"/>
            <a:ext cx="10410545" cy="707390"/>
          </a:xfrm>
        </p:spPr>
        <p:txBody>
          <a:bodyPr/>
          <a:p>
            <a:r>
              <a:rPr lang="en-US"/>
              <a:t>Conti.....</a:t>
            </a:r>
            <a:endParaRPr lang="en-US"/>
          </a:p>
        </p:txBody>
      </p:sp>
      <p:sp>
        <p:nvSpPr>
          <p:cNvPr id="3" name="Content Placeholder 2"/>
          <p:cNvSpPr>
            <a:spLocks noGrp="1"/>
          </p:cNvSpPr>
          <p:nvPr>
            <p:ph idx="1"/>
          </p:nvPr>
        </p:nvSpPr>
        <p:spPr>
          <a:xfrm>
            <a:off x="327660" y="2023110"/>
            <a:ext cx="11282045" cy="4739640"/>
          </a:xfrm>
        </p:spPr>
        <p:txBody>
          <a:bodyPr wrap="square"/>
          <a:p>
            <a:pPr marL="0" indent="0">
              <a:buNone/>
            </a:pPr>
            <a:r>
              <a:rPr lang="en-US" altLang="en-US" sz="2000"/>
              <a:t>Edge AI –</a:t>
            </a:r>
            <a:endParaRPr lang="en-US" altLang="en-US" sz="2000"/>
          </a:p>
          <a:p>
            <a:pPr algn="just"/>
            <a:r>
              <a:rPr lang="en-US" altLang="en-US" b="0"/>
              <a:t>AI processing occurs on-far device or near the data source or end device itself.</a:t>
            </a:r>
            <a:endParaRPr lang="en-US" altLang="en-US" b="0"/>
          </a:p>
          <a:p>
            <a:pPr algn="just"/>
            <a:r>
              <a:rPr lang="en-US" altLang="en-US" b="0">
                <a:solidFill>
                  <a:srgbClr val="FF0000"/>
                </a:solidFill>
              </a:rPr>
              <a:t>Devices have limited RAM, storage, processing power, and energy.</a:t>
            </a:r>
            <a:endParaRPr lang="en-US" altLang="en-US" b="0">
              <a:solidFill>
                <a:srgbClr val="FF0000"/>
              </a:solidFill>
            </a:endParaRPr>
          </a:p>
          <a:p>
            <a:pPr algn="just"/>
            <a:r>
              <a:rPr lang="en-US" altLang="en-US" b="0"/>
              <a:t>Requires lightweight, </a:t>
            </a:r>
            <a:r>
              <a:rPr lang="en-US" altLang="en-US" b="0">
                <a:solidFill>
                  <a:srgbClr val="FF0000"/>
                </a:solidFill>
              </a:rPr>
              <a:t>optimized ML models.</a:t>
            </a:r>
            <a:endParaRPr lang="en-US" altLang="en-US" b="0"/>
          </a:p>
          <a:p>
            <a:endParaRPr lang="en-US" altLang="en-US" b="0"/>
          </a:p>
          <a:p>
            <a:r>
              <a:rPr lang="en-US" altLang="en-US" b="0"/>
              <a:t>Results:</a:t>
            </a:r>
            <a:endParaRPr lang="en-US" altLang="en-US" b="0"/>
          </a:p>
          <a:p>
            <a:pPr marL="342900" indent="-342900">
              <a:buFont typeface="Wingdings" panose="05000000000000000000" charset="0"/>
              <a:buChar char="v"/>
            </a:pPr>
            <a:r>
              <a:rPr lang="en-US" altLang="en-US" b="0"/>
              <a:t>         Low latency</a:t>
            </a:r>
            <a:endParaRPr lang="en-US" altLang="en-US" b="0"/>
          </a:p>
          <a:p>
            <a:pPr marL="342900" indent="-342900">
              <a:buFont typeface="Wingdings" panose="05000000000000000000" charset="0"/>
              <a:buChar char="v"/>
            </a:pPr>
            <a:r>
              <a:rPr lang="en-US" altLang="en-US" b="0"/>
              <a:t>         High reliability</a:t>
            </a:r>
            <a:endParaRPr lang="en-US" altLang="en-US" b="0"/>
          </a:p>
          <a:p>
            <a:pPr marL="342900" indent="-342900">
              <a:buFont typeface="Wingdings" panose="05000000000000000000" charset="0"/>
              <a:buChar char="v"/>
            </a:pPr>
            <a:r>
              <a:rPr lang="en-US" altLang="en-US" b="0"/>
              <a:t>         Improved data privacy</a:t>
            </a:r>
            <a:endParaRPr lang="en-US" altLang="en-US" b="0"/>
          </a:p>
          <a:p>
            <a:pPr marL="0" indent="0">
              <a:buNone/>
            </a:pPr>
            <a:endParaRPr lang="en-US" altLang="en-US" b="0"/>
          </a:p>
          <a:p>
            <a:r>
              <a:rPr lang="en-US" altLang="en-US" b="0"/>
              <a:t>Devices continue functioning even with poor or intermittent internet connectivity.</a:t>
            </a:r>
            <a:endParaRPr lang="en-US" altLang="en-US" b="0"/>
          </a:p>
          <a:p>
            <a:r>
              <a:rPr lang="en-US" altLang="en-US" b="0"/>
              <a:t>Eliminates the need for data to leave the premises.</a:t>
            </a: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05000" y="762000"/>
            <a:ext cx="6455410" cy="707390"/>
          </a:xfrm>
        </p:spPr>
        <p:txBody>
          <a:bodyPr wrap="square"/>
          <a:p>
            <a:r>
              <a:rPr lang="en-US"/>
              <a:t>conti...</a:t>
            </a:r>
            <a:endParaRPr lang="en-US"/>
          </a:p>
        </p:txBody>
      </p:sp>
      <p:graphicFrame>
        <p:nvGraphicFramePr>
          <p:cNvPr id="6" name="Content Placeholder 5"/>
          <p:cNvGraphicFramePr>
            <a:graphicFrameLocks noChangeAspect="1"/>
          </p:cNvGraphicFramePr>
          <p:nvPr>
            <p:ph idx="1"/>
          </p:nvPr>
        </p:nvGraphicFramePr>
        <p:xfrm>
          <a:off x="1219200" y="2026285"/>
          <a:ext cx="9748520" cy="4228465"/>
        </p:xfrm>
        <a:graphic>
          <a:graphicData uri="http://schemas.openxmlformats.org/presentationml/2006/ole">
            <mc:AlternateContent xmlns:mc="http://schemas.openxmlformats.org/markup-compatibility/2006">
              <mc:Choice xmlns:v="urn:schemas-microsoft-com:vml" Requires="v">
                <p:oleObj spid="_x0000_s7" name="" r:id="rId1" imgW="7029450" imgH="3629025" progId="Paint.Picture">
                  <p:embed/>
                </p:oleObj>
              </mc:Choice>
              <mc:Fallback>
                <p:oleObj name="" r:id="rId1" imgW="7029450" imgH="3629025" progId="Paint.Picture">
                  <p:embed/>
                  <p:pic>
                    <p:nvPicPr>
                      <p:cNvPr id="0" name="Picture 6"/>
                      <p:cNvPicPr/>
                      <p:nvPr/>
                    </p:nvPicPr>
                    <p:blipFill>
                      <a:blip r:embed="rId2"/>
                      <a:stretch>
                        <a:fillRect/>
                      </a:stretch>
                    </p:blipFill>
                    <p:spPr>
                      <a:xfrm>
                        <a:off x="1219200" y="2026285"/>
                        <a:ext cx="9748520" cy="4228465"/>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31595" y="685800"/>
            <a:ext cx="10250805" cy="707390"/>
          </a:xfrm>
        </p:spPr>
        <p:txBody>
          <a:bodyPr wrap="square"/>
          <a:p>
            <a:r>
              <a:rPr lang="en-US" altLang="en-US"/>
              <a:t>Comparison Between Cloud AI and Edge AI</a:t>
            </a:r>
            <a:endParaRPr lang="en-US" altLang="en-US"/>
          </a:p>
        </p:txBody>
      </p:sp>
      <p:graphicFrame>
        <p:nvGraphicFramePr>
          <p:cNvPr id="7" name="Content Placeholder 6"/>
          <p:cNvGraphicFramePr>
            <a:graphicFrameLocks noChangeAspect="1"/>
          </p:cNvGraphicFramePr>
          <p:nvPr>
            <p:ph idx="1"/>
          </p:nvPr>
        </p:nvGraphicFramePr>
        <p:xfrm>
          <a:off x="1219200" y="1905000"/>
          <a:ext cx="9987280" cy="4335780"/>
        </p:xfrm>
        <a:graphic>
          <a:graphicData uri="http://schemas.openxmlformats.org/presentationml/2006/ole">
            <mc:AlternateContent xmlns:mc="http://schemas.openxmlformats.org/markup-compatibility/2006">
              <mc:Choice xmlns:v="urn:schemas-microsoft-com:vml" Requires="v">
                <p:oleObj spid="_x0000_s8" name="" r:id="rId1" imgW="5724525" imgH="3486150" progId="Paint.Picture">
                  <p:embed/>
                </p:oleObj>
              </mc:Choice>
              <mc:Fallback>
                <p:oleObj name="" r:id="rId1" imgW="5724525" imgH="3486150" progId="Paint.Picture">
                  <p:embed/>
                  <p:pic>
                    <p:nvPicPr>
                      <p:cNvPr id="0" name="Picture 7"/>
                      <p:cNvPicPr/>
                      <p:nvPr/>
                    </p:nvPicPr>
                    <p:blipFill>
                      <a:blip r:embed="rId2"/>
                      <a:stretch>
                        <a:fillRect/>
                      </a:stretch>
                    </p:blipFill>
                    <p:spPr>
                      <a:xfrm>
                        <a:off x="1219200" y="1905000"/>
                        <a:ext cx="9987280" cy="4335780"/>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422" y="761949"/>
            <a:ext cx="10410545" cy="707390"/>
          </a:xfrm>
        </p:spPr>
        <p:txBody>
          <a:bodyPr/>
          <a:p>
            <a:r>
              <a:rPr lang="en-US" altLang="en-US">
                <a:sym typeface="+mn-ea"/>
              </a:rPr>
              <a:t>Comparison Between Cloud AI and Edge AI</a:t>
            </a:r>
            <a:endParaRPr lang="en-US"/>
          </a:p>
        </p:txBody>
      </p:sp>
      <p:graphicFrame>
        <p:nvGraphicFramePr>
          <p:cNvPr id="6" name="Content Placeholder 5"/>
          <p:cNvGraphicFramePr>
            <a:graphicFrameLocks noChangeAspect="1"/>
          </p:cNvGraphicFramePr>
          <p:nvPr>
            <p:ph idx="1"/>
          </p:nvPr>
        </p:nvGraphicFramePr>
        <p:xfrm>
          <a:off x="1213485" y="1981200"/>
          <a:ext cx="9940290" cy="4319270"/>
        </p:xfrm>
        <a:graphic>
          <a:graphicData uri="http://schemas.openxmlformats.org/presentationml/2006/ole">
            <mc:AlternateContent xmlns:mc="http://schemas.openxmlformats.org/markup-compatibility/2006">
              <mc:Choice xmlns:v="urn:schemas-microsoft-com:vml" Requires="v">
                <p:oleObj spid="_x0000_s7" name="" r:id="rId1" imgW="5000625" imgH="2476500" progId="Paint.Picture">
                  <p:embed/>
                </p:oleObj>
              </mc:Choice>
              <mc:Fallback>
                <p:oleObj name="" r:id="rId1" imgW="5000625" imgH="2476500" progId="Paint.Picture">
                  <p:embed/>
                  <p:pic>
                    <p:nvPicPr>
                      <p:cNvPr id="0" name="Picture 6"/>
                      <p:cNvPicPr/>
                      <p:nvPr/>
                    </p:nvPicPr>
                    <p:blipFill>
                      <a:blip r:embed="rId2"/>
                      <a:stretch>
                        <a:fillRect/>
                      </a:stretch>
                    </p:blipFill>
                    <p:spPr>
                      <a:xfrm>
                        <a:off x="1213485" y="1981200"/>
                        <a:ext cx="9940290" cy="4319270"/>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2215515"/>
          </a:xfrm>
        </p:spPr>
        <p:txBody>
          <a:bodyPr/>
          <a:p>
            <a:pPr marL="0" indent="0">
              <a:buNone/>
            </a:pPr>
            <a:r>
              <a:rPr lang="en-US" altLang="en-US">
                <a:sym typeface="+mn-ea"/>
              </a:rPr>
              <a:t>                   </a:t>
            </a:r>
            <a:endParaRPr lang="en-US" altLang="en-US">
              <a:sym typeface="+mn-ea"/>
            </a:endParaRPr>
          </a:p>
          <a:p>
            <a:pPr marL="0" indent="0">
              <a:buNone/>
            </a:pPr>
            <a:r>
              <a:rPr lang="en-US">
                <a:sym typeface="+mn-ea"/>
              </a:rPr>
              <a:t>After going through this topic student should be able to</a:t>
            </a:r>
            <a:endParaRPr lang="en-US">
              <a:sym typeface="+mn-ea"/>
            </a:endParaRPr>
          </a:p>
          <a:p>
            <a:pPr marL="0" indent="0">
              <a:buNone/>
            </a:pPr>
            <a:endParaRPr lang="en-US" altLang="en-US">
              <a:sym typeface="+mn-ea"/>
            </a:endParaRPr>
          </a:p>
          <a:p>
            <a:r>
              <a:rPr lang="en-US" altLang="en-US"/>
              <a:t>CO1: How Edge AI supports real-time analytics.</a:t>
            </a:r>
            <a:endParaRPr lang="en-US" altLang="en-US"/>
          </a:p>
          <a:p>
            <a:r>
              <a:rPr lang="en-US" altLang="en-US"/>
              <a:t>CO2: Describe the benefits of performing analytics</a:t>
            </a:r>
            <a:endParaRPr lang="en-US" altLang="en-US"/>
          </a:p>
          <a:p>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2362200" y="838200"/>
            <a:ext cx="6096000" cy="768350"/>
          </a:xfrm>
          <a:prstGeom prst="rect">
            <a:avLst/>
          </a:prstGeom>
          <a:noFill/>
        </p:spPr>
        <p:txBody>
          <a:bodyPr wrap="square" rtlCol="0" anchor="t">
            <a:spAutoFit/>
          </a:bodyPr>
          <a:p>
            <a:pPr marL="0" indent="0">
              <a:buNone/>
            </a:pPr>
            <a:r>
              <a:rPr lang="en-US" altLang="en-US" sz="4400">
                <a:sym typeface="+mn-ea"/>
              </a:rPr>
              <a:t>Module I –L3</a:t>
            </a:r>
            <a:endParaRPr lang="en-US" altLang="en-US" sz="440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838200"/>
            <a:ext cx="10997565" cy="707390"/>
          </a:xfrm>
        </p:spPr>
        <p:txBody>
          <a:bodyPr wrap="square"/>
          <a:p>
            <a:r>
              <a:rPr>
                <a:latin typeface="+mn-ea"/>
                <a:ea typeface="Calibri" panose="020F0502020204030204"/>
                <a:cs typeface="+mn-ea"/>
                <a:sym typeface="+mn-ea"/>
              </a:rPr>
              <a:t>Benefits of Edge AI in real-time analytics, </a:t>
            </a:r>
            <a:endParaRPr lang="en-US"/>
          </a:p>
        </p:txBody>
      </p:sp>
      <p:sp>
        <p:nvSpPr>
          <p:cNvPr id="3" name="Content Placeholder 2"/>
          <p:cNvSpPr>
            <a:spLocks noGrp="1"/>
          </p:cNvSpPr>
          <p:nvPr>
            <p:ph idx="1"/>
          </p:nvPr>
        </p:nvSpPr>
        <p:spPr>
          <a:xfrm>
            <a:off x="361315" y="2057400"/>
            <a:ext cx="11422380" cy="3323590"/>
          </a:xfrm>
        </p:spPr>
        <p:txBody>
          <a:bodyPr wrap="square"/>
          <a:p>
            <a:pPr marL="342900" indent="-342900">
              <a:buFont typeface="Wingdings" panose="05000000000000000000" charset="0"/>
              <a:buChar char="v"/>
            </a:pPr>
            <a:r>
              <a:rPr lang="en-US" altLang="en-US" b="0"/>
              <a:t>Edge computing shifts </a:t>
            </a:r>
            <a:r>
              <a:rPr lang="en-US" altLang="en-US"/>
              <a:t>data processing and storage to the network edge, close to data sources.</a:t>
            </a:r>
            <a:endParaRPr lang="en-US" altLang="en-US"/>
          </a:p>
          <a:p>
            <a:pPr marL="342900" indent="-342900">
              <a:buFont typeface="Wingdings" panose="05000000000000000000" charset="0"/>
              <a:buChar char="v"/>
            </a:pPr>
            <a:r>
              <a:rPr lang="en-US" altLang="en-US" b="0"/>
              <a:t>Enables </a:t>
            </a:r>
            <a:r>
              <a:rPr lang="en-US" altLang="en-US"/>
              <a:t>millisecond-level processing </a:t>
            </a:r>
            <a:r>
              <a:rPr lang="en-US" altLang="en-US" b="0"/>
              <a:t>using AI without constant internet connectivity.</a:t>
            </a:r>
            <a:endParaRPr lang="en-US" altLang="en-US" b="0"/>
          </a:p>
          <a:p>
            <a:pPr marL="342900" indent="-342900">
              <a:buFont typeface="Wingdings" panose="05000000000000000000" charset="0"/>
              <a:buChar char="v"/>
            </a:pPr>
            <a:r>
              <a:rPr lang="en-US" altLang="en-US" b="0"/>
              <a:t>Improves </a:t>
            </a:r>
            <a:r>
              <a:rPr lang="en-US" altLang="en-US"/>
              <a:t>compute performance, data security, and business continuity</a:t>
            </a:r>
            <a:r>
              <a:rPr lang="en-US" altLang="en-US" b="0"/>
              <a:t>.</a:t>
            </a:r>
            <a:endParaRPr lang="en-US" altLang="en-US" b="0"/>
          </a:p>
          <a:p>
            <a:pPr marL="342900" indent="-342900">
              <a:buFont typeface="Wingdings" panose="05000000000000000000" charset="0"/>
              <a:buChar char="v"/>
            </a:pPr>
            <a:r>
              <a:rPr lang="en-US" altLang="en-US"/>
              <a:t>Reduces operational costs</a:t>
            </a:r>
            <a:r>
              <a:rPr lang="en-US" altLang="en-US" b="0"/>
              <a:t> and enhances AI-enabled application functionality.</a:t>
            </a:r>
            <a:endParaRPr lang="en-US" altLang="en-US" b="0"/>
          </a:p>
          <a:p>
            <a:pPr marL="342900" indent="-342900">
              <a:buFont typeface="Wingdings" panose="05000000000000000000" charset="0"/>
              <a:buChar char="v"/>
            </a:pPr>
            <a:r>
              <a:rPr lang="en-US" altLang="en-US" b="0"/>
              <a:t>Supports </a:t>
            </a:r>
            <a:r>
              <a:rPr lang="en-US" altLang="en-US" b="0">
                <a:solidFill>
                  <a:srgbClr val="FF0000"/>
                </a:solidFill>
              </a:rPr>
              <a:t>machine learning, deep learning inference</a:t>
            </a:r>
            <a:r>
              <a:rPr lang="en-US" altLang="en-US" b="0"/>
              <a:t>, and IoT devices without cloud dependency.</a:t>
            </a:r>
            <a:endParaRPr lang="en-US" altLang="en-US" b="0"/>
          </a:p>
          <a:p>
            <a:pPr marL="342900" indent="-342900">
              <a:buFont typeface="Wingdings" panose="05000000000000000000" charset="0"/>
              <a:buChar char="v"/>
            </a:pPr>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779145" y="2023110"/>
            <a:ext cx="10373360" cy="3323590"/>
          </a:xfrm>
        </p:spPr>
        <p:txBody>
          <a:bodyPr wrap="square"/>
          <a:p>
            <a:pPr marL="342900" indent="-342900">
              <a:buFont typeface="Wingdings" panose="05000000000000000000" charset="0"/>
              <a:buChar char="v"/>
            </a:pPr>
            <a:r>
              <a:rPr lang="en-US" altLang="en-US" sz="2400" b="0"/>
              <a:t>Reduced Latency</a:t>
            </a:r>
            <a:endParaRPr lang="en-US" altLang="en-US" sz="2400" b="0"/>
          </a:p>
          <a:p>
            <a:pPr indent="0">
              <a:buFont typeface="Wingdings" panose="05000000000000000000" charset="0"/>
              <a:buNone/>
            </a:pPr>
            <a:r>
              <a:rPr lang="en-US" altLang="en-US" sz="2400" b="0"/>
              <a:t>    Local processing eliminates </a:t>
            </a:r>
            <a:r>
              <a:rPr lang="en-US" altLang="en-US" sz="2400" b="0">
                <a:solidFill>
                  <a:srgbClr val="FF0000"/>
                </a:solidFill>
              </a:rPr>
              <a:t>round-trip delay</a:t>
            </a:r>
            <a:r>
              <a:rPr lang="en-US" altLang="en-US" sz="2400" b="0"/>
              <a:t> to cloud servers.</a:t>
            </a:r>
            <a:endParaRPr lang="en-US" altLang="en-US" sz="2400" b="0"/>
          </a:p>
          <a:p>
            <a:pPr marL="342900" indent="-342900">
              <a:buFont typeface="Wingdings" panose="05000000000000000000" charset="0"/>
              <a:buChar char="v"/>
            </a:pPr>
            <a:r>
              <a:rPr lang="en-US" altLang="en-US" sz="2400" b="0"/>
              <a:t>Real-Time Analytics</a:t>
            </a:r>
            <a:endParaRPr lang="en-US" altLang="en-US" sz="2400" b="0"/>
          </a:p>
          <a:p>
            <a:pPr indent="0">
              <a:buFont typeface="Wingdings" panose="05000000000000000000" charset="0"/>
              <a:buNone/>
            </a:pPr>
            <a:r>
              <a:rPr lang="en-US" altLang="en-US" sz="2400" b="0"/>
              <a:t>     Enables immediate insights at </a:t>
            </a:r>
            <a:r>
              <a:rPr lang="en-US" altLang="en-US" sz="2400" b="0">
                <a:solidFill>
                  <a:srgbClr val="FF0000"/>
                </a:solidFill>
              </a:rPr>
              <a:t>sensor and IoT device level</a:t>
            </a:r>
            <a:r>
              <a:rPr lang="en-US" altLang="en-US" sz="2400" b="0"/>
              <a:t>.</a:t>
            </a:r>
            <a:endParaRPr lang="en-US" altLang="en-US" sz="2400" b="0"/>
          </a:p>
          <a:p>
            <a:pPr marL="342900" indent="-342900">
              <a:buFont typeface="Wingdings" panose="05000000000000000000" charset="0"/>
              <a:buChar char="v"/>
            </a:pPr>
            <a:r>
              <a:rPr lang="en-US" altLang="en-US" sz="2400" b="0"/>
              <a:t>Higher Processing Speed</a:t>
            </a:r>
            <a:endParaRPr lang="en-US" altLang="en-US" sz="2400" b="0"/>
          </a:p>
          <a:p>
            <a:pPr indent="0">
              <a:buFont typeface="Wingdings" panose="05000000000000000000" charset="0"/>
              <a:buNone/>
            </a:pPr>
            <a:r>
              <a:rPr lang="en-US" altLang="en-US" sz="2400" b="0"/>
              <a:t>     </a:t>
            </a:r>
            <a:r>
              <a:rPr lang="en-US" altLang="en-US" sz="2400" b="0">
                <a:solidFill>
                  <a:srgbClr val="FF0000"/>
                </a:solidFill>
              </a:rPr>
              <a:t>Faster execution compared</a:t>
            </a:r>
            <a:r>
              <a:rPr lang="en-US" altLang="en-US" sz="2400" b="0"/>
              <a:t> to cloud-based AI processing.</a:t>
            </a:r>
            <a:endParaRPr lang="en-US" altLang="en-US" sz="2400" b="0"/>
          </a:p>
          <a:p>
            <a:pPr marL="342900" indent="-342900">
              <a:buFont typeface="Wingdings" panose="05000000000000000000" charset="0"/>
              <a:buChar char="v"/>
            </a:pPr>
            <a:r>
              <a:rPr lang="en-US" altLang="en-US" sz="2400" b="0"/>
              <a:t>Reduced Bandwidth and Cost</a:t>
            </a:r>
            <a:endParaRPr lang="en-US" altLang="en-US" sz="2400" b="0"/>
          </a:p>
          <a:p>
            <a:pPr indent="0">
              <a:buFont typeface="Wingdings" panose="05000000000000000000" charset="0"/>
              <a:buNone/>
            </a:pPr>
            <a:r>
              <a:rPr lang="en-US" altLang="en-US" sz="2400" b="0"/>
              <a:t>     </a:t>
            </a:r>
            <a:r>
              <a:rPr lang="en-US" altLang="en-US" sz="2400" b="0">
                <a:solidFill>
                  <a:srgbClr val="FF0000"/>
                </a:solidFill>
              </a:rPr>
              <a:t>Minimizes internet traffic</a:t>
            </a:r>
            <a:r>
              <a:rPr lang="en-US" altLang="en-US" sz="2400" b="0"/>
              <a:t> and cloud storage expenses.</a:t>
            </a:r>
            <a:endParaRPr lang="en-US" altLang="en-US" sz="2400" b="0"/>
          </a:p>
          <a:p>
            <a:endParaRPr lang="en-US" alt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092" y="838149"/>
            <a:ext cx="10410545" cy="707390"/>
          </a:xfrm>
        </p:spPr>
        <p:txBody>
          <a:bodyPr/>
          <a:p>
            <a:r>
              <a:rPr lang="en-US"/>
              <a:t>conti..</a:t>
            </a:r>
            <a:endParaRPr lang="en-US"/>
          </a:p>
        </p:txBody>
      </p:sp>
      <p:sp>
        <p:nvSpPr>
          <p:cNvPr id="3" name="Content Placeholder 2"/>
          <p:cNvSpPr>
            <a:spLocks noGrp="1"/>
          </p:cNvSpPr>
          <p:nvPr>
            <p:ph idx="1"/>
          </p:nvPr>
        </p:nvSpPr>
        <p:spPr>
          <a:xfrm>
            <a:off x="1097280" y="2023110"/>
            <a:ext cx="10338435" cy="3693160"/>
          </a:xfrm>
        </p:spPr>
        <p:txBody>
          <a:bodyPr wrap="square"/>
          <a:p>
            <a:pPr marL="342900" indent="-342900" algn="just">
              <a:buFont typeface="Wingdings" panose="05000000000000000000" charset="0"/>
              <a:buChar char="v"/>
            </a:pPr>
            <a:r>
              <a:rPr lang="en-US" altLang="en-US" sz="2400" b="0">
                <a:solidFill>
                  <a:srgbClr val="FF0000"/>
                </a:solidFill>
                <a:sym typeface="+mn-ea"/>
              </a:rPr>
              <a:t>Improved Data Security</a:t>
            </a:r>
            <a:endParaRPr lang="en-US" altLang="en-US" sz="2400" b="0">
              <a:solidFill>
                <a:srgbClr val="FF0000"/>
              </a:solidFill>
            </a:endParaRPr>
          </a:p>
          <a:p>
            <a:pPr indent="0" algn="just">
              <a:buFont typeface="Wingdings" panose="05000000000000000000" charset="0"/>
              <a:buNone/>
            </a:pPr>
            <a:r>
              <a:rPr lang="en-US" altLang="en-US" sz="2400" b="0">
                <a:sym typeface="+mn-ea"/>
              </a:rPr>
              <a:t>    Sensitive data remains on-device, reducing exposure to cyber threats.</a:t>
            </a:r>
            <a:endParaRPr lang="en-US" altLang="en-US" sz="2400" b="0"/>
          </a:p>
          <a:p>
            <a:pPr marL="342900" indent="-342900" algn="just">
              <a:buFont typeface="Wingdings" panose="05000000000000000000" charset="0"/>
              <a:buChar char="v"/>
            </a:pPr>
            <a:r>
              <a:rPr lang="en-US" altLang="en-US" sz="2400">
                <a:sym typeface="+mn-ea"/>
              </a:rPr>
              <a:t>Scalability</a:t>
            </a:r>
            <a:endParaRPr lang="en-US" altLang="en-US" sz="2400"/>
          </a:p>
          <a:p>
            <a:pPr indent="0" algn="just">
              <a:buFont typeface="Wingdings" panose="05000000000000000000" charset="0"/>
              <a:buNone/>
            </a:pPr>
            <a:r>
              <a:rPr lang="en-US" altLang="en-US" sz="2400" b="0">
                <a:sym typeface="+mn-ea"/>
              </a:rPr>
              <a:t>    Handles large volumes of data (e.g., video streams) without cloud overload.</a:t>
            </a:r>
            <a:endParaRPr lang="en-US" altLang="en-US" sz="2400" b="0"/>
          </a:p>
          <a:p>
            <a:pPr marL="342900" indent="-342900" algn="just">
              <a:buFont typeface="Wingdings" panose="05000000000000000000" charset="0"/>
              <a:buChar char="v"/>
            </a:pPr>
            <a:r>
              <a:rPr lang="en-US" altLang="en-US" sz="2400">
                <a:sym typeface="+mn-ea"/>
              </a:rPr>
              <a:t>Improved Reliability</a:t>
            </a:r>
            <a:endParaRPr lang="en-US" altLang="en-US" sz="2400"/>
          </a:p>
          <a:p>
            <a:pPr indent="0" algn="just">
              <a:buFont typeface="Wingdings" panose="05000000000000000000" charset="0"/>
              <a:buNone/>
            </a:pPr>
            <a:r>
              <a:rPr lang="en-US" altLang="en-US" sz="2400" b="0">
                <a:sym typeface="+mn-ea"/>
              </a:rPr>
              <a:t>    Continues functioning even during connectivity description.</a:t>
            </a:r>
            <a:endParaRPr lang="en-US" altLang="en-US" sz="2400" b="0"/>
          </a:p>
          <a:p>
            <a:pPr marL="342900" indent="-342900" algn="just">
              <a:buFont typeface="Wingdings" panose="05000000000000000000" charset="0"/>
              <a:buChar char="v"/>
            </a:pPr>
            <a:r>
              <a:rPr lang="en-US" altLang="en-US" sz="2400">
                <a:sym typeface="+mn-ea"/>
              </a:rPr>
              <a:t>Reduced Power Consumption</a:t>
            </a:r>
            <a:endParaRPr lang="en-US" altLang="en-US" sz="2400"/>
          </a:p>
          <a:p>
            <a:pPr indent="0" algn="just">
              <a:buFont typeface="Wingdings" panose="05000000000000000000" charset="0"/>
              <a:buNone/>
            </a:pPr>
            <a:r>
              <a:rPr lang="en-US" altLang="en-US" sz="2400" b="0">
                <a:sym typeface="+mn-ea"/>
              </a:rPr>
              <a:t>     Less data transmission leads to lower </a:t>
            </a:r>
            <a:r>
              <a:rPr lang="en-US" altLang="en-US" sz="2400" b="0">
                <a:solidFill>
                  <a:srgbClr val="FF0000"/>
                </a:solidFill>
                <a:sym typeface="+mn-ea"/>
              </a:rPr>
              <a:t>network-related power usage</a:t>
            </a:r>
            <a:r>
              <a:rPr lang="en-US" altLang="en-US" b="0">
                <a:solidFill>
                  <a:srgbClr val="FF0000"/>
                </a:solidFill>
                <a:sym typeface="+mn-ea"/>
              </a:rPr>
              <a:t>.</a:t>
            </a:r>
            <a:endParaRPr lang="en-US" altLang="en-US" b="0"/>
          </a:p>
          <a:p>
            <a:endParaRPr 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660" y="2023110"/>
            <a:ext cx="11511280" cy="3323590"/>
          </a:xfrm>
        </p:spPr>
        <p:txBody>
          <a:bodyPr wrap="square"/>
          <a:p>
            <a:pPr marL="0" indent="0" algn="ctr">
              <a:buNone/>
            </a:pPr>
            <a:endParaRPr lang="en-US" altLang="en-US">
              <a:sym typeface="+mn-ea"/>
            </a:endParaRPr>
          </a:p>
          <a:p>
            <a:pPr marL="0" indent="0" algn="ctr">
              <a:buNone/>
            </a:pPr>
            <a:r>
              <a:rPr lang="en-US" altLang="en-US"/>
              <a:t>CO1: Explain current trends driving the adoption of Edge AI.</a:t>
            </a:r>
            <a:endParaRPr lang="en-US" altLang="en-US"/>
          </a:p>
          <a:p>
            <a:pPr marL="0" indent="0" algn="ctr">
              <a:buNone/>
            </a:pPr>
            <a:endParaRPr lang="en-US" altLang="en-US"/>
          </a:p>
          <a:p>
            <a:pPr marL="0" indent="0" algn="ctr">
              <a:buNone/>
            </a:pPr>
            <a:r>
              <a:rPr lang="en-US" altLang="en-US"/>
              <a:t>CO2: Describe how Edge AI is applied in smart cities or healthcare</a:t>
            </a:r>
            <a:endParaRPr lang="en-US" altLang="en-US"/>
          </a:p>
          <a:p>
            <a:pPr marL="0" indent="0" algn="ctr">
              <a:buNone/>
            </a:pPr>
            <a:endParaRPr lang="en-US" altLang="en-US"/>
          </a:p>
          <a:p>
            <a:pPr marL="0" indent="0" algn="just">
              <a:buNone/>
            </a:pPr>
            <a:r>
              <a:rPr lang="en-US" altLang="en-US"/>
              <a:t>CO3:</a:t>
            </a:r>
            <a:r>
              <a:rPr lang="en-US" altLang="en-US" b="0"/>
              <a:t>In a smart city, multiple IoT devices like traffic cameras and environmental sensors continuously send data to Edge Nodes for processing. However, the Edge Nodes often experience overloading due to the high volume of data and real-time processing demands</a:t>
            </a:r>
            <a:r>
              <a:rPr lang="en-US" altLang="en-US"/>
              <a:t>. Identify the Critical Issues of Edge Nodes</a:t>
            </a:r>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2362200" y="838200"/>
            <a:ext cx="6096000" cy="768350"/>
          </a:xfrm>
          <a:prstGeom prst="rect">
            <a:avLst/>
          </a:prstGeom>
          <a:noFill/>
        </p:spPr>
        <p:txBody>
          <a:bodyPr wrap="square" rtlCol="0" anchor="t">
            <a:spAutoFit/>
          </a:bodyPr>
          <a:p>
            <a:pPr marL="0" indent="0">
              <a:buNone/>
            </a:pPr>
            <a:r>
              <a:rPr lang="en-US" altLang="en-US" sz="4400">
                <a:sym typeface="+mn-ea"/>
              </a:rPr>
              <a:t>Module I –L4</a:t>
            </a:r>
            <a:endParaRPr lang="en-US" altLang="en-US" sz="440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6622" y="685749"/>
            <a:ext cx="10410545" cy="707390"/>
          </a:xfrm>
        </p:spPr>
        <p:txBody>
          <a:bodyPr/>
          <a:p>
            <a:r>
              <a:rPr lang="en-US" b="1"/>
              <a:t>Smart City</a:t>
            </a:r>
            <a:endParaRPr lang="en-US" b="1"/>
          </a:p>
        </p:txBody>
      </p:sp>
      <p:graphicFrame>
        <p:nvGraphicFramePr>
          <p:cNvPr id="4" name="Object 3"/>
          <p:cNvGraphicFramePr/>
          <p:nvPr/>
        </p:nvGraphicFramePr>
        <p:xfrm>
          <a:off x="914400" y="1676400"/>
          <a:ext cx="10330815" cy="4547235"/>
        </p:xfrm>
        <a:graphic>
          <a:graphicData uri="http://schemas.openxmlformats.org/presentationml/2006/ole">
            <mc:AlternateContent xmlns:mc="http://schemas.openxmlformats.org/markup-compatibility/2006">
              <mc:Choice xmlns:v="urn:schemas-microsoft-com:vml" Requires="v">
                <p:oleObj spid="_x0000_s5" name="" r:id="rId1" imgW="8020050" imgH="4543425" progId="Paint.Picture">
                  <p:embed/>
                </p:oleObj>
              </mc:Choice>
              <mc:Fallback>
                <p:oleObj name="" r:id="rId1" imgW="8020050" imgH="4543425" progId="Paint.Picture">
                  <p:embed/>
                  <p:pic>
                    <p:nvPicPr>
                      <p:cNvPr id="0" name="Picture 4"/>
                      <p:cNvPicPr/>
                      <p:nvPr/>
                    </p:nvPicPr>
                    <p:blipFill>
                      <a:blip r:embed="rId2"/>
                      <a:stretch>
                        <a:fillRect/>
                      </a:stretch>
                    </p:blipFill>
                    <p:spPr>
                      <a:xfrm>
                        <a:off x="914400" y="1676400"/>
                        <a:ext cx="10330815" cy="4547235"/>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ltLang="en-US"/>
              <a:t>Current Trends and Applications </a:t>
            </a:r>
            <a:endParaRPr lang="en-US" altLang="en-US"/>
          </a:p>
        </p:txBody>
      </p:sp>
      <p:sp>
        <p:nvSpPr>
          <p:cNvPr id="3" name="Content Placeholder 2"/>
          <p:cNvSpPr>
            <a:spLocks noGrp="1"/>
          </p:cNvSpPr>
          <p:nvPr>
            <p:ph idx="1"/>
          </p:nvPr>
        </p:nvSpPr>
        <p:spPr>
          <a:xfrm>
            <a:off x="381101" y="1523492"/>
            <a:ext cx="10824845" cy="4431665"/>
          </a:xfrm>
        </p:spPr>
        <p:txBody>
          <a:bodyPr/>
          <a:p>
            <a:pPr marL="0" indent="0" algn="ctr">
              <a:buNone/>
            </a:pPr>
            <a:r>
              <a:rPr lang="en-US" altLang="en-US" sz="2400" b="1"/>
              <a:t>Smart Transit (Intelligent Transportation)</a:t>
            </a:r>
            <a:endParaRPr lang="en-US" altLang="en-US" sz="2400" b="1"/>
          </a:p>
          <a:p>
            <a:pPr marL="342900" indent="-342900">
              <a:buFont typeface="Wingdings" panose="05000000000000000000" charset="0"/>
              <a:buChar char="v"/>
            </a:pPr>
            <a:r>
              <a:rPr lang="en-US" altLang="en-US" sz="2400" b="1"/>
              <a:t>Cities aim to reduce:</a:t>
            </a:r>
            <a:endParaRPr lang="en-US" altLang="en-US" sz="2400" b="1"/>
          </a:p>
          <a:p>
            <a:pPr indent="0">
              <a:buFont typeface="Wingdings" panose="05000000000000000000" charset="0"/>
              <a:buNone/>
            </a:pPr>
            <a:r>
              <a:rPr lang="en-US" altLang="en-US" sz="2400" b="0"/>
              <a:t>    Traffic congestion</a:t>
            </a:r>
            <a:endParaRPr lang="en-US" altLang="en-US" sz="2400" b="0"/>
          </a:p>
          <a:p>
            <a:pPr indent="0">
              <a:buFont typeface="Wingdings" panose="05000000000000000000" charset="0"/>
              <a:buNone/>
            </a:pPr>
            <a:r>
              <a:rPr lang="en-US" altLang="en-US" sz="2400" b="0"/>
              <a:t>     Fuel consumption</a:t>
            </a:r>
            <a:endParaRPr lang="en-US" altLang="en-US" sz="2400" b="0"/>
          </a:p>
          <a:p>
            <a:pPr indent="0">
              <a:buFont typeface="Wingdings" panose="05000000000000000000" charset="0"/>
              <a:buNone/>
            </a:pPr>
            <a:r>
              <a:rPr lang="en-US" altLang="en-US" sz="2400" b="0"/>
              <a:t>     Delays due to poor traffic management</a:t>
            </a:r>
            <a:endParaRPr lang="en-US" altLang="en-US" sz="2400" b="0"/>
          </a:p>
          <a:p>
            <a:pPr marL="342900" indent="-342900">
              <a:buFont typeface="Wingdings" panose="05000000000000000000" charset="0"/>
              <a:buChar char="v"/>
            </a:pPr>
            <a:r>
              <a:rPr lang="en-US" altLang="en-US" sz="2400"/>
              <a:t>Edge servers analyze data from</a:t>
            </a:r>
            <a:r>
              <a:rPr lang="en-US" altLang="en-US" sz="2400" b="0"/>
              <a:t>:</a:t>
            </a:r>
            <a:endParaRPr lang="en-US" altLang="en-US" sz="2400" b="0"/>
          </a:p>
          <a:p>
            <a:pPr indent="0">
              <a:buFont typeface="Wingdings" panose="05000000000000000000" charset="0"/>
              <a:buNone/>
            </a:pPr>
            <a:r>
              <a:rPr lang="en-US" altLang="en-US" sz="2400" b="0"/>
              <a:t>    Smart traffic sensors</a:t>
            </a:r>
            <a:endParaRPr lang="en-US" altLang="en-US" sz="2400" b="0"/>
          </a:p>
          <a:p>
            <a:pPr indent="0">
              <a:buFont typeface="Wingdings" panose="05000000000000000000" charset="0"/>
              <a:buNone/>
            </a:pPr>
            <a:r>
              <a:rPr lang="en-US" altLang="en-US" sz="2400" b="0"/>
              <a:t>    CCTV cameras</a:t>
            </a:r>
            <a:endParaRPr lang="en-US" altLang="en-US" sz="2400" b="0"/>
          </a:p>
          <a:p>
            <a:pPr marL="342900" indent="-342900">
              <a:buFont typeface="Wingdings" panose="05000000000000000000" charset="0"/>
              <a:buChar char="v"/>
            </a:pPr>
            <a:r>
              <a:rPr lang="en-US" altLang="en-US" sz="2400" b="1"/>
              <a:t>Enables:</a:t>
            </a:r>
            <a:endParaRPr lang="en-US" altLang="en-US" sz="2400" b="1"/>
          </a:p>
          <a:p>
            <a:pPr marL="0" indent="0">
              <a:buNone/>
            </a:pPr>
            <a:r>
              <a:rPr lang="en-US" altLang="en-US" sz="2400" b="0"/>
              <a:t>    Adaptive traffic signal control</a:t>
            </a:r>
            <a:endParaRPr lang="en-US" altLang="en-US" sz="2400" b="0"/>
          </a:p>
          <a:p>
            <a:pPr marL="0" indent="0">
              <a:buNone/>
            </a:pPr>
            <a:r>
              <a:rPr lang="en-US" altLang="en-US" sz="2400" b="0"/>
              <a:t>    Real-time vehicle movement analysis</a:t>
            </a:r>
            <a:endParaRPr lang="en-US" altLang="en-US" sz="2400" b="0"/>
          </a:p>
          <a:p>
            <a:endParaRPr lang="en-US" alt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327660" y="1905000"/>
            <a:ext cx="10824845" cy="4318635"/>
          </a:xfrm>
        </p:spPr>
        <p:txBody>
          <a:bodyPr>
            <a:noAutofit/>
          </a:bodyPr>
          <a:p>
            <a:pPr marL="457200" indent="-457200">
              <a:buFont typeface="Wingdings" panose="05000000000000000000" charset="0"/>
              <a:buChar char="v"/>
            </a:pPr>
            <a:r>
              <a:rPr lang="en-US" altLang="en-US" sz="2800">
                <a:sym typeface="+mn-ea"/>
              </a:rPr>
              <a:t>Intelligent parking systems</a:t>
            </a:r>
            <a:r>
              <a:rPr lang="en-US" altLang="en-US" sz="2800" b="0">
                <a:sym typeface="+mn-ea"/>
              </a:rPr>
              <a:t> </a:t>
            </a:r>
            <a:endParaRPr lang="en-US" altLang="en-US" sz="2800" b="0">
              <a:sym typeface="+mn-ea"/>
            </a:endParaRPr>
          </a:p>
          <a:p>
            <a:r>
              <a:rPr lang="en-US" altLang="en-US" sz="2800" b="0">
                <a:sym typeface="+mn-ea"/>
              </a:rPr>
              <a:t>provide location-based parking availability.</a:t>
            </a:r>
            <a:endParaRPr lang="en-US" altLang="en-US" sz="2800" b="0"/>
          </a:p>
          <a:p>
            <a:pPr marL="457200" indent="-457200">
              <a:buFont typeface="Wingdings" panose="05000000000000000000" charset="0"/>
              <a:buChar char="v"/>
            </a:pPr>
            <a:r>
              <a:rPr lang="en-US" altLang="en-US" sz="2800">
                <a:sym typeface="+mn-ea"/>
              </a:rPr>
              <a:t>Limitations of cloud computing:</a:t>
            </a:r>
            <a:endParaRPr lang="en-US" altLang="en-US" sz="2800"/>
          </a:p>
          <a:p>
            <a:pPr marL="0" indent="0">
              <a:buNone/>
            </a:pPr>
            <a:r>
              <a:rPr lang="en-US" altLang="en-US" sz="2800" b="0">
                <a:sym typeface="+mn-ea"/>
              </a:rPr>
              <a:t>High latency</a:t>
            </a:r>
            <a:endParaRPr lang="en-US" altLang="en-US" sz="2800" b="0"/>
          </a:p>
          <a:p>
            <a:pPr marL="0" indent="0">
              <a:buNone/>
            </a:pPr>
            <a:r>
              <a:rPr lang="en-US" altLang="en-US" sz="2800" b="0">
                <a:sym typeface="+mn-ea"/>
              </a:rPr>
              <a:t>Lack of real-time safety guarantees</a:t>
            </a:r>
            <a:endParaRPr lang="en-US" altLang="en-US" sz="2800" b="0"/>
          </a:p>
          <a:p>
            <a:pPr marL="457200" indent="-457200">
              <a:buFont typeface="Wingdings" panose="05000000000000000000" charset="0"/>
              <a:buChar char="v"/>
            </a:pPr>
            <a:r>
              <a:rPr lang="en-US" altLang="en-US" sz="2800">
                <a:sym typeface="+mn-ea"/>
              </a:rPr>
              <a:t>Edge computing enables:</a:t>
            </a:r>
            <a:endParaRPr lang="en-US" altLang="en-US" sz="2800"/>
          </a:p>
          <a:p>
            <a:pPr marL="0" indent="0">
              <a:buNone/>
            </a:pPr>
            <a:r>
              <a:rPr lang="en-US" altLang="en-US" sz="2800" b="0">
                <a:sym typeface="+mn-ea"/>
              </a:rPr>
              <a:t>Faster decision-making</a:t>
            </a:r>
            <a:endParaRPr lang="en-US" altLang="en-US" sz="2800" b="0"/>
          </a:p>
          <a:p>
            <a:pPr marL="0" indent="0">
              <a:buNone/>
            </a:pPr>
            <a:r>
              <a:rPr lang="en-US" altLang="en-US" sz="2800" b="0">
                <a:sym typeface="+mn-ea"/>
              </a:rPr>
              <a:t>Low-latency responses for autonomous vehicles</a:t>
            </a:r>
            <a:endParaRPr lang="en-US" altLang="en-US" sz="2800" b="0">
              <a:sym typeface="+mn-ea"/>
            </a:endParaRPr>
          </a:p>
          <a:p>
            <a:pPr marL="0" indent="0">
              <a:buNone/>
            </a:pPr>
            <a:r>
              <a:rPr lang="en-US" altLang="en-US" sz="2800" b="0">
                <a:sym typeface="+mn-ea"/>
              </a:rPr>
              <a:t>Smart industries</a:t>
            </a:r>
            <a:endParaRPr lang="en-US" altLang="en-US" sz="2800" b="0">
              <a:sym typeface="+mn-ea"/>
            </a:endParaRPr>
          </a:p>
          <a:p>
            <a:pPr marL="0" indent="0">
              <a:buNone/>
            </a:pPr>
            <a:r>
              <a:rPr lang="en-US" altLang="en-US" sz="2800" b="0">
                <a:sym typeface="+mn-ea"/>
              </a:rPr>
              <a:t>UAV</a:t>
            </a:r>
            <a:endParaRPr lang="en-US" altLang="en-US" sz="2800" b="0"/>
          </a:p>
          <a:p>
            <a:endParaRPr lang="en-US" sz="28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022" y="838149"/>
            <a:ext cx="10410545" cy="615315"/>
          </a:xfrm>
        </p:spPr>
        <p:txBody>
          <a:bodyPr/>
          <a:p>
            <a:r>
              <a:rPr lang="en-US" altLang="en-US" sz="4000" b="1">
                <a:sym typeface="+mn-ea"/>
              </a:rPr>
              <a:t>Current Problems and Emerging Trends in Edge AI</a:t>
            </a:r>
            <a:endParaRPr lang="en-US" sz="4000" b="1"/>
          </a:p>
        </p:txBody>
      </p:sp>
      <p:sp>
        <p:nvSpPr>
          <p:cNvPr id="3" name="Content Placeholder 2"/>
          <p:cNvSpPr>
            <a:spLocks noGrp="1"/>
          </p:cNvSpPr>
          <p:nvPr>
            <p:ph idx="1"/>
          </p:nvPr>
        </p:nvSpPr>
        <p:spPr>
          <a:xfrm>
            <a:off x="327761" y="2023237"/>
            <a:ext cx="10824845" cy="4062730"/>
          </a:xfrm>
        </p:spPr>
        <p:txBody>
          <a:bodyPr/>
          <a:p>
            <a:pPr marL="342900" indent="-342900">
              <a:buFont typeface="Wingdings" panose="05000000000000000000" charset="0"/>
              <a:buChar char="v"/>
            </a:pPr>
            <a:r>
              <a:rPr lang="en-US" altLang="en-US" sz="2400" b="1"/>
              <a:t>Increased Adoption</a:t>
            </a:r>
            <a:endParaRPr lang="en-US" altLang="en-US" sz="2400" b="1"/>
          </a:p>
          <a:p>
            <a:r>
              <a:rPr lang="en-US" altLang="en-US" sz="2400" b="0"/>
              <a:t>More devices capable of local AI processing</a:t>
            </a:r>
            <a:endParaRPr lang="en-US" altLang="en-US" sz="2400" b="0"/>
          </a:p>
          <a:p>
            <a:r>
              <a:rPr lang="en-US" altLang="en-US" sz="2400" b="0"/>
              <a:t>Edge AI becoming mainstream</a:t>
            </a:r>
            <a:endParaRPr lang="en-US" altLang="en-US" sz="2400" b="0"/>
          </a:p>
          <a:p>
            <a:pPr marL="342900" indent="-342900">
              <a:buFont typeface="Wingdings" panose="05000000000000000000" charset="0"/>
              <a:buChar char="v"/>
            </a:pPr>
            <a:r>
              <a:rPr lang="en-US" altLang="en-US" sz="2400" b="1"/>
              <a:t>Faster Processing</a:t>
            </a:r>
            <a:endParaRPr lang="en-US" altLang="en-US" sz="2400"/>
          </a:p>
          <a:p>
            <a:r>
              <a:rPr lang="en-US" altLang="en-US" sz="2400" b="0"/>
              <a:t>Advanced processors on edge devices</a:t>
            </a:r>
            <a:endParaRPr lang="en-US" altLang="en-US" sz="2400" b="0"/>
          </a:p>
          <a:p>
            <a:r>
              <a:rPr lang="en-US" altLang="en-US" sz="2400" b="0"/>
              <a:t>Improved AI performance and response times</a:t>
            </a:r>
            <a:endParaRPr lang="en-US" altLang="en-US" sz="2400" b="0"/>
          </a:p>
          <a:p>
            <a:pPr marL="342900" indent="-342900">
              <a:buFont typeface="Wingdings" panose="05000000000000000000" charset="0"/>
              <a:buChar char="v"/>
            </a:pPr>
            <a:r>
              <a:rPr lang="en-US" altLang="en-US" sz="2400" b="1"/>
              <a:t>Improved Accuracy</a:t>
            </a:r>
            <a:endParaRPr lang="en-US" altLang="en-US" sz="2400"/>
          </a:p>
          <a:p>
            <a:r>
              <a:rPr lang="en-US" altLang="en-US" sz="2400" b="0"/>
              <a:t>Better data quality</a:t>
            </a:r>
            <a:endParaRPr lang="en-US" altLang="en-US" sz="2400" b="0"/>
          </a:p>
          <a:p>
            <a:r>
              <a:rPr lang="en-US" altLang="en-US" sz="2400" b="0"/>
              <a:t>Advanced algorithms</a:t>
            </a:r>
            <a:endParaRPr lang="en-US" altLang="en-US" sz="2400" b="0"/>
          </a:p>
          <a:p>
            <a:r>
              <a:rPr lang="en-US" altLang="en-US" sz="2400" b="0"/>
              <a:t>Multi-source data integration</a:t>
            </a:r>
            <a:endParaRPr lang="en-US" altLang="en-US" sz="2400" b="0"/>
          </a:p>
          <a:p>
            <a:pPr marL="0" indent="0">
              <a:buNone/>
            </a:pPr>
            <a:endParaRPr lang="en-US" altLang="en-US" sz="1200"/>
          </a:p>
          <a:p>
            <a:endParaRPr lang="en-US" altLang="en-US" sz="12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422" y="838149"/>
            <a:ext cx="10410545" cy="707390"/>
          </a:xfrm>
        </p:spPr>
        <p:txBody>
          <a:bodyPr/>
          <a:p>
            <a:r>
              <a:rPr lang="en-US"/>
              <a:t>conti...</a:t>
            </a:r>
            <a:endParaRPr lang="en-US"/>
          </a:p>
        </p:txBody>
      </p:sp>
      <p:sp>
        <p:nvSpPr>
          <p:cNvPr id="3" name="Content Placeholder 2"/>
          <p:cNvSpPr>
            <a:spLocks noGrp="1"/>
          </p:cNvSpPr>
          <p:nvPr>
            <p:ph idx="1"/>
          </p:nvPr>
        </p:nvSpPr>
        <p:spPr>
          <a:xfrm>
            <a:off x="1295400" y="1981200"/>
            <a:ext cx="9834880" cy="3693160"/>
          </a:xfrm>
        </p:spPr>
        <p:txBody>
          <a:bodyPr wrap="square"/>
          <a:p>
            <a:pPr marL="342900" indent="-342900">
              <a:buFont typeface="Wingdings" panose="05000000000000000000" charset="0"/>
              <a:buChar char="v"/>
            </a:pPr>
            <a:r>
              <a:rPr lang="en-US" altLang="en-US" sz="2400" b="1">
                <a:sym typeface="+mn-ea"/>
              </a:rPr>
              <a:t>Privacy and Security</a:t>
            </a:r>
            <a:endParaRPr lang="en-US" altLang="en-US" sz="2400"/>
          </a:p>
          <a:p>
            <a:r>
              <a:rPr lang="en-US" altLang="en-US" sz="2400" b="0">
                <a:sym typeface="+mn-ea"/>
              </a:rPr>
              <a:t>Local data processing raises privacy concerns</a:t>
            </a:r>
            <a:endParaRPr lang="en-US" altLang="en-US" sz="2400" b="0"/>
          </a:p>
          <a:p>
            <a:r>
              <a:rPr lang="en-US" altLang="en-US" sz="2400" b="0">
                <a:sym typeface="+mn-ea"/>
              </a:rPr>
              <a:t>Federated learning reduces raw data sharing</a:t>
            </a:r>
            <a:endParaRPr lang="en-US" altLang="en-US" sz="2400" b="0"/>
          </a:p>
          <a:p>
            <a:pPr marL="342900" indent="-342900">
              <a:buFont typeface="Wingdings" panose="05000000000000000000" charset="0"/>
              <a:buChar char="v"/>
            </a:pPr>
            <a:r>
              <a:rPr lang="en-US" altLang="en-US" sz="2400" b="1">
                <a:sym typeface="+mn-ea"/>
              </a:rPr>
              <a:t>Energy Efficiency</a:t>
            </a:r>
            <a:endParaRPr lang="en-US" altLang="en-US" sz="2400" b="1"/>
          </a:p>
          <a:p>
            <a:r>
              <a:rPr lang="en-US" altLang="en-US" sz="2400" b="0">
                <a:sym typeface="+mn-ea"/>
              </a:rPr>
              <a:t>Battery-powered edge devices need low-power designs</a:t>
            </a:r>
            <a:endParaRPr lang="en-US" altLang="en-US" sz="2400" b="0"/>
          </a:p>
          <a:p>
            <a:r>
              <a:rPr lang="en-US" altLang="en-US" sz="2400" b="0">
                <a:sym typeface="+mn-ea"/>
              </a:rPr>
              <a:t>Use of quantization and model compression</a:t>
            </a:r>
            <a:endParaRPr lang="en-US" altLang="en-US" sz="2400" b="0"/>
          </a:p>
          <a:p>
            <a:pPr marL="342900" indent="-342900">
              <a:buFont typeface="Wingdings" panose="05000000000000000000" charset="0"/>
              <a:buChar char="v"/>
            </a:pPr>
            <a:r>
              <a:rPr lang="en-US" altLang="en-US" sz="2400" b="1">
                <a:sym typeface="+mn-ea"/>
              </a:rPr>
              <a:t>Edge-to-Cloud Integration</a:t>
            </a:r>
            <a:endParaRPr lang="en-US" altLang="en-US" sz="2400" b="1"/>
          </a:p>
          <a:p>
            <a:r>
              <a:rPr lang="en-US" altLang="en-US" sz="2400" b="0">
                <a:sym typeface="+mn-ea"/>
              </a:rPr>
              <a:t>Hybrid systems combine strengths of both</a:t>
            </a:r>
            <a:endParaRPr lang="en-US" altLang="en-US" sz="2400" b="0"/>
          </a:p>
          <a:p>
            <a:r>
              <a:rPr lang="en-US" altLang="en-US" sz="2400" b="0">
                <a:sym typeface="+mn-ea"/>
              </a:rPr>
              <a:t>Cloud for model training</a:t>
            </a:r>
            <a:endParaRPr lang="en-US" altLang="en-US" sz="2400" b="0"/>
          </a:p>
          <a:p>
            <a:r>
              <a:rPr lang="en-US" altLang="en-US" sz="2400" b="0">
                <a:sym typeface="+mn-ea"/>
              </a:rPr>
              <a:t>Edge for real-time decision</a:t>
            </a:r>
            <a:endParaRPr 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1477010"/>
          </a:xfrm>
        </p:spPr>
        <p:txBody>
          <a:bodyPr/>
          <a:p>
            <a:pPr marL="0" indent="0">
              <a:buNone/>
            </a:pPr>
            <a:r>
              <a:rPr lang="en-US" altLang="en-US">
                <a:sym typeface="+mn-ea"/>
              </a:rPr>
              <a:t>CO1:Explain the future prospects of edge computing in next-generation networks.</a:t>
            </a:r>
            <a:endParaRPr lang="en-US" altLang="en-US">
              <a:sym typeface="+mn-ea"/>
            </a:endParaRPr>
          </a:p>
          <a:p>
            <a:pPr marL="0" indent="0">
              <a:buNone/>
            </a:pPr>
            <a:r>
              <a:rPr lang="en-US" altLang="en-US">
                <a:sym typeface="+mn-ea"/>
              </a:rPr>
              <a:t>CO2:Describe how Edge AI will influence future IoT applications.</a:t>
            </a:r>
            <a:endParaRPr lang="en-US" altLang="en-US">
              <a:sym typeface="+mn-ea"/>
            </a:endParaRPr>
          </a:p>
          <a:p>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1804670" y="570865"/>
            <a:ext cx="4064000" cy="1198880"/>
          </a:xfrm>
          <a:prstGeom prst="rect">
            <a:avLst/>
          </a:prstGeom>
          <a:noFill/>
        </p:spPr>
        <p:txBody>
          <a:bodyPr wrap="square" rtlCol="0">
            <a:spAutoFit/>
          </a:bodyPr>
          <a:p>
            <a:r>
              <a:rPr lang="en-US" altLang="en-US" sz="3600" b="1">
                <a:latin typeface="Cambria" panose="02040503050406030204" charset="0"/>
                <a:cs typeface="Cambria" panose="02040503050406030204" charset="0"/>
                <a:sym typeface="+mn-ea"/>
              </a:rPr>
              <a:t>Module I –L5</a:t>
            </a:r>
            <a:endParaRPr lang="en-US" altLang="en-US" sz="3600" b="1">
              <a:latin typeface="Cambria" panose="02040503050406030204" charset="0"/>
              <a:cs typeface="Cambria" panose="02040503050406030204" charset="0"/>
              <a:sym typeface="+mn-ea"/>
            </a:endParaRPr>
          </a:p>
          <a:p>
            <a:endParaRPr lang="en-US" sz="3600" b="1">
              <a:latin typeface="Cambria" panose="02040503050406030204" charset="0"/>
              <a:cs typeface="Cambria" panose="02040503050406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a:latin typeface="+mn-ea"/>
                <a:ea typeface="Calibri" panose="020F0502020204030204"/>
                <a:cs typeface="+mn-ea"/>
                <a:sym typeface="+mn-ea"/>
              </a:rPr>
              <a:t>Future prospects of Edge</a:t>
            </a:r>
            <a:endParaRPr lang="en-US"/>
          </a:p>
        </p:txBody>
      </p:sp>
      <p:pic>
        <p:nvPicPr>
          <p:cNvPr id="6" name="Picture 5"/>
          <p:cNvPicPr/>
          <p:nvPr/>
        </p:nvPicPr>
        <p:blipFill>
          <a:blip r:embed="rId1"/>
          <a:stretch>
            <a:fillRect/>
          </a:stretch>
        </p:blipFill>
        <p:spPr>
          <a:xfrm>
            <a:off x="664210" y="1175385"/>
            <a:ext cx="10720070" cy="50730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a:latin typeface="+mn-ea"/>
                <a:ea typeface="Calibri" panose="020F0502020204030204"/>
                <a:cs typeface="+mn-ea"/>
                <a:sym typeface="+mn-ea"/>
              </a:rPr>
              <a:t>Future prospects of Edge</a:t>
            </a:r>
            <a:r>
              <a:rPr lang="en-US">
                <a:latin typeface="+mn-ea"/>
                <a:ea typeface="Calibri" panose="020F0502020204030204"/>
                <a:cs typeface="+mn-ea"/>
                <a:sym typeface="+mn-ea"/>
              </a:rPr>
              <a:t>/EdgeAI</a:t>
            </a:r>
            <a:endParaRPr lang="en-US">
              <a:latin typeface="+mn-ea"/>
              <a:ea typeface="Calibri" panose="020F0502020204030204"/>
              <a:cs typeface="+mn-ea"/>
              <a:sym typeface="+mn-ea"/>
            </a:endParaRPr>
          </a:p>
        </p:txBody>
      </p:sp>
      <p:sp>
        <p:nvSpPr>
          <p:cNvPr id="3" name="Content Placeholder 2"/>
          <p:cNvSpPr>
            <a:spLocks noGrp="1"/>
          </p:cNvSpPr>
          <p:nvPr>
            <p:ph idx="1"/>
          </p:nvPr>
        </p:nvSpPr>
        <p:spPr>
          <a:xfrm>
            <a:off x="327761" y="2023237"/>
            <a:ext cx="10824845" cy="4801235"/>
          </a:xfrm>
        </p:spPr>
        <p:txBody>
          <a:bodyPr/>
          <a:p>
            <a:pPr marL="0" indent="0">
              <a:buNone/>
            </a:pPr>
            <a:r>
              <a:rPr lang="en-US" altLang="en-US" b="1">
                <a:latin typeface="Cambria" panose="02040503050406030204" charset="0"/>
                <a:cs typeface="Cambria" panose="02040503050406030204" charset="0"/>
              </a:rPr>
              <a:t>Resource Computation at the Edge</a:t>
            </a:r>
            <a:endParaRPr lang="en-US" altLang="en-US" b="1">
              <a:latin typeface="Cambria" panose="02040503050406030204" charset="0"/>
              <a:cs typeface="Cambria" panose="02040503050406030204" charset="0"/>
            </a:endParaRPr>
          </a:p>
          <a:p>
            <a:r>
              <a:rPr lang="en-US" altLang="en-US" b="0">
                <a:latin typeface="Cambria" panose="02040503050406030204" charset="0"/>
                <a:cs typeface="Cambria" panose="02040503050406030204" charset="0"/>
              </a:rPr>
              <a:t>Most edge hardware is not designed for heavy computation.</a:t>
            </a:r>
            <a:endParaRPr lang="en-US" altLang="en-US" b="0">
              <a:latin typeface="Cambria" panose="02040503050406030204" charset="0"/>
              <a:cs typeface="Cambria" panose="02040503050406030204" charset="0"/>
            </a:endParaRPr>
          </a:p>
          <a:p>
            <a:r>
              <a:rPr lang="en-US" altLang="en-US" b="0">
                <a:latin typeface="Cambria" panose="02040503050406030204" charset="0"/>
                <a:cs typeface="Cambria" panose="02040503050406030204" charset="0"/>
              </a:rPr>
              <a:t>Software-based solutions are emerging to overcome limitations</a:t>
            </a:r>
            <a:r>
              <a:rPr lang="en-US" altLang="en-US">
                <a:latin typeface="Cambria" panose="02040503050406030204" charset="0"/>
                <a:cs typeface="Cambria" panose="02040503050406030204" charset="0"/>
              </a:rPr>
              <a:t>.</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Examples include:</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             </a:t>
            </a:r>
            <a:r>
              <a:rPr lang="en-US" altLang="en-US" b="0">
                <a:latin typeface="Cambria" panose="02040503050406030204" charset="0"/>
                <a:cs typeface="Cambria" panose="02040503050406030204" charset="0"/>
              </a:rPr>
              <a:t>Cloud servers with radio applications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Virtual machine (VM) hosting at the edge</a:t>
            </a:r>
            <a:endParaRPr lang="en-US" altLang="en-US" b="0">
              <a:latin typeface="Cambria" panose="02040503050406030204" charset="0"/>
              <a:cs typeface="Cambria" panose="02040503050406030204" charset="0"/>
            </a:endParaRPr>
          </a:p>
          <a:p>
            <a:pPr marL="0" indent="0">
              <a:buNone/>
            </a:pPr>
            <a:r>
              <a:rPr lang="en-US" altLang="en-US" b="1">
                <a:latin typeface="Cambria" panose="02040503050406030204" charset="0"/>
                <a:cs typeface="Cambria" panose="02040503050406030204" charset="0"/>
              </a:rPr>
              <a:t>Finding Suitable Edge Nodes and Resources</a:t>
            </a:r>
            <a:endParaRPr lang="en-US" altLang="en-US" b="1">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 </a:t>
            </a:r>
            <a:r>
              <a:rPr lang="en-US" altLang="en-US" b="0">
                <a:latin typeface="Cambria" panose="02040503050406030204" charset="0"/>
                <a:cs typeface="Cambria" panose="02040503050406030204" charset="0"/>
              </a:rPr>
              <a:t>Discovery and trust are critical issues in edge networks.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Mobile devices must:</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Identify suitable edge nodes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Ensure trustworthiness of edge resources</a:t>
            </a:r>
            <a:endParaRPr lang="en-US" altLang="en-US" b="0">
              <a:latin typeface="Cambria" panose="02040503050406030204" charset="0"/>
              <a:cs typeface="Cambria" panose="02040503050406030204" charset="0"/>
            </a:endParaRPr>
          </a:p>
          <a:p>
            <a:pPr marL="0" indent="0">
              <a:buNone/>
            </a:pPr>
            <a:endParaRPr lang="en-US" altLang="en-US">
              <a:latin typeface="Cambria" panose="02040503050406030204" charset="0"/>
              <a:cs typeface="Cambria" panose="02040503050406030204" charset="0"/>
            </a:endParaRPr>
          </a:p>
          <a:p>
            <a:endParaRPr lang="en-US" altLang="en-US">
              <a:latin typeface="Cambria" panose="02040503050406030204" charset="0"/>
              <a:cs typeface="Cambria" panose="02040503050406030204" charset="0"/>
            </a:endParaRPr>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1174115" y="2023110"/>
            <a:ext cx="9978390" cy="4431665"/>
          </a:xfrm>
        </p:spPr>
        <p:txBody>
          <a:bodyPr wrap="square"/>
          <a:p>
            <a:pPr marL="0" indent="0">
              <a:buNone/>
            </a:pPr>
            <a:r>
              <a:rPr lang="en-US" altLang="en-US" b="1">
                <a:latin typeface="Cambria" panose="02040503050406030204" charset="0"/>
                <a:cs typeface="Cambria" panose="02040503050406030204" charset="0"/>
              </a:rPr>
              <a:t>E</a:t>
            </a:r>
            <a:r>
              <a:rPr lang="en-US" altLang="en-US" b="1"/>
              <a:t>dge AI: Future Directions</a:t>
            </a:r>
            <a:endParaRPr lang="en-US" altLang="en-US" b="1"/>
          </a:p>
          <a:p>
            <a:r>
              <a:rPr lang="en-US" altLang="en-US" b="0"/>
              <a:t>Deploying AI in resource-constrained environments requires:</a:t>
            </a:r>
            <a:endParaRPr lang="en-US" altLang="en-US" b="0"/>
          </a:p>
          <a:p>
            <a:pPr marL="0" indent="0">
              <a:buNone/>
            </a:pPr>
            <a:r>
              <a:rPr lang="en-US" altLang="en-US" b="0"/>
              <a:t>                      Efficient computing resource management</a:t>
            </a:r>
            <a:endParaRPr lang="en-US" altLang="en-US" b="0"/>
          </a:p>
          <a:p>
            <a:pPr marL="0" indent="0">
              <a:buNone/>
            </a:pPr>
            <a:r>
              <a:rPr lang="en-US" altLang="en-US" b="0"/>
              <a:t>                       Secure data handling</a:t>
            </a:r>
            <a:endParaRPr lang="en-US" altLang="en-US" b="0"/>
          </a:p>
          <a:p>
            <a:pPr marL="0" indent="0">
              <a:buNone/>
            </a:pPr>
            <a:r>
              <a:rPr lang="en-US" altLang="en-US" b="0"/>
              <a:t>                       Reliable network connectivity</a:t>
            </a:r>
            <a:endParaRPr lang="en-US" altLang="en-US" b="0"/>
          </a:p>
          <a:p>
            <a:pPr marL="0" indent="0">
              <a:buNone/>
            </a:pPr>
            <a:r>
              <a:rPr lang="en-US" altLang="en-US" b="0"/>
              <a:t>                       Real-time processing capability</a:t>
            </a:r>
            <a:endParaRPr lang="en-US" altLang="en-US" b="0"/>
          </a:p>
          <a:p>
            <a:r>
              <a:rPr lang="en-US" altLang="en-US"/>
              <a:t> before deployment:</a:t>
            </a:r>
            <a:endParaRPr lang="en-US" altLang="en-US"/>
          </a:p>
          <a:p>
            <a:pPr marL="0" indent="0">
              <a:buNone/>
            </a:pPr>
            <a:r>
              <a:rPr lang="en-US" altLang="en-US"/>
              <a:t>                       </a:t>
            </a:r>
            <a:r>
              <a:rPr lang="en-US" altLang="en-US" b="0"/>
              <a:t>Can edge devices support AI model complexity?</a:t>
            </a:r>
            <a:endParaRPr lang="en-US" altLang="en-US" b="0"/>
          </a:p>
          <a:p>
            <a:pPr marL="0" indent="0">
              <a:buNone/>
            </a:pPr>
            <a:r>
              <a:rPr lang="en-US" altLang="en-US" b="0"/>
              <a:t>                       How will data and models be transmitted?</a:t>
            </a:r>
            <a:endParaRPr lang="en-US" altLang="en-US" b="0"/>
          </a:p>
          <a:p>
            <a:pPr marL="0" indent="0">
              <a:buNone/>
            </a:pPr>
            <a:r>
              <a:rPr lang="en-US" altLang="en-US" b="0"/>
              <a:t>                       Which network infrastructure will be used?</a:t>
            </a:r>
            <a:endParaRPr lang="en-US" altLang="en-US" b="0"/>
          </a:p>
          <a:p>
            <a:pPr marL="0" indent="0">
              <a:buNone/>
            </a:pPr>
            <a:r>
              <a:rPr lang="en-US" altLang="en-US" b="0"/>
              <a:t>                       How will sensitive data privacy be ensured?</a:t>
            </a: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4222" y="838149"/>
            <a:ext cx="10410545" cy="707390"/>
          </a:xfrm>
        </p:spPr>
        <p:txBody>
          <a:bodyPr/>
          <a:p>
            <a:r>
              <a:rPr lang="en-US">
                <a:sym typeface="+mn-ea"/>
              </a:rPr>
              <a:t>conti...</a:t>
            </a:r>
            <a:endParaRPr lang="en-US"/>
          </a:p>
        </p:txBody>
      </p:sp>
      <p:sp>
        <p:nvSpPr>
          <p:cNvPr id="3" name="Text Placeholder 2"/>
          <p:cNvSpPr>
            <a:spLocks noGrp="1"/>
          </p:cNvSpPr>
          <p:nvPr>
            <p:ph type="body" idx="1"/>
          </p:nvPr>
        </p:nvSpPr>
        <p:spPr>
          <a:xfrm>
            <a:off x="327660" y="2023110"/>
            <a:ext cx="11285220" cy="4062730"/>
          </a:xfrm>
        </p:spPr>
        <p:txBody>
          <a:bodyPr wrap="square"/>
          <a:p>
            <a:pPr marL="342900" indent="-342900" algn="just">
              <a:buFont typeface="Wingdings" panose="05000000000000000000" charset="0"/>
              <a:buChar char="v"/>
            </a:pPr>
            <a:r>
              <a:rPr lang="en-US" altLang="en-US" b="0">
                <a:latin typeface="Cambria" panose="02040503050406030204" charset="0"/>
                <a:cs typeface="Cambria" panose="02040503050406030204" charset="0"/>
              </a:rPr>
              <a:t>This improves </a:t>
            </a:r>
            <a:r>
              <a:rPr lang="en-US" altLang="en-US">
                <a:latin typeface="Cambria" panose="02040503050406030204" charset="0"/>
                <a:cs typeface="Cambria" panose="02040503050406030204" charset="0"/>
              </a:rPr>
              <a:t>response time, reliability, energy efficiency, and privacy,</a:t>
            </a:r>
            <a:endParaRPr lang="en-US" altLang="en-US">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b="0">
                <a:latin typeface="Cambria" panose="02040503050406030204" charset="0"/>
                <a:cs typeface="Cambria" panose="02040503050406030204" charset="0"/>
              </a:rPr>
              <a:t>Edge AI will enable IoT devices to perform local intelligence,train AI models locally and share only model updates instead of </a:t>
            </a:r>
            <a:r>
              <a:rPr lang="en-US" altLang="en-US">
                <a:latin typeface="Cambria" panose="02040503050406030204" charset="0"/>
                <a:cs typeface="Cambria" panose="02040503050406030204" charset="0"/>
              </a:rPr>
              <a:t>raw data making IoT systems more scalable and autonomous</a:t>
            </a:r>
            <a:endParaRPr lang="en-US" altLang="en-US">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b="0">
                <a:latin typeface="Cambria" panose="02040503050406030204" charset="0"/>
                <a:cs typeface="Cambria" panose="02040503050406030204" charset="0"/>
              </a:rPr>
              <a:t>saving network energy and lowering data center workloads. </a:t>
            </a:r>
            <a:r>
              <a:rPr lang="en-US" altLang="en-US">
                <a:latin typeface="Cambria" panose="02040503050406030204" charset="0"/>
                <a:cs typeface="Cambria" panose="02040503050406030204" charset="0"/>
              </a:rPr>
              <a:t>Optimized local processing and AI model</a:t>
            </a:r>
            <a:r>
              <a:rPr lang="en-US" altLang="en-US" b="0">
                <a:latin typeface="Cambria" panose="02040503050406030204" charset="0"/>
                <a:cs typeface="Cambria" panose="02040503050406030204" charset="0"/>
              </a:rPr>
              <a:t> compression also contribute more energy-efficient computing.</a:t>
            </a:r>
            <a:endParaRPr lang="en-US" altLang="en-US" b="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a:latin typeface="Cambria" panose="02040503050406030204" charset="0"/>
                <a:cs typeface="Cambria" panose="02040503050406030204" charset="0"/>
              </a:rPr>
              <a:t>This approach improves privacy, reduces network load, and enables collaborative intelligence</a:t>
            </a:r>
            <a:r>
              <a:rPr lang="en-US" altLang="en-US" b="0">
                <a:latin typeface="Cambria" panose="02040503050406030204" charset="0"/>
                <a:cs typeface="Cambria" panose="02040503050406030204" charset="0"/>
              </a:rPr>
              <a:t>, making it suitable for large-scale distributed edge systems</a:t>
            </a:r>
            <a:endParaRPr lang="en-US" altLang="en-US" b="0">
              <a:latin typeface="Cambria" panose="02040503050406030204" charset="0"/>
              <a:cs typeface="Cambria" panose="02040503050406030204" charset="0"/>
            </a:endParaRPr>
          </a:p>
          <a:p>
            <a:pPr algn="just"/>
            <a:endParaRPr lang="en-US" altLang="en-US" b="0">
              <a:latin typeface="Cambria" panose="02040503050406030204" charset="0"/>
              <a:cs typeface="Cambria" panose="0204050305040603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9552</Words>
  <Application>WPS Presentation</Application>
  <PresentationFormat>On-screen Show (4:3)</PresentationFormat>
  <Paragraphs>330</Paragraphs>
  <Slides>30</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30</vt:i4>
      </vt:variant>
    </vt:vector>
  </HeadingPairs>
  <TitlesOfParts>
    <vt:vector size="52" baseType="lpstr">
      <vt:lpstr>Arial</vt:lpstr>
      <vt:lpstr>SimSun</vt:lpstr>
      <vt:lpstr>Wingdings</vt:lpstr>
      <vt:lpstr>Calibri Light</vt:lpstr>
      <vt:lpstr>Arial</vt:lpstr>
      <vt:lpstr>Times New Roman</vt:lpstr>
      <vt:lpstr>Trebuchet MS</vt:lpstr>
      <vt:lpstr>Wingdings</vt:lpstr>
      <vt:lpstr>Wingdings</vt:lpstr>
      <vt:lpstr>Segoe UI</vt:lpstr>
      <vt:lpstr>Calibri</vt:lpstr>
      <vt:lpstr>Times New Roman</vt:lpstr>
      <vt:lpstr>Calibri</vt:lpstr>
      <vt:lpstr>Microsoft YaHei</vt:lpstr>
      <vt:lpstr>Arial Unicode MS</vt:lpstr>
      <vt:lpstr>Cambria</vt:lpstr>
      <vt:lpstr>Office Theme</vt:lpstr>
      <vt:lpstr>Paint.Picture</vt:lpstr>
      <vt:lpstr>Paint.Picture</vt:lpstr>
      <vt:lpstr>Paint.Picture</vt:lpstr>
      <vt:lpstr>Paint.Picture</vt:lpstr>
      <vt:lpstr>Paint.Picture</vt:lpstr>
      <vt:lpstr>CSD2006 Fundamentals of Edge AI </vt:lpstr>
      <vt:lpstr>Module I –L1</vt:lpstr>
      <vt:lpstr>Introduction</vt:lpstr>
      <vt:lpstr>Why Edge Computing is Needed</vt:lpstr>
      <vt:lpstr>Working Principle</vt:lpstr>
      <vt:lpstr>OVERVIEW OF EDGE AI</vt:lpstr>
      <vt:lpstr>OVERVIEW OF EDGE AI</vt:lpstr>
      <vt:lpstr>Cutting-Edge - Computing </vt:lpstr>
      <vt:lpstr>Conti...</vt:lpstr>
      <vt:lpstr>Module I –L2</vt:lpstr>
      <vt:lpstr>DIFFERENCES BETWEEN CLOUD AI AND EDGE AI</vt:lpstr>
      <vt:lpstr>Conti.....</vt:lpstr>
      <vt:lpstr>conti...</vt:lpstr>
      <vt:lpstr>Comparison Between Cloud AI and Edge AI</vt:lpstr>
      <vt:lpstr>Comparison Between Cloud AI and Edge AI</vt:lpstr>
      <vt:lpstr>PowerPoint 演示文稿</vt:lpstr>
      <vt:lpstr>Benefits of Edge AI in real-time analytics, </vt:lpstr>
      <vt:lpstr>conti..</vt:lpstr>
      <vt:lpstr>conti..</vt:lpstr>
      <vt:lpstr>PowerPoint 演示文稿</vt:lpstr>
      <vt:lpstr>Smart City</vt:lpstr>
      <vt:lpstr>Current Trends and Applications </vt:lpstr>
      <vt:lpstr>conti....</vt:lpstr>
      <vt:lpstr>Current Problems and Emerging Trends in Edge AI</vt:lpstr>
      <vt:lpstr>conti...</vt:lpstr>
      <vt:lpstr>PowerPoint 演示文稿</vt:lpstr>
      <vt:lpstr>Future prospects of Edge</vt:lpstr>
      <vt:lpstr>Future prospects of Edge/EdgeAI</vt:lpstr>
      <vt:lpstr>conti...</vt:lpstr>
      <vt:lpstr>conti...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CSD2006 Introduction to Edge Computing</dc:title>
  <dc:creator/>
  <cp:lastModifiedBy>hp</cp:lastModifiedBy>
  <cp:revision>36</cp:revision>
  <dcterms:created xsi:type="dcterms:W3CDTF">2026-01-13T14:21:00Z</dcterms:created>
  <dcterms:modified xsi:type="dcterms:W3CDTF">2026-01-19T06:48:27Z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2023-10-18T09:00:00Z</vt:filetime>
  </property>
  <property fmtid="{D5CDD505-2E9C-101B-9397-08002B2CF9AE}" pid="3" name="Creator">
    <vt:lpwstr>Microsoft® PowerPoint® 2016</vt:lpwstr>
  </property>
  <property fmtid="{D5CDD505-2E9C-101B-9397-08002B2CF9AE}" pid="4" name="LastSaved">
    <vt:filetime>2026-01-14T09:00:00Z</vt:filetime>
  </property>
  <property fmtid="{D5CDD505-2E9C-101B-9397-08002B2CF9AE}" pid="5" name="Producer">
    <vt:lpwstr>www.ilovepdf.com</vt:lpwstr>
  </property>
  <property fmtid="{D5CDD505-2E9C-101B-9397-08002B2CF9AE}" pid="6" name="ICV">
    <vt:lpwstr>3D6B62F62C304A09B73F71732D7BFEC9_13</vt:lpwstr>
  </property>
  <property fmtid="{D5CDD505-2E9C-101B-9397-08002B2CF9AE}" pid="7" name="KSOProductBuildVer">
    <vt:lpwstr>1033-12.2.0.23196</vt:lpwstr>
  </property>
</Properties>
</file>