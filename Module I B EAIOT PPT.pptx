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406" r:id="rId5"/>
    <p:sldId id="407" r:id="rId6"/>
    <p:sldId id="408" r:id="rId7"/>
    <p:sldId id="409" r:id="rId8"/>
    <p:sldId id="410" r:id="rId9"/>
    <p:sldId id="411" r:id="rId10"/>
    <p:sldId id="412" r:id="rId11"/>
    <p:sldId id="413" r:id="rId12"/>
    <p:sldId id="414" r:id="rId13"/>
    <p:sldId id="415" r:id="rId14"/>
    <p:sldId id="416" r:id="rId15"/>
    <p:sldId id="417" r:id="rId16"/>
    <p:sldId id="418" r:id="rId17"/>
    <p:sldId id="419" r:id="rId18"/>
    <p:sldId id="420" r:id="rId19"/>
    <p:sldId id="421" r:id="rId20"/>
    <p:sldId id="422" r:id="rId21"/>
    <p:sldId id="423" r:id="rId22"/>
    <p:sldId id="424" r:id="rId23"/>
    <p:sldId id="425" r:id="rId24"/>
    <p:sldId id="426" r:id="rId25"/>
    <p:sldId id="427" r:id="rId26"/>
    <p:sldId id="428" r:id="rId27"/>
    <p:sldId id="429" r:id="rId28"/>
    <p:sldId id="430" r:id="rId29"/>
    <p:sldId id="431" r:id="rId30"/>
    <p:sldId id="432" r:id="rId31"/>
    <p:sldId id="433" r:id="rId32"/>
    <p:sldId id="434" r:id="rId33"/>
    <p:sldId id="435" r:id="rId34"/>
    <p:sldId id="359" r:id="rId35"/>
    <p:sldId id="361" r:id="rId36"/>
    <p:sldId id="362" r:id="rId37"/>
    <p:sldId id="363" r:id="rId38"/>
    <p:sldId id="398" r:id="rId39"/>
    <p:sldId id="399" r:id="rId40"/>
    <p:sldId id="400" r:id="rId41"/>
    <p:sldId id="401" r:id="rId42"/>
    <p:sldId id="402" r:id="rId43"/>
    <p:sldId id="403" r:id="rId44"/>
    <p:sldId id="371" r:id="rId45"/>
    <p:sldId id="366" r:id="rId46"/>
    <p:sldId id="367" r:id="rId47"/>
    <p:sldId id="368" r:id="rId48"/>
    <p:sldId id="369" r:id="rId49"/>
    <p:sldId id="370" r:id="rId50"/>
    <p:sldId id="386" r:id="rId51"/>
    <p:sldId id="387" r:id="rId52"/>
    <p:sldId id="388" r:id="rId53"/>
    <p:sldId id="389" r:id="rId54"/>
    <p:sldId id="390" r:id="rId55"/>
    <p:sldId id="391" r:id="rId56"/>
    <p:sldId id="392" r:id="rId57"/>
    <p:sldId id="393" r:id="rId58"/>
    <p:sldId id="394" r:id="rId59"/>
    <p:sldId id="395" r:id="rId60"/>
    <p:sldId id="396" r:id="rId61"/>
    <p:sldId id="437" r:id="rId62"/>
    <p:sldId id="372" r:id="rId63"/>
    <p:sldId id="373" r:id="rId64"/>
    <p:sldId id="436" r:id="rId65"/>
    <p:sldId id="438" r:id="rId66"/>
    <p:sldId id="439" r:id="rId67"/>
    <p:sldId id="405" r:id="rId68"/>
    <p:sldId id="374" r:id="rId69"/>
    <p:sldId id="326" r:id="rId7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3" Type="http://schemas.openxmlformats.org/officeDocument/2006/relationships/tableStyles" Target="tableStyles.xml"/><Relationship Id="rId72" Type="http://schemas.openxmlformats.org/officeDocument/2006/relationships/viewProps" Target="viewProps.xml"/><Relationship Id="rId71" Type="http://schemas.openxmlformats.org/officeDocument/2006/relationships/presProps" Target="presProps.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6552056" y="1411935"/>
            <a:ext cx="4130040" cy="2331085"/>
          </a:xfrm>
          <a:prstGeom prst="rect">
            <a:avLst/>
          </a:prstGeom>
        </p:spPr>
        <p:txBody>
          <a:bodyPr wrap="square" lIns="0" tIns="0" rIns="0" bIns="0">
            <a:spAutoFit/>
          </a:bodyPr>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body" idx="1"/>
          </p:nvPr>
        </p:nvSpPr>
        <p:spPr/>
        <p:txBody>
          <a:bodyPr lIns="0" tIns="0" rIns="0" bIns="0"/>
          <a:lstStyle>
            <a:lvl1pPr>
              <a:defRPr sz="2400" b="1"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2525"/>
          </a:solidFill>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2525"/>
          </a:solidFill>
        </p:spPr>
        <p:txBody>
          <a:bodyPr wrap="square" lIns="0" tIns="0" rIns="0" bIns="0" rtlCol="0"/>
          <a:lstStyle/>
          <a:p/>
        </p:txBody>
      </p:sp>
      <p:sp>
        <p:nvSpPr>
          <p:cNvPr id="17" name="bg object 17"/>
          <p:cNvSpPr/>
          <p:nvPr/>
        </p:nvSpPr>
        <p:spPr>
          <a:xfrm>
            <a:off x="1194816" y="1898904"/>
            <a:ext cx="9966960" cy="0"/>
          </a:xfrm>
          <a:custGeom>
            <a:avLst/>
            <a:gdLst/>
            <a:ahLst/>
            <a:cxnLst/>
            <a:rect l="l" t="t" r="r" b="b"/>
            <a:pathLst>
              <a:path w="9966960">
                <a:moveTo>
                  <a:pt x="0" y="0"/>
                </a:moveTo>
                <a:lnTo>
                  <a:pt x="9966960" y="0"/>
                </a:lnTo>
              </a:path>
            </a:pathLst>
          </a:custGeom>
          <a:ln w="12192">
            <a:solidFill>
              <a:srgbClr val="404040"/>
            </a:solidFill>
          </a:ln>
        </p:spPr>
        <p:txBody>
          <a:bodyPr wrap="square" lIns="0" tIns="0" rIns="0" bIns="0" rtlCol="0"/>
          <a:lstStyle/>
          <a:p/>
        </p:txBody>
      </p:sp>
      <p:sp>
        <p:nvSpPr>
          <p:cNvPr id="2" name="Holder 2"/>
          <p:cNvSpPr>
            <a:spLocks noGrp="1"/>
          </p:cNvSpPr>
          <p:nvPr>
            <p:ph type="title"/>
          </p:nvPr>
        </p:nvSpPr>
        <p:spPr>
          <a:xfrm>
            <a:off x="890727" y="393649"/>
            <a:ext cx="10410545" cy="1371345"/>
          </a:xfrm>
          <a:prstGeom prst="rect">
            <a:avLst/>
          </a:prstGeom>
        </p:spPr>
        <p:txBody>
          <a:bodyPr wrap="square" lIns="0" tIns="0" rIns="0" bIns="0">
            <a:spAutoFit/>
          </a:bodyPr>
          <a:lstStyle>
            <a:lvl1pPr>
              <a:defRPr sz="4600" b="0" i="0">
                <a:solidFill>
                  <a:srgbClr val="404040"/>
                </a:solidFill>
                <a:latin typeface="Calibri Light" panose="020F0302020204030204"/>
                <a:cs typeface="Calibri Light" panose="020F0302020204030204"/>
              </a:defRPr>
            </a:lvl1pPr>
          </a:lstStyle>
          <a:p/>
        </p:txBody>
      </p:sp>
      <p:sp>
        <p:nvSpPr>
          <p:cNvPr id="3" name="Holder 3"/>
          <p:cNvSpPr>
            <a:spLocks noGrp="1"/>
          </p:cNvSpPr>
          <p:nvPr>
            <p:ph type="body" idx="1"/>
          </p:nvPr>
        </p:nvSpPr>
        <p:spPr>
          <a:xfrm>
            <a:off x="327761" y="2023237"/>
            <a:ext cx="10824845" cy="3743325"/>
          </a:xfrm>
          <a:prstGeom prst="rect">
            <a:avLst/>
          </a:prstGeom>
        </p:spPr>
        <p:txBody>
          <a:bodyPr wrap="square" lIns="0" tIns="0" rIns="0" bIns="0">
            <a:spAutoFit/>
          </a:bodyPr>
          <a:lstStyle>
            <a:lvl1pPr>
              <a:defRPr sz="2400" b="1" i="0">
                <a:solidFill>
                  <a:schemeClr val="tx1"/>
                </a:solidFill>
                <a:latin typeface="Arial" panose="020B0604020202020204"/>
                <a:cs typeface="Arial" panose="020B060402020202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wmf"/><Relationship Id="rId1"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2.bin"/></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8.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9.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oleObject" Target="../embeddings/oleObject10.bin"/><Relationship Id="rId2" Type="http://schemas.openxmlformats.org/officeDocument/2006/relationships/image" Target="../media/image19.png"/><Relationship Id="rId1" Type="http://schemas.openxmlformats.org/officeDocument/2006/relationships/image" Target="../media/image18.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6552056" y="1411935"/>
            <a:ext cx="4130040" cy="3007995"/>
          </a:xfrm>
          <a:prstGeom prst="rect">
            <a:avLst/>
          </a:prstGeom>
        </p:spPr>
        <p:txBody>
          <a:bodyPr vert="horz" wrap="square" lIns="0" tIns="12700" rIns="0" bIns="0" rtlCol="0">
            <a:spAutoFit/>
          </a:bodyPr>
          <a:lstStyle/>
          <a:p>
            <a:pPr marL="12700" marR="5080">
              <a:lnSpc>
                <a:spcPts val="5840"/>
              </a:lnSpc>
              <a:spcBef>
                <a:spcPts val="405"/>
              </a:spcBef>
            </a:pPr>
            <a:r>
              <a:rPr lang="en-US" sz="5400" dirty="0">
                <a:solidFill>
                  <a:srgbClr val="252525"/>
                </a:solidFill>
              </a:rPr>
              <a:t>CSD2006</a:t>
            </a:r>
            <a:br>
              <a:rPr lang="en-US" sz="5400" dirty="0">
                <a:solidFill>
                  <a:srgbClr val="252525"/>
                </a:solidFill>
              </a:rPr>
            </a:br>
            <a:r>
              <a:rPr sz="5400" spc="-55" dirty="0">
                <a:solidFill>
                  <a:srgbClr val="252525"/>
                </a:solidFill>
              </a:rPr>
              <a:t>Introduction</a:t>
            </a:r>
            <a:r>
              <a:rPr sz="5400" spc="-245" dirty="0">
                <a:solidFill>
                  <a:srgbClr val="252525"/>
                </a:solidFill>
              </a:rPr>
              <a:t> </a:t>
            </a:r>
            <a:r>
              <a:rPr sz="5400" spc="-25" dirty="0">
                <a:solidFill>
                  <a:srgbClr val="252525"/>
                </a:solidFill>
              </a:rPr>
              <a:t>to </a:t>
            </a:r>
            <a:r>
              <a:rPr lang="en-US" sz="5400" b="1" spc="-10" dirty="0">
                <a:solidFill>
                  <a:srgbClr val="252525"/>
                </a:solidFill>
              </a:rPr>
              <a:t>Edge</a:t>
            </a:r>
            <a:r>
              <a:rPr sz="5400" b="1" spc="-290" dirty="0">
                <a:solidFill>
                  <a:srgbClr val="252525"/>
                </a:solidFill>
              </a:rPr>
              <a:t> </a:t>
            </a:r>
            <a:r>
              <a:rPr sz="5400" b="1" spc="-45" dirty="0">
                <a:solidFill>
                  <a:srgbClr val="252525"/>
                </a:solidFill>
              </a:rPr>
              <a:t>Computing</a:t>
            </a:r>
            <a:endParaRPr sz="5400" b="1"/>
          </a:p>
        </p:txBody>
      </p:sp>
      <p:pic>
        <p:nvPicPr>
          <p:cNvPr id="3" name="object 3"/>
          <p:cNvPicPr/>
          <p:nvPr/>
        </p:nvPicPr>
        <p:blipFill>
          <a:blip r:embed="rId1" cstate="print"/>
          <a:stretch>
            <a:fillRect/>
          </a:stretch>
        </p:blipFill>
        <p:spPr>
          <a:xfrm>
            <a:off x="0" y="0"/>
            <a:ext cx="6096000" cy="6857999"/>
          </a:xfrm>
          <a:prstGeom prst="rect">
            <a:avLst/>
          </a:prstGeom>
        </p:spPr>
      </p:pic>
      <p:sp>
        <p:nvSpPr>
          <p:cNvPr id="4" name="object 4"/>
          <p:cNvSpPr/>
          <p:nvPr/>
        </p:nvSpPr>
        <p:spPr>
          <a:xfrm>
            <a:off x="6806183" y="4294632"/>
            <a:ext cx="4389120" cy="0"/>
          </a:xfrm>
          <a:custGeom>
            <a:avLst/>
            <a:gdLst/>
            <a:ahLst/>
            <a:cxnLst/>
            <a:rect l="l" t="t" r="r" b="b"/>
            <a:pathLst>
              <a:path w="4389120">
                <a:moveTo>
                  <a:pt x="0" y="0"/>
                </a:moveTo>
                <a:lnTo>
                  <a:pt x="4389120" y="0"/>
                </a:lnTo>
              </a:path>
            </a:pathLst>
          </a:custGeom>
          <a:ln w="12192">
            <a:solidFill>
              <a:srgbClr val="404040"/>
            </a:solidFill>
          </a:ln>
        </p:spPr>
        <p:txBody>
          <a:bodyPr wrap="square" lIns="0" tIns="0" rIns="0" bIns="0" rtlCol="0"/>
          <a:lstStyle/>
          <a:p/>
        </p:txBody>
      </p:sp>
      <p:sp>
        <p:nvSpPr>
          <p:cNvPr id="5" name="object 5"/>
          <p:cNvSpPr txBox="1"/>
          <p:nvPr/>
        </p:nvSpPr>
        <p:spPr>
          <a:xfrm>
            <a:off x="6874002" y="4599203"/>
            <a:ext cx="2895600" cy="936625"/>
          </a:xfrm>
          <a:prstGeom prst="rect">
            <a:avLst/>
          </a:prstGeom>
        </p:spPr>
        <p:txBody>
          <a:bodyPr vert="horz" wrap="square" lIns="0" tIns="13335" rIns="0" bIns="0" rtlCol="0">
            <a:spAutoFit/>
          </a:bodyPr>
          <a:lstStyle/>
          <a:p>
            <a:pPr marL="12700">
              <a:lnSpc>
                <a:spcPct val="100000"/>
              </a:lnSpc>
              <a:spcBef>
                <a:spcPts val="105"/>
              </a:spcBef>
            </a:pPr>
            <a:r>
              <a:rPr sz="6000" spc="-20" dirty="0">
                <a:solidFill>
                  <a:srgbClr val="FF0000"/>
                </a:solidFill>
                <a:latin typeface="Calibri Light" panose="020F0302020204030204"/>
                <a:cs typeface="Calibri Light" panose="020F0302020204030204"/>
              </a:rPr>
              <a:t>Module</a:t>
            </a:r>
            <a:r>
              <a:rPr sz="6000" spc="-280" dirty="0">
                <a:solidFill>
                  <a:srgbClr val="FF0000"/>
                </a:solidFill>
                <a:latin typeface="Calibri Light" panose="020F0302020204030204"/>
                <a:cs typeface="Calibri Light" panose="020F0302020204030204"/>
              </a:rPr>
              <a:t> </a:t>
            </a:r>
            <a:r>
              <a:rPr sz="6000" spc="-25" dirty="0">
                <a:solidFill>
                  <a:srgbClr val="FF0000"/>
                </a:solidFill>
                <a:latin typeface="Calibri Light" panose="020F0302020204030204"/>
                <a:cs typeface="Calibri Light" panose="020F0302020204030204"/>
              </a:rPr>
              <a:t>I</a:t>
            </a:r>
            <a:endParaRPr sz="6000">
              <a:latin typeface="Calibri Light" panose="020F0302020204030204"/>
              <a:cs typeface="Calibri Light" panose="020F03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047" y="6400799"/>
            <a:ext cx="12189460" cy="457200"/>
          </a:xfrm>
          <a:custGeom>
            <a:avLst/>
            <a:gdLst/>
            <a:ahLst/>
            <a:cxnLst/>
            <a:rect l="l" t="t" r="r" b="b"/>
            <a:pathLst>
              <a:path w="12189460" h="457200">
                <a:moveTo>
                  <a:pt x="12188952" y="0"/>
                </a:moveTo>
                <a:lnTo>
                  <a:pt x="0" y="0"/>
                </a:lnTo>
                <a:lnTo>
                  <a:pt x="0" y="457199"/>
                </a:lnTo>
                <a:lnTo>
                  <a:pt x="12188952" y="457199"/>
                </a:lnTo>
                <a:lnTo>
                  <a:pt x="12188952" y="0"/>
                </a:lnTo>
                <a:close/>
              </a:path>
            </a:pathLst>
          </a:custGeom>
          <a:solidFill>
            <a:srgbClr val="252525"/>
          </a:solidFill>
        </p:spPr>
        <p:txBody>
          <a:bodyPr wrap="square" lIns="0" tIns="0" rIns="0" bIns="0" rtlCol="0"/>
          <a:lstStyle/>
          <a:p/>
        </p:txBody>
      </p:sp>
      <p:grpSp>
        <p:nvGrpSpPr>
          <p:cNvPr id="3" name="object 3"/>
          <p:cNvGrpSpPr/>
          <p:nvPr/>
        </p:nvGrpSpPr>
        <p:grpSpPr>
          <a:xfrm>
            <a:off x="0" y="0"/>
            <a:ext cx="11082655" cy="6858000"/>
            <a:chOff x="0" y="0"/>
            <a:chExt cx="11082655" cy="6858000"/>
          </a:xfrm>
        </p:grpSpPr>
        <p:sp>
          <p:nvSpPr>
            <p:cNvPr id="4" name="object 4"/>
            <p:cNvSpPr/>
            <p:nvPr/>
          </p:nvSpPr>
          <p:spPr>
            <a:xfrm>
              <a:off x="1207008" y="4474464"/>
              <a:ext cx="9875520" cy="0"/>
            </a:xfrm>
            <a:custGeom>
              <a:avLst/>
              <a:gdLst/>
              <a:ahLst/>
              <a:cxnLst/>
              <a:rect l="l" t="t" r="r" b="b"/>
              <a:pathLst>
                <a:path w="9875520">
                  <a:moveTo>
                    <a:pt x="0" y="0"/>
                  </a:moveTo>
                  <a:lnTo>
                    <a:pt x="9875520" y="0"/>
                  </a:lnTo>
                </a:path>
              </a:pathLst>
            </a:custGeom>
            <a:ln w="12192">
              <a:solidFill>
                <a:srgbClr val="404040"/>
              </a:solidFill>
            </a:ln>
          </p:spPr>
          <p:txBody>
            <a:bodyPr wrap="square" lIns="0" tIns="0" rIns="0" bIns="0" rtlCol="0"/>
            <a:lstStyle/>
            <a:p/>
          </p:txBody>
        </p:sp>
        <p:pic>
          <p:nvPicPr>
            <p:cNvPr id="5" name="object 5"/>
            <p:cNvPicPr/>
            <p:nvPr/>
          </p:nvPicPr>
          <p:blipFill>
            <a:blip r:embed="rId1" cstate="print"/>
            <a:stretch>
              <a:fillRect/>
            </a:stretch>
          </p:blipFill>
          <p:spPr>
            <a:xfrm>
              <a:off x="0" y="0"/>
              <a:ext cx="5593080" cy="6857999"/>
            </a:xfrm>
            <a:prstGeom prst="rect">
              <a:avLst/>
            </a:prstGeom>
          </p:spPr>
        </p:pic>
      </p:grpSp>
      <p:sp>
        <p:nvSpPr>
          <p:cNvPr id="6" name="object 6"/>
          <p:cNvSpPr txBox="1">
            <a:spLocks noGrp="1"/>
          </p:cNvSpPr>
          <p:nvPr>
            <p:ph type="title"/>
          </p:nvPr>
        </p:nvSpPr>
        <p:spPr>
          <a:xfrm>
            <a:off x="6279007" y="1381455"/>
            <a:ext cx="4126229" cy="935990"/>
          </a:xfrm>
          <a:prstGeom prst="rect">
            <a:avLst/>
          </a:prstGeom>
        </p:spPr>
        <p:txBody>
          <a:bodyPr vert="horz" wrap="square" lIns="0" tIns="12700" rIns="0" bIns="0" rtlCol="0">
            <a:spAutoFit/>
          </a:bodyPr>
          <a:lstStyle/>
          <a:p>
            <a:pPr marL="12700">
              <a:lnSpc>
                <a:spcPct val="100000"/>
              </a:lnSpc>
              <a:spcBef>
                <a:spcPts val="100"/>
              </a:spcBef>
            </a:pPr>
            <a:r>
              <a:rPr sz="6000" spc="-20" dirty="0">
                <a:solidFill>
                  <a:srgbClr val="252525"/>
                </a:solidFill>
              </a:rPr>
              <a:t>Module</a:t>
            </a:r>
            <a:r>
              <a:rPr sz="6000" spc="-235" dirty="0">
                <a:solidFill>
                  <a:srgbClr val="252525"/>
                </a:solidFill>
              </a:rPr>
              <a:t> </a:t>
            </a:r>
            <a:r>
              <a:rPr sz="6000" dirty="0">
                <a:solidFill>
                  <a:srgbClr val="252525"/>
                </a:solidFill>
              </a:rPr>
              <a:t>I</a:t>
            </a:r>
            <a:r>
              <a:rPr sz="6000" spc="-195" dirty="0">
                <a:solidFill>
                  <a:srgbClr val="252525"/>
                </a:solidFill>
              </a:rPr>
              <a:t> </a:t>
            </a:r>
            <a:r>
              <a:rPr sz="6000" spc="-25" dirty="0">
                <a:solidFill>
                  <a:srgbClr val="252525"/>
                </a:solidFill>
              </a:rPr>
              <a:t>–L1</a:t>
            </a:r>
            <a:endParaRPr sz="6000"/>
          </a:p>
        </p:txBody>
      </p:sp>
      <p:sp>
        <p:nvSpPr>
          <p:cNvPr id="7" name="object 7"/>
          <p:cNvSpPr txBox="1"/>
          <p:nvPr/>
        </p:nvSpPr>
        <p:spPr>
          <a:xfrm>
            <a:off x="5672455" y="2642235"/>
            <a:ext cx="6435090" cy="2080895"/>
          </a:xfrm>
          <a:prstGeom prst="rect">
            <a:avLst/>
          </a:prstGeom>
        </p:spPr>
        <p:txBody>
          <a:bodyPr vert="horz" wrap="square" lIns="0" tIns="12065" rIns="0" bIns="0" rtlCol="0">
            <a:spAutoFit/>
          </a:bodyPr>
          <a:lstStyle/>
          <a:p>
            <a:pPr marL="0" indent="0">
              <a:buNone/>
            </a:pPr>
            <a:r>
              <a:rPr lang="en-US" sz="1900" b="1">
                <a:sym typeface="+mn-ea"/>
              </a:rPr>
              <a:t>After going through this topic student should be able to</a:t>
            </a:r>
            <a:endParaRPr lang="en-US" sz="1900" b="1">
              <a:sym typeface="+mn-ea"/>
            </a:endParaRPr>
          </a:p>
          <a:p>
            <a:pPr marL="0" indent="0">
              <a:buNone/>
            </a:pPr>
            <a:endParaRPr lang="en-US" sz="1900" b="1"/>
          </a:p>
          <a:p>
            <a:pPr marL="12700">
              <a:lnSpc>
                <a:spcPts val="2220"/>
              </a:lnSpc>
              <a:spcBef>
                <a:spcPts val="95"/>
              </a:spcBef>
              <a:tabLst>
                <a:tab pos="2570480" algn="l"/>
                <a:tab pos="3921125" algn="l"/>
              </a:tabLst>
            </a:pPr>
            <a:r>
              <a:rPr lang="en-US" sz="1900">
                <a:sym typeface="+mn-ea"/>
              </a:rPr>
              <a:t>CO1:</a:t>
            </a:r>
            <a:r>
              <a:rPr lang="en-US" altLang="en-US" sz="1900">
                <a:sym typeface="+mn-ea"/>
              </a:rPr>
              <a:t>Define Edge Computing</a:t>
            </a:r>
            <a:endParaRPr lang="en-US" altLang="en-US" sz="1900"/>
          </a:p>
          <a:p>
            <a:pPr marL="12700">
              <a:lnSpc>
                <a:spcPts val="2220"/>
              </a:lnSpc>
              <a:spcBef>
                <a:spcPts val="95"/>
              </a:spcBef>
              <a:tabLst>
                <a:tab pos="2570480" algn="l"/>
                <a:tab pos="3921125" algn="l"/>
              </a:tabLst>
            </a:pPr>
            <a:r>
              <a:rPr lang="en-US" altLang="en-US" sz="1900">
                <a:sym typeface="+mn-ea"/>
              </a:rPr>
              <a:t>CO2:</a:t>
            </a:r>
            <a:r>
              <a:rPr lang="en-US" sz="1900" dirty="0">
                <a:latin typeface="Times New Roman" panose="02020603050405020304" charset="0"/>
                <a:cs typeface="Times New Roman" panose="02020603050405020304" charset="0"/>
                <a:sym typeface="+mn-ea"/>
              </a:rPr>
              <a:t>Why Edge Computing is Needed</a:t>
            </a:r>
            <a:endParaRPr lang="en-US" sz="1900" dirty="0">
              <a:latin typeface="Times New Roman" panose="02020603050405020304" charset="0"/>
              <a:cs typeface="Times New Roman" panose="02020603050405020304" charset="0"/>
              <a:sym typeface="+mn-ea"/>
            </a:endParaRPr>
          </a:p>
          <a:p>
            <a:pPr marL="12700">
              <a:lnSpc>
                <a:spcPts val="2220"/>
              </a:lnSpc>
              <a:spcBef>
                <a:spcPts val="95"/>
              </a:spcBef>
              <a:tabLst>
                <a:tab pos="2570480" algn="l"/>
                <a:tab pos="3921125" algn="l"/>
              </a:tabLst>
            </a:pPr>
            <a:r>
              <a:rPr lang="en-US" altLang="en-US" sz="1900">
                <a:sym typeface="+mn-ea"/>
              </a:rPr>
              <a:t>CO3:What is meant by Edge AI?</a:t>
            </a:r>
            <a:endParaRPr lang="en-US" altLang="en-US" sz="1900"/>
          </a:p>
          <a:p>
            <a:pPr marL="12700">
              <a:lnSpc>
                <a:spcPts val="2220"/>
              </a:lnSpc>
              <a:spcBef>
                <a:spcPts val="95"/>
              </a:spcBef>
              <a:tabLst>
                <a:tab pos="2570480" algn="l"/>
                <a:tab pos="3921125" algn="l"/>
              </a:tabLst>
            </a:pPr>
            <a:r>
              <a:rPr lang="en-US" altLang="en-US" sz="1900">
                <a:sym typeface="+mn-ea"/>
              </a:rPr>
              <a:t>CO4:why Edge AI is a cutting-edge technology</a:t>
            </a:r>
            <a:endParaRPr lang="en-US" altLang="en-US" sz="1900"/>
          </a:p>
          <a:p>
            <a:pPr marL="12700">
              <a:lnSpc>
                <a:spcPts val="2220"/>
              </a:lnSpc>
              <a:spcBef>
                <a:spcPts val="95"/>
              </a:spcBef>
              <a:tabLst>
                <a:tab pos="2570480" algn="l"/>
                <a:tab pos="3921125" algn="l"/>
              </a:tabLst>
            </a:pPr>
            <a:endParaRPr sz="1900">
              <a:latin typeface="Trebuchet MS" panose="020B0603020202020204"/>
              <a:cs typeface="Trebuchet MS" panose="020B0603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558927" rIns="0" bIns="0" rtlCol="0">
            <a:spAutoFit/>
          </a:bodyPr>
          <a:lstStyle/>
          <a:p>
            <a:pPr marL="297815">
              <a:lnSpc>
                <a:spcPct val="100000"/>
              </a:lnSpc>
              <a:spcBef>
                <a:spcPts val="110"/>
              </a:spcBef>
            </a:pPr>
            <a:r>
              <a:rPr spc="-55" dirty="0"/>
              <a:t>Introduction</a:t>
            </a:r>
            <a:endParaRPr spc="-55" dirty="0"/>
          </a:p>
        </p:txBody>
      </p:sp>
      <p:sp>
        <p:nvSpPr>
          <p:cNvPr id="4" name="object 4"/>
          <p:cNvSpPr txBox="1"/>
          <p:nvPr/>
        </p:nvSpPr>
        <p:spPr>
          <a:xfrm>
            <a:off x="76200" y="1981200"/>
            <a:ext cx="11866880" cy="3905250"/>
          </a:xfrm>
          <a:prstGeom prst="rect">
            <a:avLst/>
          </a:prstGeom>
        </p:spPr>
        <p:txBody>
          <a:bodyPr vert="horz" wrap="square" lIns="0" tIns="13335" rIns="0" bIns="0" rtlCol="0">
            <a:noAutofit/>
          </a:bodyPr>
          <a:lstStyle/>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r>
              <a:rPr lang="en-US" sz="2400" b="1" dirty="0">
                <a:latin typeface="Times New Roman" panose="02020603050405020304" charset="0"/>
                <a:cs typeface="Times New Roman" panose="02020603050405020304" charset="0"/>
                <a:sym typeface="+mn-ea"/>
              </a:rPr>
              <a:t>Edge Computing</a:t>
            </a:r>
            <a:r>
              <a:rPr lang="en-US" sz="2400" dirty="0">
                <a:latin typeface="Times New Roman" panose="02020603050405020304" charset="0"/>
                <a:cs typeface="Times New Roman" panose="02020603050405020304" charset="0"/>
                <a:sym typeface="+mn-ea"/>
              </a:rPr>
              <a:t> is a modern computing paradigm that brings </a:t>
            </a:r>
            <a:r>
              <a:rPr lang="en-US" sz="2400" b="1" dirty="0">
                <a:latin typeface="Times New Roman" panose="02020603050405020304" charset="0"/>
                <a:cs typeface="Times New Roman" panose="02020603050405020304" charset="0"/>
                <a:sym typeface="+mn-ea"/>
              </a:rPr>
              <a:t>data processing and computation closer to the data source </a:t>
            </a:r>
            <a:r>
              <a:rPr lang="en-US" sz="2400" dirty="0">
                <a:latin typeface="Times New Roman" panose="02020603050405020304" charset="0"/>
                <a:cs typeface="Times New Roman" panose="02020603050405020304" charset="0"/>
                <a:sym typeface="+mn-ea"/>
              </a:rPr>
              <a:t>such as IoT devices, sensors, and gateways—instead of  centralized cloud.</a:t>
            </a:r>
            <a:endParaRPr lang="en-US" sz="2400" dirty="0">
              <a:latin typeface="Times New Roman" panose="02020603050405020304" charset="0"/>
              <a:cs typeface="Times New Roman" panose="02020603050405020304" charset="0"/>
              <a:sym typeface="+mn-ea"/>
            </a:endParaRPr>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endParaRPr lang="en-US" sz="2400" dirty="0">
              <a:latin typeface="Times New Roman" panose="02020603050405020304" charset="0"/>
              <a:cs typeface="Times New Roman" panose="02020603050405020304" charset="0"/>
            </a:endParaRPr>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r>
              <a:rPr lang="en-US" sz="2400" dirty="0">
                <a:latin typeface="Times New Roman" panose="02020603050405020304" charset="0"/>
                <a:cs typeface="Times New Roman" panose="02020603050405020304" charset="0"/>
                <a:sym typeface="+mn-ea"/>
              </a:rPr>
              <a:t>The “</a:t>
            </a:r>
            <a:r>
              <a:rPr lang="en-US" sz="2400" b="1" dirty="0">
                <a:latin typeface="Times New Roman" panose="02020603050405020304" charset="0"/>
                <a:cs typeface="Times New Roman" panose="02020603050405020304" charset="0"/>
                <a:sym typeface="+mn-ea"/>
              </a:rPr>
              <a:t>edge</a:t>
            </a:r>
            <a:r>
              <a:rPr lang="en-US" sz="2400" dirty="0">
                <a:latin typeface="Times New Roman" panose="02020603050405020304" charset="0"/>
                <a:cs typeface="Times New Roman" panose="02020603050405020304" charset="0"/>
                <a:sym typeface="+mn-ea"/>
              </a:rPr>
              <a:t>” refers to the </a:t>
            </a:r>
            <a:r>
              <a:rPr lang="en-US" sz="2400" b="1" dirty="0">
                <a:latin typeface="Times New Roman" panose="02020603050405020304" charset="0"/>
                <a:cs typeface="Times New Roman" panose="02020603050405020304" charset="0"/>
                <a:sym typeface="+mn-ea"/>
              </a:rPr>
              <a:t>edge of the network</a:t>
            </a:r>
            <a:r>
              <a:rPr lang="en-US" sz="2400" dirty="0">
                <a:latin typeface="Times New Roman" panose="02020603050405020304" charset="0"/>
                <a:cs typeface="Times New Roman" panose="02020603050405020304" charset="0"/>
                <a:sym typeface="+mn-ea"/>
              </a:rPr>
              <a:t>, where the data is generated by processing data locally, Edge Computing reduces the </a:t>
            </a:r>
            <a:r>
              <a:rPr lang="en-US" sz="2400" b="1" dirty="0">
                <a:solidFill>
                  <a:srgbClr val="FF0000"/>
                </a:solidFill>
                <a:latin typeface="Times New Roman" panose="02020603050405020304" charset="0"/>
                <a:cs typeface="Times New Roman" panose="02020603050405020304" charset="0"/>
                <a:sym typeface="+mn-ea"/>
              </a:rPr>
              <a:t>time and bandwidth</a:t>
            </a:r>
            <a:r>
              <a:rPr lang="en-US" sz="2400" dirty="0">
                <a:latin typeface="Times New Roman" panose="02020603050405020304" charset="0"/>
                <a:cs typeface="Times New Roman" panose="02020603050405020304" charset="0"/>
                <a:sym typeface="+mn-ea"/>
              </a:rPr>
              <a:t> needed to send data to distant </a:t>
            </a:r>
            <a:r>
              <a:rPr lang="en-US" sz="2400" b="1" dirty="0">
                <a:solidFill>
                  <a:srgbClr val="FF0000"/>
                </a:solidFill>
                <a:latin typeface="Times New Roman" panose="02020603050405020304" charset="0"/>
                <a:cs typeface="Times New Roman" panose="02020603050405020304" charset="0"/>
                <a:sym typeface="+mn-ea"/>
              </a:rPr>
              <a:t>cloud servers</a:t>
            </a:r>
            <a:r>
              <a:rPr lang="en-US" sz="2400" dirty="0">
                <a:latin typeface="Times New Roman" panose="02020603050405020304" charset="0"/>
                <a:cs typeface="Times New Roman" panose="02020603050405020304" charset="0"/>
                <a:sym typeface="+mn-ea"/>
              </a:rPr>
              <a:t>.</a:t>
            </a:r>
            <a:endParaRPr lang="en-US" sz="2400" dirty="0">
              <a:latin typeface="Times New Roman" panose="02020603050405020304" charset="0"/>
              <a:cs typeface="Times New Roman" panose="02020603050405020304" charset="0"/>
              <a:sym typeface="+mn-ea"/>
            </a:endParaRPr>
          </a:p>
          <a:p>
            <a:pPr marL="342900" indent="-342900" algn="just">
              <a:buFont typeface="Wingdings" panose="05000000000000000000" charset="0"/>
              <a:buChar char="v"/>
            </a:pPr>
            <a:r>
              <a:rPr lang="en-US" sz="2400" dirty="0">
                <a:latin typeface="Times New Roman" panose="02020603050405020304" charset="0"/>
                <a:cs typeface="Times New Roman" panose="02020603050405020304" charset="0"/>
                <a:sym typeface="+mn-ea"/>
              </a:rPr>
              <a:t>Processes  the data directly on the nearby device.Enhances </a:t>
            </a:r>
            <a:r>
              <a:rPr lang="en-US" sz="2400" b="1" dirty="0">
                <a:latin typeface="Times New Roman" panose="02020603050405020304" charset="0"/>
                <a:cs typeface="Times New Roman" panose="02020603050405020304" charset="0"/>
                <a:sym typeface="+mn-ea"/>
              </a:rPr>
              <a:t>speed, reliability, and privacy</a:t>
            </a:r>
            <a:r>
              <a:rPr lang="en-US" sz="2400" dirty="0">
                <a:latin typeface="Times New Roman" panose="02020603050405020304" charset="0"/>
                <a:cs typeface="Times New Roman" panose="02020603050405020304" charset="0"/>
                <a:sym typeface="+mn-ea"/>
              </a:rPr>
              <a:t>.</a:t>
            </a:r>
            <a:endParaRPr lang="en-US" sz="2400" dirty="0">
              <a:latin typeface="Times New Roman" panose="02020603050405020304" charset="0"/>
              <a:cs typeface="Times New Roman" panose="02020603050405020304" charset="0"/>
            </a:endParaRPr>
          </a:p>
          <a:p>
            <a:pPr marL="0" indent="0" algn="just">
              <a:buFont typeface="Wingdings" panose="05000000000000000000" charset="0"/>
              <a:buNone/>
            </a:pPr>
            <a:r>
              <a:rPr lang="en-US" sz="2400" dirty="0">
                <a:latin typeface="Times New Roman" panose="02020603050405020304" charset="0"/>
                <a:cs typeface="Times New Roman" panose="02020603050405020304" charset="0"/>
                <a:sym typeface="+mn-ea"/>
              </a:rPr>
              <a:t>     Example: A </a:t>
            </a:r>
            <a:r>
              <a:rPr lang="en-US" sz="2400" b="1" dirty="0">
                <a:solidFill>
                  <a:srgbClr val="FF0000"/>
                </a:solidFill>
                <a:latin typeface="Times New Roman" panose="02020603050405020304" charset="0"/>
                <a:cs typeface="Times New Roman" panose="02020603050405020304" charset="0"/>
                <a:sym typeface="+mn-ea"/>
              </a:rPr>
              <a:t>smart camera</a:t>
            </a:r>
            <a:r>
              <a:rPr lang="en-US" sz="2400" dirty="0">
                <a:latin typeface="Times New Roman" panose="02020603050405020304" charset="0"/>
                <a:cs typeface="Times New Roman" panose="02020603050405020304" charset="0"/>
                <a:sym typeface="+mn-ea"/>
              </a:rPr>
              <a:t> detecting motion and alerting </a:t>
            </a:r>
            <a:r>
              <a:rPr lang="en-US" sz="2400" dirty="0">
                <a:solidFill>
                  <a:srgbClr val="FF0000"/>
                </a:solidFill>
                <a:latin typeface="Times New Roman" panose="02020603050405020304" charset="0"/>
                <a:cs typeface="Times New Roman" panose="02020603050405020304" charset="0"/>
                <a:sym typeface="+mn-ea"/>
              </a:rPr>
              <a:t>without uploading video to the cloud</a:t>
            </a:r>
            <a:endParaRPr lang="en-US" sz="2400"/>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endParaRPr lang="en-US" sz="2400" dirty="0">
              <a:latin typeface="Times New Roman" panose="02020603050405020304" charset="0"/>
              <a:cs typeface="Times New Roman" panose="02020603050405020304" charset="0"/>
              <a:sym typeface="+mn-ea"/>
            </a:endParaRPr>
          </a:p>
          <a:p>
            <a:pPr marL="372110" indent="-359410" algn="just">
              <a:lnSpc>
                <a:spcPct val="100000"/>
              </a:lnSpc>
              <a:spcBef>
                <a:spcPts val="105"/>
              </a:spcBef>
              <a:buClr>
                <a:srgbClr val="E88A33"/>
              </a:buClr>
              <a:buFont typeface="Wingdings" panose="05000000000000000000"/>
              <a:buChar char=""/>
              <a:tabLst>
                <a:tab pos="372110" algn="l"/>
                <a:tab pos="1094740" algn="l"/>
                <a:tab pos="2902585" algn="l"/>
                <a:tab pos="4122420" algn="l"/>
                <a:tab pos="5311140" algn="l"/>
                <a:tab pos="5795645" algn="l"/>
                <a:tab pos="6497320" algn="l"/>
                <a:tab pos="7633970" algn="l"/>
              </a:tabLst>
            </a:pPr>
            <a:endParaRPr sz="2400">
              <a:latin typeface="Segoe UI" panose="020B0502040204020203"/>
              <a:cs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727" y="393649"/>
            <a:ext cx="10410545" cy="707390"/>
          </a:xfrm>
        </p:spPr>
        <p:txBody>
          <a:bodyPr/>
          <a:lstStyle/>
          <a:p>
            <a:r>
              <a:rPr lang="en-US" dirty="0">
                <a:latin typeface="Times New Roman" panose="02020603050405020304" charset="0"/>
                <a:cs typeface="Times New Roman" panose="02020603050405020304" charset="0"/>
              </a:rPr>
              <a:t>Why Edge Computing is Needed</a:t>
            </a:r>
            <a:endParaRPr lang="en-IN"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981200"/>
            <a:ext cx="10629900" cy="4062730"/>
          </a:xfrm>
        </p:spPr>
        <p:txBody>
          <a:bodyPr wrap="square"/>
          <a:lstStyle/>
          <a:p>
            <a:r>
              <a:rPr lang="en-US" sz="2400" dirty="0">
                <a:latin typeface="Times New Roman" panose="02020603050405020304" charset="0"/>
                <a:cs typeface="Times New Roman" panose="02020603050405020304" charset="0"/>
              </a:rPr>
              <a:t>Traditional </a:t>
            </a:r>
            <a:r>
              <a:rPr lang="en-US" sz="2400" b="1" dirty="0">
                <a:latin typeface="Times New Roman" panose="02020603050405020304" charset="0"/>
                <a:cs typeface="Times New Roman" panose="02020603050405020304" charset="0"/>
              </a:rPr>
              <a:t>Cloud Computing</a:t>
            </a:r>
            <a:r>
              <a:rPr lang="en-US" sz="2400" b="0" dirty="0">
                <a:latin typeface="Times New Roman" panose="02020603050405020304" charset="0"/>
                <a:cs typeface="Times New Roman" panose="02020603050405020304" charset="0"/>
              </a:rPr>
              <a:t> involves sending all data from IoT devices to remote data centers for processing However, this causes:</a:t>
            </a:r>
            <a:endParaRPr lang="en-US" sz="2400" dirty="0">
              <a:latin typeface="Times New Roman" panose="02020603050405020304" charset="0"/>
              <a:cs typeface="Times New Roman" panose="02020603050405020304" charset="0"/>
            </a:endParaRPr>
          </a:p>
          <a:p>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High latency (delay)</a:t>
            </a:r>
            <a:r>
              <a:rPr lang="en-US" sz="2400" dirty="0">
                <a:latin typeface="Times New Roman" panose="02020603050405020304" charset="0"/>
                <a:cs typeface="Times New Roman" panose="02020603050405020304" charset="0"/>
              </a:rPr>
              <a:t> </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dirty="0">
                <a:latin typeface="Times New Roman" panose="02020603050405020304" charset="0"/>
                <a:cs typeface="Times New Roman" panose="02020603050405020304" charset="0"/>
              </a:rPr>
              <a:t>due to long-distance data travel</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Network congestion</a:t>
            </a:r>
            <a:r>
              <a:rPr lang="en-US" sz="2400" dirty="0">
                <a:latin typeface="Times New Roman" panose="02020603050405020304" charset="0"/>
                <a:cs typeface="Times New Roman" panose="02020603050405020304" charset="0"/>
              </a:rPr>
              <a:t> from large data transfers</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Security concerns</a:t>
            </a:r>
            <a:r>
              <a:rPr lang="en-US" sz="2400" dirty="0">
                <a:latin typeface="Times New Roman" panose="02020603050405020304" charset="0"/>
                <a:cs typeface="Times New Roman" panose="02020603050405020304" charset="0"/>
              </a:rPr>
              <a:t> while transmitting sensitive data</a:t>
            </a:r>
            <a:endParaRPr lang="en-US" sz="2400" dirty="0">
              <a:latin typeface="Times New Roman" panose="02020603050405020304" charset="0"/>
              <a:cs typeface="Times New Roman" panose="02020603050405020304" charset="0"/>
            </a:endParaRPr>
          </a:p>
          <a:p>
            <a:pPr indent="0">
              <a:buFont typeface="Wingdings" panose="05000000000000000000" charset="0"/>
              <a:buNone/>
            </a:pPr>
            <a:endParaRPr lang="en-US" sz="2400" dirty="0">
              <a:latin typeface="Times New Roman" panose="02020603050405020304" charset="0"/>
              <a:cs typeface="Times New Roman" panose="02020603050405020304" charset="0"/>
            </a:endParaRPr>
          </a:p>
          <a:p>
            <a:r>
              <a:rPr lang="en-US" sz="2400" dirty="0">
                <a:latin typeface="Times New Roman" panose="02020603050405020304" charset="0"/>
                <a:cs typeface="Times New Roman" panose="02020603050405020304" charset="0"/>
              </a:rPr>
              <a:t>To overcome these limitations, </a:t>
            </a:r>
            <a:r>
              <a:rPr lang="en-US" sz="2400" dirty="0">
                <a:solidFill>
                  <a:srgbClr val="FF0000"/>
                </a:solidFill>
                <a:latin typeface="Times New Roman" panose="02020603050405020304" charset="0"/>
                <a:cs typeface="Times New Roman" panose="02020603050405020304" charset="0"/>
              </a:rPr>
              <a:t>Edge Computing processes data locally  or near the  data source.</a:t>
            </a:r>
            <a:endParaRPr lang="en-US" sz="2400" dirty="0">
              <a:solidFill>
                <a:srgbClr val="FF0000"/>
              </a:solidFill>
              <a:latin typeface="Times New Roman" panose="02020603050405020304" charset="0"/>
              <a:cs typeface="Times New Roman" panose="02020603050405020304" charset="0"/>
            </a:endParaRPr>
          </a:p>
          <a:p>
            <a:endParaRPr lang="en-US" sz="2400" dirty="0">
              <a:solidFill>
                <a:srgbClr val="FF0000"/>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838200"/>
            <a:ext cx="6447501" cy="609600"/>
          </a:xfrm>
        </p:spPr>
        <p:txBody>
          <a:bodyPr>
            <a:normAutofit fontScale="90000"/>
          </a:bodyPr>
          <a:lstStyle/>
          <a:p>
            <a:r>
              <a:rPr lang="en-IN" dirty="0">
                <a:latin typeface="Times New Roman" panose="02020603050405020304" charset="0"/>
                <a:cs typeface="Times New Roman" panose="02020603050405020304" charset="0"/>
              </a:rPr>
              <a:t>Working Principle</a:t>
            </a:r>
            <a:endParaRPr lang="en-IN"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76200" y="1905000"/>
            <a:ext cx="11770360" cy="4495800"/>
          </a:xfrm>
        </p:spPr>
        <p:txBody>
          <a:bodyPr>
            <a:normAutofit/>
          </a:bodyPr>
          <a:lstStyle/>
          <a:p>
            <a:r>
              <a:rPr lang="en-US" sz="2400" dirty="0">
                <a:latin typeface="Times New Roman" panose="02020603050405020304" charset="0"/>
                <a:cs typeface="Times New Roman" panose="02020603050405020304" charset="0"/>
              </a:rPr>
              <a:t>The working of Edge Computing involves three main stages:</a:t>
            </a:r>
            <a:endParaRPr lang="en-US" sz="2400" dirty="0">
              <a:latin typeface="Times New Roman" panose="02020603050405020304" charset="0"/>
              <a:cs typeface="Times New Roman" panose="02020603050405020304" charset="0"/>
            </a:endParaRPr>
          </a:p>
          <a:p>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Data Generation:</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IoT devices (e.g., sensors, cameras, smart meters) generate data continuously.</a:t>
            </a:r>
            <a:endParaRPr lang="en-US" sz="2400" b="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Local Processing (Edge Nodes):</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Small computing devices (like routers, gateways, or micro servers) near the data source process and analyze data in real time.</a:t>
            </a:r>
            <a:endParaRPr lang="en-US" sz="2400" b="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Cloud Interaction (Optional):</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Only selected or summarized data is sent to the cloud for further storage, analysis, or long-term decision-making.</a:t>
            </a:r>
            <a:endParaRPr lang="en-US" sz="2400" dirty="0">
              <a:latin typeface="Times New Roman" panose="02020603050405020304" charset="0"/>
              <a:cs typeface="Times New Roman" panose="02020603050405020304" charset="0"/>
            </a:endParaRPr>
          </a:p>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685749"/>
            <a:ext cx="10410545" cy="707390"/>
          </a:xfrm>
        </p:spPr>
        <p:txBody>
          <a:bodyPr/>
          <a:p>
            <a:r>
              <a:rPr lang="en-US" altLang="en-US" b="1">
                <a:sym typeface="+mn-ea"/>
              </a:rPr>
              <a:t>OVERVIEW OF EDGE AI</a:t>
            </a:r>
            <a:endParaRPr lang="en-US" b="1"/>
          </a:p>
        </p:txBody>
      </p:sp>
      <p:sp>
        <p:nvSpPr>
          <p:cNvPr id="3" name="Content Placeholder 2"/>
          <p:cNvSpPr>
            <a:spLocks noGrp="1"/>
          </p:cNvSpPr>
          <p:nvPr>
            <p:ph idx="1"/>
          </p:nvPr>
        </p:nvSpPr>
        <p:spPr>
          <a:xfrm>
            <a:off x="152400" y="1981200"/>
            <a:ext cx="11753850" cy="3693160"/>
          </a:xfrm>
        </p:spPr>
        <p:txBody>
          <a:bodyPr wrap="square"/>
          <a:p>
            <a:pPr marL="285750" indent="-285750">
              <a:buFont typeface="Wingdings" panose="05000000000000000000" charset="0"/>
              <a:buChar char="v"/>
            </a:pPr>
            <a:r>
              <a:rPr lang="en-US" altLang="en-US" sz="1600"/>
              <a:t> </a:t>
            </a:r>
            <a:r>
              <a:rPr lang="en-US" altLang="en-US" sz="1600" b="1"/>
              <a:t> </a:t>
            </a:r>
            <a:r>
              <a:rPr lang="en-US" altLang="en-US" b="1"/>
              <a:t>Edge Computing Concept:</a:t>
            </a:r>
            <a:endParaRPr lang="en-US" altLang="en-US"/>
          </a:p>
          <a:p>
            <a:pPr algn="just"/>
            <a:r>
              <a:rPr lang="en-US" altLang="en-US" b="0"/>
              <a:t>Moves data processing from centralized cloud data centers to servers closer to end users.Aims to improve </a:t>
            </a:r>
            <a:r>
              <a:rPr lang="en-US" altLang="en-US"/>
              <a:t>quality of experience (QoE)</a:t>
            </a:r>
            <a:r>
              <a:rPr lang="en-US" altLang="en-US" b="0"/>
              <a:t> for users of mobile and fixed Internet-connected devices.Especially important for </a:t>
            </a:r>
            <a:r>
              <a:rPr lang="en-US" altLang="en-US" b="0">
                <a:solidFill>
                  <a:srgbClr val="FF0000"/>
                </a:solidFill>
              </a:rPr>
              <a:t>wireless networks and latency-sensitive applications.</a:t>
            </a:r>
            <a:endParaRPr lang="en-US" altLang="en-US" b="0">
              <a:solidFill>
                <a:srgbClr val="FF0000"/>
              </a:solidFill>
            </a:endParaRPr>
          </a:p>
          <a:p>
            <a:pPr algn="just"/>
            <a:endParaRPr lang="en-US" altLang="en-US" b="0"/>
          </a:p>
          <a:p>
            <a:pPr marL="342900" indent="-342900" algn="just">
              <a:buFont typeface="Wingdings" panose="05000000000000000000" charset="0"/>
              <a:buChar char="v"/>
            </a:pPr>
            <a:r>
              <a:rPr lang="en-US" altLang="en-US"/>
              <a:t>Edge AI:</a:t>
            </a:r>
            <a:r>
              <a:rPr lang="en-US" altLang="en-US" b="0"/>
              <a:t> is a computing paradigm in which</a:t>
            </a:r>
            <a:r>
              <a:rPr lang="en-US" altLang="en-US" b="0">
                <a:solidFill>
                  <a:srgbClr val="FF0000"/>
                </a:solidFill>
              </a:rPr>
              <a:t> artificial intelligence models</a:t>
            </a:r>
            <a:r>
              <a:rPr lang="en-US" altLang="en-US" b="0"/>
              <a:t> and algorithms are deployed and </a:t>
            </a:r>
            <a:r>
              <a:rPr lang="en-US" altLang="en-US" b="0">
                <a:solidFill>
                  <a:srgbClr val="FF0000"/>
                </a:solidFill>
              </a:rPr>
              <a:t>executed directly on edge devices or edge nodes</a:t>
            </a:r>
            <a:endParaRPr lang="en-US" altLang="en-US" b="0"/>
          </a:p>
          <a:p>
            <a:pPr marL="342900" indent="-342900">
              <a:buFont typeface="Wingdings" panose="05000000000000000000" charset="0"/>
              <a:buChar char="v"/>
            </a:pPr>
            <a:endParaRPr lang="en-US" altLang="en-US"/>
          </a:p>
          <a:p>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761949"/>
            <a:ext cx="10410545" cy="707390"/>
          </a:xfrm>
        </p:spPr>
        <p:txBody>
          <a:bodyPr/>
          <a:p>
            <a:r>
              <a:rPr lang="en-US" altLang="en-US" b="1">
                <a:sym typeface="+mn-ea"/>
              </a:rPr>
              <a:t>OVERVIEW OF EDGE AI</a:t>
            </a:r>
            <a:endParaRPr lang="en-US" b="1"/>
          </a:p>
        </p:txBody>
      </p:sp>
      <p:sp>
        <p:nvSpPr>
          <p:cNvPr id="3" name="Text Placeholder 2"/>
          <p:cNvSpPr>
            <a:spLocks noGrp="1"/>
          </p:cNvSpPr>
          <p:nvPr>
            <p:ph type="body" idx="1"/>
          </p:nvPr>
        </p:nvSpPr>
        <p:spPr>
          <a:xfrm>
            <a:off x="144780" y="2023110"/>
            <a:ext cx="11722100" cy="4344670"/>
          </a:xfrm>
        </p:spPr>
        <p:txBody>
          <a:bodyPr wrap="square">
            <a:noAutofit/>
          </a:bodyPr>
          <a:p>
            <a:pPr marL="342900" indent="-342900" algn="just">
              <a:buFont typeface="Wingdings" panose="05000000000000000000" charset="0"/>
              <a:buChar char="v"/>
            </a:pPr>
            <a:r>
              <a:rPr lang="en-US" altLang="en-US">
                <a:sym typeface="+mn-ea"/>
              </a:rPr>
              <a:t>Edge Ai</a:t>
            </a:r>
            <a:r>
              <a:rPr lang="en-US" altLang="en-US" b="0">
                <a:sym typeface="+mn-ea"/>
              </a:rPr>
              <a:t>: Edge AI refers to deploying artificial intelligence algorithms directly on edge devices such as </a:t>
            </a:r>
            <a:r>
              <a:rPr lang="en-US" altLang="en-US">
                <a:solidFill>
                  <a:srgbClr val="FF0000"/>
                </a:solidFill>
                <a:sym typeface="+mn-ea"/>
              </a:rPr>
              <a:t>sensors, mobile devices, and IoT nodes instead  cloud servers.</a:t>
            </a:r>
            <a:endParaRPr lang="en-US" altLang="en-US">
              <a:solidFill>
                <a:srgbClr val="FF0000"/>
              </a:solidFill>
              <a:sym typeface="+mn-ea"/>
            </a:endParaRPr>
          </a:p>
          <a:p>
            <a:pPr marL="342900" indent="-342900" algn="just">
              <a:buFont typeface="Wingdings" panose="05000000000000000000" charset="0"/>
              <a:buChar char="v"/>
            </a:pPr>
            <a:endParaRPr lang="en-US" altLang="en-US" b="0"/>
          </a:p>
          <a:p>
            <a:pPr marL="342900" indent="-342900" algn="just">
              <a:buFont typeface="Wingdings" panose="05000000000000000000" charset="0"/>
              <a:buChar char="v"/>
            </a:pPr>
            <a:r>
              <a:rPr lang="en-US" altLang="en-US">
                <a:sym typeface="+mn-ea"/>
              </a:rPr>
              <a:t>Location of Intelligence:</a:t>
            </a:r>
            <a:r>
              <a:rPr lang="en-US" altLang="en-US" b="0">
                <a:sym typeface="+mn-ea"/>
              </a:rPr>
              <a:t> </a:t>
            </a:r>
            <a:endParaRPr lang="en-US" altLang="en-US" b="0">
              <a:sym typeface="+mn-ea"/>
            </a:endParaRPr>
          </a:p>
          <a:p>
            <a:pPr indent="0" algn="just">
              <a:buFont typeface="Wingdings" panose="05000000000000000000" charset="0"/>
              <a:buNone/>
            </a:pPr>
            <a:r>
              <a:rPr lang="en-US" altLang="en-US" b="0">
                <a:sym typeface="+mn-ea"/>
              </a:rPr>
              <a:t>  AI processing is performed </a:t>
            </a:r>
            <a:r>
              <a:rPr lang="en-US" altLang="en-US">
                <a:solidFill>
                  <a:srgbClr val="FF0000"/>
                </a:solidFill>
                <a:sym typeface="+mn-ea"/>
              </a:rPr>
              <a:t>near the data source</a:t>
            </a:r>
            <a:r>
              <a:rPr lang="en-US" altLang="en-US" b="0">
                <a:sym typeface="+mn-ea"/>
              </a:rPr>
              <a:t> (network edge), reducing dependency on centralized cloud infrastructure.</a:t>
            </a:r>
            <a:endParaRPr lang="en-US" altLang="en-US" b="0">
              <a:sym typeface="+mn-ea"/>
            </a:endParaRPr>
          </a:p>
          <a:p>
            <a:pPr marL="342900" indent="-342900">
              <a:buFont typeface="Wingdings" panose="05000000000000000000" charset="0"/>
              <a:buChar char="v"/>
            </a:pPr>
            <a:endParaRPr lang="en-US" altLang="en-US" b="0"/>
          </a:p>
          <a:p>
            <a:pPr marL="342900" indent="-342900">
              <a:buFont typeface="Wingdings" panose="05000000000000000000" charset="0"/>
              <a:buChar char="v"/>
            </a:pPr>
            <a:r>
              <a:rPr lang="en-US" altLang="en-US">
                <a:sym typeface="+mn-ea"/>
              </a:rPr>
              <a:t>Benefits of Edge AI:</a:t>
            </a:r>
            <a:endParaRPr lang="en-US" altLang="en-US"/>
          </a:p>
          <a:p>
            <a:pPr marL="0" indent="0">
              <a:buNone/>
            </a:pPr>
            <a:r>
              <a:rPr lang="en-US" altLang="en-US" b="0">
                <a:sym typeface="+mn-ea"/>
              </a:rPr>
              <a:t>Reduced latency and </a:t>
            </a:r>
            <a:r>
              <a:rPr lang="en-US" altLang="en-US" b="0">
                <a:solidFill>
                  <a:srgbClr val="FF0000"/>
                </a:solidFill>
                <a:sym typeface="+mn-ea"/>
              </a:rPr>
              <a:t>faster decision-making</a:t>
            </a:r>
            <a:endParaRPr lang="en-US" altLang="en-US" b="0">
              <a:solidFill>
                <a:srgbClr val="FF0000"/>
              </a:solidFill>
            </a:endParaRPr>
          </a:p>
          <a:p>
            <a:pPr marL="0" indent="0">
              <a:buNone/>
            </a:pPr>
            <a:r>
              <a:rPr lang="en-US" altLang="en-US" b="0">
                <a:sym typeface="+mn-ea"/>
              </a:rPr>
              <a:t>Improved privacy and security </a:t>
            </a:r>
            <a:r>
              <a:rPr lang="en-US" altLang="en-US" b="0">
                <a:solidFill>
                  <a:srgbClr val="FF0000"/>
                </a:solidFill>
                <a:sym typeface="+mn-ea"/>
              </a:rPr>
              <a:t>by minimizing data</a:t>
            </a:r>
            <a:r>
              <a:rPr lang="en-US" altLang="en-US" b="0">
                <a:sym typeface="+mn-ea"/>
              </a:rPr>
              <a:t> transmission to the cloud</a:t>
            </a:r>
            <a:endParaRPr lang="en-US" altLang="en-US" b="0"/>
          </a:p>
          <a:p>
            <a:pPr marL="0" indent="0">
              <a:buNone/>
            </a:pPr>
            <a:r>
              <a:rPr lang="en-US" altLang="en-US" b="0">
                <a:sym typeface="+mn-ea"/>
              </a:rPr>
              <a:t>Efficient data processing and r</a:t>
            </a:r>
            <a:r>
              <a:rPr lang="en-US" altLang="en-US" b="0">
                <a:solidFill>
                  <a:srgbClr val="FF0000"/>
                </a:solidFill>
                <a:sym typeface="+mn-ea"/>
              </a:rPr>
              <a:t>educed bandwidth usage</a:t>
            </a:r>
            <a:endParaRPr lang="en-US" altLang="en-US" b="0"/>
          </a:p>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422" y="761949"/>
            <a:ext cx="10410545" cy="707390"/>
          </a:xfrm>
        </p:spPr>
        <p:txBody>
          <a:bodyPr/>
          <a:p>
            <a:r>
              <a:rPr lang="en-US" altLang="en-US" b="1">
                <a:sym typeface="+mn-ea"/>
              </a:rPr>
              <a:t>Cutting-Edge - Computing </a:t>
            </a:r>
            <a:endParaRPr lang="en-US" altLang="en-US" b="1">
              <a:sym typeface="+mn-ea"/>
            </a:endParaRPr>
          </a:p>
        </p:txBody>
      </p:sp>
      <p:sp>
        <p:nvSpPr>
          <p:cNvPr id="3" name="Content Placeholder 2"/>
          <p:cNvSpPr>
            <a:spLocks noGrp="1"/>
          </p:cNvSpPr>
          <p:nvPr>
            <p:ph idx="1"/>
          </p:nvPr>
        </p:nvSpPr>
        <p:spPr>
          <a:xfrm>
            <a:off x="163830" y="1905000"/>
            <a:ext cx="11963400" cy="3831590"/>
          </a:xfrm>
        </p:spPr>
        <p:txBody>
          <a:bodyPr wrap="square">
            <a:noAutofit/>
          </a:bodyPr>
          <a:p>
            <a:pPr marL="342900" indent="-342900">
              <a:buFont typeface="Wingdings" panose="05000000000000000000" charset="0"/>
              <a:buChar char="v"/>
            </a:pPr>
            <a:r>
              <a:rPr lang="en-US" altLang="en-US"/>
              <a:t>Definition</a:t>
            </a:r>
            <a:r>
              <a:rPr lang="en-US" altLang="en-US" b="0"/>
              <a:t>:Cutting Edge computing places </a:t>
            </a:r>
            <a:r>
              <a:rPr lang="en-US" altLang="en-US">
                <a:solidFill>
                  <a:srgbClr val="FF0000"/>
                </a:solidFill>
              </a:rPr>
              <a:t>computing and storage resources</a:t>
            </a:r>
            <a:r>
              <a:rPr lang="en-US" altLang="en-US" b="0"/>
              <a:t> close to users and data sources to overcome cloud computing issues.</a:t>
            </a:r>
            <a:endParaRPr lang="en-US" altLang="en-US" b="0"/>
          </a:p>
          <a:p>
            <a:pPr marL="342900" indent="-342900">
              <a:buFont typeface="Wingdings" panose="05000000000000000000" charset="0"/>
              <a:buChar char="v"/>
            </a:pPr>
            <a:endParaRPr lang="en-US" altLang="en-US" b="0"/>
          </a:p>
          <a:p>
            <a:pPr marL="342900" indent="-342900">
              <a:buFont typeface="Wingdings" panose="05000000000000000000" charset="0"/>
              <a:buChar char="v"/>
            </a:pPr>
            <a:r>
              <a:rPr lang="en-US" altLang="en-US"/>
              <a:t>Need for Cutting Edge Computing</a:t>
            </a:r>
            <a:r>
              <a:rPr lang="en-US" altLang="en-US" b="0"/>
              <a:t>:Addresses cloud limitations such as </a:t>
            </a:r>
            <a:r>
              <a:rPr lang="en-US" altLang="en-US" b="0">
                <a:solidFill>
                  <a:srgbClr val="FF0000"/>
                </a:solidFill>
              </a:rPr>
              <a:t>high latency, jitter, and bandwidth constraints</a:t>
            </a:r>
            <a:r>
              <a:rPr lang="en-US" altLang="en-US" b="0"/>
              <a:t>, especially in IoT and wireless networks.</a:t>
            </a:r>
            <a:endParaRPr lang="en-US" altLang="en-US" b="0"/>
          </a:p>
          <a:p>
            <a:pPr marL="342900" indent="-342900">
              <a:buFont typeface="Wingdings" panose="05000000000000000000" charset="0"/>
              <a:buChar char="v"/>
            </a:pPr>
            <a:endParaRPr lang="en-US" altLang="en-US" b="1"/>
          </a:p>
          <a:p>
            <a:pPr marL="342900" indent="-342900" algn="just">
              <a:buFont typeface="Wingdings" panose="05000000000000000000" charset="0"/>
              <a:buChar char="v"/>
            </a:pPr>
            <a:r>
              <a:rPr lang="en-US" altLang="en-US" b="0">
                <a:sym typeface="+mn-ea"/>
              </a:rPr>
              <a:t>Cutting Edge AI refers to deploying artificial intelligence algorithms directly on edge devices such as sensors, mobile devices, and IoT nodes instead of relying on cloud servers.</a:t>
            </a:r>
            <a:r>
              <a:rPr lang="en-US" altLang="en-US" b="0">
                <a:solidFill>
                  <a:srgbClr val="FF0000"/>
                </a:solidFill>
                <a:sym typeface="+mn-ea"/>
              </a:rPr>
              <a:t>Data collection and processing through by </a:t>
            </a:r>
            <a:r>
              <a:rPr lang="en-US" altLang="en-US">
                <a:solidFill>
                  <a:srgbClr val="FF0000"/>
                </a:solidFill>
                <a:sym typeface="+mn-ea"/>
              </a:rPr>
              <a:t>Training Machine Learning models</a:t>
            </a:r>
            <a:r>
              <a:rPr lang="en-US" altLang="en-US" b="0">
                <a:solidFill>
                  <a:srgbClr val="FF0000"/>
                </a:solidFill>
                <a:sym typeface="+mn-ea"/>
              </a:rPr>
              <a:t> </a:t>
            </a:r>
            <a:r>
              <a:rPr lang="en-US" altLang="en-US" b="0">
                <a:sym typeface="+mn-ea"/>
              </a:rPr>
              <a:t>at the Edge</a:t>
            </a:r>
            <a:endParaRPr lang="en-US" altLang="en-US" b="0"/>
          </a:p>
          <a:p>
            <a:pPr marL="0" indent="0">
              <a:buNone/>
            </a:pPr>
            <a:endParaRPr lang="en-US" altLang="en-US" b="0"/>
          </a:p>
          <a:p>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4222" y="761949"/>
            <a:ext cx="10410545" cy="707390"/>
          </a:xfrm>
        </p:spPr>
        <p:txBody>
          <a:bodyPr/>
          <a:p>
            <a:r>
              <a:rPr lang="en-US"/>
              <a:t>Conti...</a:t>
            </a:r>
            <a:endParaRPr lang="en-US"/>
          </a:p>
        </p:txBody>
      </p:sp>
      <p:sp>
        <p:nvSpPr>
          <p:cNvPr id="3" name="Text Placeholder 2"/>
          <p:cNvSpPr>
            <a:spLocks noGrp="1"/>
          </p:cNvSpPr>
          <p:nvPr>
            <p:ph type="body" idx="1"/>
          </p:nvPr>
        </p:nvSpPr>
        <p:spPr>
          <a:xfrm>
            <a:off x="304800" y="1524000"/>
            <a:ext cx="5426710" cy="4786630"/>
          </a:xfrm>
        </p:spPr>
        <p:txBody>
          <a:bodyPr wrap="square">
            <a:noAutofit/>
          </a:bodyPr>
          <a:p>
            <a:pPr indent="0" defTabSz="457200">
              <a:lnSpc>
                <a:spcPct val="107000"/>
              </a:lnSpc>
              <a:buFont typeface="Arial" panose="020B0604020202020204" pitchFamily="34" charset="0"/>
              <a:buNone/>
            </a:pPr>
            <a:r>
              <a:rPr lang="en-US" altLang="en-US" b="0">
                <a:solidFill>
                  <a:srgbClr val="FF0000"/>
                </a:solidFill>
                <a:sym typeface="+mn-ea"/>
              </a:rPr>
              <a:t>Training Machine Learning models </a:t>
            </a:r>
            <a:r>
              <a:rPr lang="en-US">
                <a:latin typeface="Calibri" panose="020F0502020204030204"/>
                <a:ea typeface="Times New Roman" panose="02020603050405020304"/>
                <a:sym typeface="+mn-ea"/>
              </a:rPr>
              <a:t>Integration  results - AI +IoT=AIoT</a:t>
            </a:r>
            <a:endParaRPr lang="en-US">
              <a:latin typeface="Calibri" panose="020F0502020204030204"/>
              <a:ea typeface="Times New Roman" panose="02020603050405020304"/>
              <a:sym typeface="+mn-ea"/>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Real-Time Data Processing:</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Capabilities of Edge AI Systems</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Subfields of Artificial Intelligence:</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Applications of Computational Intelligence:</a:t>
            </a:r>
            <a:endParaRPr lang="en-US" altLang="en-US">
              <a:latin typeface="Calibri" panose="020F0502020204030204"/>
              <a:ea typeface="Calibri" panose="020F0502020204030204"/>
            </a:endParaRPr>
          </a:p>
          <a:p>
            <a:pPr marL="342900" indent="-342900" defTabSz="457200">
              <a:lnSpc>
                <a:spcPct val="107000"/>
              </a:lnSpc>
              <a:buFont typeface="Wingdings" panose="05000000000000000000" charset="0"/>
              <a:buChar char="v"/>
            </a:pPr>
            <a:r>
              <a:rPr lang="en-US" altLang="en-US">
                <a:latin typeface="Calibri" panose="020F0502020204030204"/>
                <a:ea typeface="Calibri" panose="020F0502020204030204"/>
                <a:sym typeface="+mn-ea"/>
              </a:rPr>
              <a:t>M2M, IIoT Communication</a:t>
            </a:r>
            <a:endParaRPr lang="en-US" altLang="en-US">
              <a:latin typeface="Calibri" panose="020F0502020204030204"/>
              <a:ea typeface="Calibri" panose="020F0502020204030204"/>
              <a:sym typeface="+mn-ea"/>
            </a:endParaRPr>
          </a:p>
          <a:p>
            <a:pPr marL="342900" indent="-342900" defTabSz="457200">
              <a:lnSpc>
                <a:spcPct val="107000"/>
              </a:lnSpc>
              <a:buFont typeface="Wingdings" panose="05000000000000000000" charset="0"/>
              <a:buChar char="v"/>
            </a:pPr>
            <a:r>
              <a:rPr lang="en-US" altLang="en-US">
                <a:latin typeface="Calibri" panose="020F0502020204030204" charset="0"/>
                <a:cs typeface="Calibri" panose="020F0502020204030204" charset="0"/>
                <a:sym typeface="+mn-ea"/>
              </a:rPr>
              <a:t>Smartphones and tablets</a:t>
            </a:r>
            <a:endParaRPr lang="en-US" altLang="en-US">
              <a:latin typeface="Calibri" panose="020F0502020204030204" charset="0"/>
              <a:cs typeface="Calibri" panose="020F0502020204030204" charset="0"/>
            </a:endParaRPr>
          </a:p>
          <a:p>
            <a:pPr marL="342900" indent="-342900" defTabSz="457200">
              <a:lnSpc>
                <a:spcPct val="107000"/>
              </a:lnSpc>
              <a:buFont typeface="Wingdings" panose="05000000000000000000" charset="0"/>
              <a:buChar char="v"/>
            </a:pPr>
            <a:r>
              <a:rPr lang="en-US" altLang="en-US">
                <a:latin typeface="Calibri" panose="020F0502020204030204" charset="0"/>
                <a:cs typeface="Calibri" panose="020F0502020204030204" charset="0"/>
                <a:sym typeface="+mn-ea"/>
              </a:rPr>
              <a:t>	Smart speakers and wearables</a:t>
            </a:r>
            <a:endParaRPr lang="en-US" altLang="en-US">
              <a:latin typeface="Calibri" panose="020F0502020204030204" charset="0"/>
              <a:cs typeface="Calibri" panose="020F0502020204030204" charset="0"/>
            </a:endParaRPr>
          </a:p>
          <a:p>
            <a:pPr marL="342900" indent="-342900" defTabSz="457200">
              <a:lnSpc>
                <a:spcPct val="107000"/>
              </a:lnSpc>
              <a:buFont typeface="Wingdings" panose="05000000000000000000" charset="0"/>
              <a:buChar char="v"/>
            </a:pPr>
            <a:r>
              <a:rPr lang="en-US" altLang="en-US">
                <a:latin typeface="Calibri" panose="020F0502020204030204" charset="0"/>
                <a:cs typeface="Calibri" panose="020F0502020204030204" charset="0"/>
                <a:sym typeface="+mn-ea"/>
              </a:rPr>
              <a:t>	Cameras, sensors, robotics</a:t>
            </a:r>
            <a:endParaRPr lang="en-US" altLang="en-US">
              <a:latin typeface="Calibri" panose="020F0502020204030204" charset="0"/>
              <a:cs typeface="Calibri" panose="020F0502020204030204" charset="0"/>
            </a:endParaRPr>
          </a:p>
          <a:p>
            <a:pPr indent="0" defTabSz="457200">
              <a:lnSpc>
                <a:spcPct val="107000"/>
              </a:lnSpc>
              <a:buFont typeface="Wingdings" panose="05000000000000000000" charset="0"/>
              <a:buNone/>
            </a:pPr>
            <a:r>
              <a:rPr lang="en-US" altLang="en-US">
                <a:sym typeface="+mn-ea"/>
              </a:rPr>
              <a:t> </a:t>
            </a:r>
            <a:endParaRPr lang="en-US" altLang="en-US"/>
          </a:p>
          <a:p>
            <a:pPr marL="342900" indent="-342900" defTabSz="457200">
              <a:lnSpc>
                <a:spcPct val="107000"/>
              </a:lnSpc>
              <a:buFont typeface="Wingdings" panose="05000000000000000000" charset="0"/>
              <a:buChar char="v"/>
            </a:pPr>
            <a:endParaRPr lang="en-US"/>
          </a:p>
        </p:txBody>
      </p:sp>
      <p:graphicFrame>
        <p:nvGraphicFramePr>
          <p:cNvPr id="6" name="Object 5"/>
          <p:cNvGraphicFramePr>
            <a:graphicFrameLocks noChangeAspect="1"/>
          </p:cNvGraphicFramePr>
          <p:nvPr/>
        </p:nvGraphicFramePr>
        <p:xfrm>
          <a:off x="5419725" y="234950"/>
          <a:ext cx="6709410" cy="6097905"/>
        </p:xfrm>
        <a:graphic>
          <a:graphicData uri="http://schemas.openxmlformats.org/presentationml/2006/ole">
            <mc:AlternateContent xmlns:mc="http://schemas.openxmlformats.org/markup-compatibility/2006">
              <mc:Choice xmlns:v="urn:schemas-microsoft-com:vml" Requires="v">
                <p:oleObj spid="_x0000_s7" name="" r:id="rId1" imgW="5867400" imgH="4933950" progId="Paint.Picture">
                  <p:embed/>
                </p:oleObj>
              </mc:Choice>
              <mc:Fallback>
                <p:oleObj name="" r:id="rId1" imgW="5867400" imgH="4933950" progId="Paint.Picture">
                  <p:embed/>
                  <p:pic>
                    <p:nvPicPr>
                      <p:cNvPr id="0" name="Picture 6"/>
                      <p:cNvPicPr/>
                      <p:nvPr/>
                    </p:nvPicPr>
                    <p:blipFill>
                      <a:blip r:embed="rId2"/>
                      <a:stretch>
                        <a:fillRect/>
                      </a:stretch>
                    </p:blipFill>
                    <p:spPr>
                      <a:xfrm>
                        <a:off x="5419725" y="234950"/>
                        <a:ext cx="6709410" cy="6097905"/>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pPr algn="ctr"/>
            <a:r>
              <a:rPr lang="en-US" altLang="en-US">
                <a:sym typeface="+mn-ea"/>
              </a:rPr>
              <a:t>Module I –L2</a:t>
            </a:r>
            <a:endParaRPr lang="en-US"/>
          </a:p>
        </p:txBody>
      </p:sp>
      <p:sp>
        <p:nvSpPr>
          <p:cNvPr id="3" name="Text Placeholder 2"/>
          <p:cNvSpPr>
            <a:spLocks noGrp="1"/>
          </p:cNvSpPr>
          <p:nvPr>
            <p:ph type="body" idx="1"/>
          </p:nvPr>
        </p:nvSpPr>
        <p:spPr>
          <a:xfrm>
            <a:off x="457301" y="3124327"/>
            <a:ext cx="10824845" cy="1846580"/>
          </a:xfrm>
        </p:spPr>
        <p:txBody>
          <a:bodyPr/>
          <a:p>
            <a:pPr algn="l"/>
            <a:r>
              <a:rPr lang="en-US">
                <a:sym typeface="+mn-ea"/>
              </a:rPr>
              <a:t>After going through this topic student should be able to</a:t>
            </a:r>
            <a:endParaRPr lang="en-US" altLang="en-US">
              <a:sym typeface="+mn-ea"/>
            </a:endParaRPr>
          </a:p>
          <a:p>
            <a:pPr algn="l"/>
            <a:r>
              <a:rPr lang="en-US" altLang="en-US" b="0">
                <a:sym typeface="+mn-ea"/>
              </a:rPr>
              <a:t>CO1: </a:t>
            </a:r>
            <a:r>
              <a:rPr lang="en-US" altLang="en-US" b="0">
                <a:sym typeface="+mn-ea"/>
              </a:rPr>
              <a:t>Explain Cloud AI </a:t>
            </a:r>
            <a:endParaRPr lang="en-US" altLang="en-US" b="0">
              <a:sym typeface="+mn-ea"/>
            </a:endParaRPr>
          </a:p>
          <a:p>
            <a:pPr algn="l"/>
            <a:r>
              <a:rPr lang="en-US" altLang="en-US" b="0">
                <a:sym typeface="+mn-ea"/>
              </a:rPr>
              <a:t>CO2: </a:t>
            </a:r>
            <a:r>
              <a:rPr lang="en-US" altLang="en-US" b="0">
                <a:sym typeface="+mn-ea"/>
              </a:rPr>
              <a:t>Define  Edge AI</a:t>
            </a:r>
            <a:endParaRPr lang="en-US" altLang="en-US" b="0">
              <a:sym typeface="+mn-ea"/>
            </a:endParaRPr>
          </a:p>
          <a:p>
            <a:pPr algn="l"/>
            <a:r>
              <a:rPr lang="en-US" altLang="en-US" b="0">
                <a:sym typeface="+mn-ea"/>
              </a:rPr>
              <a:t>CO3: Difference between Cloud AI and Edge AI</a:t>
            </a:r>
            <a:endParaRPr lang="en-US" altLang="en-US" b="0"/>
          </a:p>
          <a:p>
            <a:pPr algn="l"/>
            <a:endParaRPr lang="en-US"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8125" y="762000"/>
            <a:ext cx="11603355" cy="707390"/>
          </a:xfrm>
        </p:spPr>
        <p:txBody>
          <a:bodyPr wrap="square"/>
          <a:p>
            <a:r>
              <a:rPr lang="en-US" altLang="en-US"/>
              <a:t>DIFFERENCES BETWEEN CLOUD AI AND EDGE AI</a:t>
            </a:r>
            <a:endParaRPr lang="en-US" altLang="en-US"/>
          </a:p>
        </p:txBody>
      </p:sp>
      <p:sp>
        <p:nvSpPr>
          <p:cNvPr id="3" name="Content Placeholder 2"/>
          <p:cNvSpPr>
            <a:spLocks noGrp="1"/>
          </p:cNvSpPr>
          <p:nvPr>
            <p:ph idx="1"/>
          </p:nvPr>
        </p:nvSpPr>
        <p:spPr>
          <a:xfrm>
            <a:off x="327761" y="2023237"/>
            <a:ext cx="10824845" cy="3877945"/>
          </a:xfrm>
        </p:spPr>
        <p:txBody>
          <a:bodyPr/>
          <a:p>
            <a:pPr marL="0" indent="0">
              <a:buNone/>
            </a:pPr>
            <a:r>
              <a:rPr lang="en-US" altLang="en-US" sz="2000"/>
              <a:t>Cloud AI –</a:t>
            </a:r>
            <a:endParaRPr lang="en-US" altLang="en-US" sz="2000"/>
          </a:p>
          <a:p>
            <a:pPr marL="0" indent="0">
              <a:buNone/>
            </a:pPr>
            <a:endParaRPr lang="en-US" altLang="en-US" sz="2000"/>
          </a:p>
          <a:p>
            <a:r>
              <a:rPr lang="en-US" altLang="en-US" b="0"/>
              <a:t>Uses centralized cloud servers with high computational power and storage.</a:t>
            </a:r>
            <a:endParaRPr lang="en-US" altLang="en-US" b="0"/>
          </a:p>
          <a:p>
            <a:r>
              <a:rPr lang="en-US" altLang="en-US" b="0"/>
              <a:t>Few  constraints on </a:t>
            </a:r>
            <a:r>
              <a:rPr lang="en-US" altLang="en-US" b="0">
                <a:solidFill>
                  <a:srgbClr val="FF0000"/>
                </a:solidFill>
              </a:rPr>
              <a:t>model size, memory, and processing speed.</a:t>
            </a:r>
            <a:endParaRPr lang="en-US" altLang="en-US" b="0"/>
          </a:p>
          <a:p>
            <a:endParaRPr lang="en-US" altLang="en-US" b="0"/>
          </a:p>
          <a:p>
            <a:pPr marL="342900" indent="-342900">
              <a:buFont typeface="Wingdings" panose="05000000000000000000" charset="0"/>
              <a:buChar char="v"/>
            </a:pPr>
            <a:r>
              <a:rPr lang="en-US" altLang="en-US" b="0"/>
              <a:t>High cost associated </a:t>
            </a:r>
            <a:endParaRPr lang="en-US" altLang="en-US" b="0"/>
          </a:p>
          <a:p>
            <a:pPr marL="342900" indent="-342900">
              <a:buFont typeface="Wingdings" panose="05000000000000000000" charset="0"/>
              <a:buChar char="v"/>
            </a:pPr>
            <a:r>
              <a:rPr lang="en-US" altLang="en-US" b="0"/>
              <a:t>Long-term cloud storage</a:t>
            </a:r>
            <a:endParaRPr lang="en-US" altLang="en-US" b="0"/>
          </a:p>
          <a:p>
            <a:pPr marL="342900" indent="-342900">
              <a:buFont typeface="Wingdings" panose="05000000000000000000" charset="0"/>
              <a:buChar char="v"/>
            </a:pPr>
            <a:r>
              <a:rPr lang="en-US" altLang="en-US" b="0"/>
              <a:t>Continuous data transmission</a:t>
            </a:r>
            <a:endParaRPr lang="en-US" altLang="en-US" b="0"/>
          </a:p>
          <a:p>
            <a:pPr marL="342900" indent="-342900">
              <a:buFont typeface="Wingdings" panose="05000000000000000000" charset="0"/>
              <a:buChar char="v"/>
            </a:pPr>
            <a:r>
              <a:rPr lang="en-US" altLang="en-US" b="0"/>
              <a:t>Performance depends on network connectivity.</a:t>
            </a:r>
            <a:endParaRPr lang="en-US" altLang="en-US" b="0"/>
          </a:p>
          <a:p>
            <a:pPr marL="342900" indent="-342900">
              <a:buFont typeface="Wingdings" panose="05000000000000000000" charset="0"/>
              <a:buChar char="v"/>
            </a:pPr>
            <a:r>
              <a:rPr lang="en-US" altLang="en-US" b="0"/>
              <a:t>Privacy-sensitive data may need to be transmitted off-premises concer</a:t>
            </a:r>
            <a:r>
              <a:rPr lang="en-US" altLang="en-US" sz="2000" b="0"/>
              <a:t>ns.</a:t>
            </a:r>
            <a:endParaRPr lang="en-US" altLang="en-US" sz="2000" b="0"/>
          </a:p>
          <a:p>
            <a:pPr marL="342900" indent="-342900">
              <a:buFont typeface="Wingdings" panose="05000000000000000000" charset="0"/>
              <a:buChar char="v"/>
            </a:pPr>
            <a:endParaRPr lang="en-US" altLang="en-US" sz="20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022" y="761949"/>
            <a:ext cx="10410545" cy="707390"/>
          </a:xfrm>
        </p:spPr>
        <p:txBody>
          <a:bodyPr/>
          <a:p>
            <a:r>
              <a:rPr lang="en-US"/>
              <a:t>Conti.....</a:t>
            </a:r>
            <a:endParaRPr lang="en-US"/>
          </a:p>
        </p:txBody>
      </p:sp>
      <p:sp>
        <p:nvSpPr>
          <p:cNvPr id="3" name="Content Placeholder 2"/>
          <p:cNvSpPr>
            <a:spLocks noGrp="1"/>
          </p:cNvSpPr>
          <p:nvPr>
            <p:ph idx="1"/>
          </p:nvPr>
        </p:nvSpPr>
        <p:spPr>
          <a:xfrm>
            <a:off x="327660" y="2023110"/>
            <a:ext cx="11282045" cy="4739640"/>
          </a:xfrm>
        </p:spPr>
        <p:txBody>
          <a:bodyPr wrap="square"/>
          <a:p>
            <a:pPr marL="0" indent="0">
              <a:buNone/>
            </a:pPr>
            <a:r>
              <a:rPr lang="en-US" altLang="en-US" sz="2000"/>
              <a:t>Edge AI –</a:t>
            </a:r>
            <a:endParaRPr lang="en-US" altLang="en-US" sz="2000"/>
          </a:p>
          <a:p>
            <a:pPr algn="just"/>
            <a:r>
              <a:rPr lang="en-US" altLang="en-US" b="0"/>
              <a:t>AI processing occurs on-far device or near the data source or end device itself.</a:t>
            </a:r>
            <a:endParaRPr lang="en-US" altLang="en-US" b="0"/>
          </a:p>
          <a:p>
            <a:pPr algn="just"/>
            <a:r>
              <a:rPr lang="en-US" altLang="en-US" b="0">
                <a:solidFill>
                  <a:srgbClr val="FF0000"/>
                </a:solidFill>
              </a:rPr>
              <a:t>Devices have limited RAM, storage, processing power, and energy.</a:t>
            </a:r>
            <a:endParaRPr lang="en-US" altLang="en-US" b="0">
              <a:solidFill>
                <a:srgbClr val="FF0000"/>
              </a:solidFill>
            </a:endParaRPr>
          </a:p>
          <a:p>
            <a:pPr algn="just"/>
            <a:r>
              <a:rPr lang="en-US" altLang="en-US" b="0"/>
              <a:t>Requires lightweight, </a:t>
            </a:r>
            <a:r>
              <a:rPr lang="en-US" altLang="en-US" b="0">
                <a:solidFill>
                  <a:srgbClr val="FF0000"/>
                </a:solidFill>
              </a:rPr>
              <a:t>optimized ML models.</a:t>
            </a:r>
            <a:endParaRPr lang="en-US" altLang="en-US" b="0"/>
          </a:p>
          <a:p>
            <a:endParaRPr lang="en-US" altLang="en-US" b="0"/>
          </a:p>
          <a:p>
            <a:r>
              <a:rPr lang="en-US" altLang="en-US" b="0"/>
              <a:t>Results:</a:t>
            </a:r>
            <a:endParaRPr lang="en-US" altLang="en-US" b="0"/>
          </a:p>
          <a:p>
            <a:pPr marL="342900" indent="-342900">
              <a:buFont typeface="Wingdings" panose="05000000000000000000" charset="0"/>
              <a:buChar char="v"/>
            </a:pPr>
            <a:r>
              <a:rPr lang="en-US" altLang="en-US" b="0"/>
              <a:t>         Low latency</a:t>
            </a:r>
            <a:endParaRPr lang="en-US" altLang="en-US" b="0"/>
          </a:p>
          <a:p>
            <a:pPr marL="342900" indent="-342900">
              <a:buFont typeface="Wingdings" panose="05000000000000000000" charset="0"/>
              <a:buChar char="v"/>
            </a:pPr>
            <a:r>
              <a:rPr lang="en-US" altLang="en-US" b="0"/>
              <a:t>         High reliability</a:t>
            </a:r>
            <a:endParaRPr lang="en-US" altLang="en-US" b="0"/>
          </a:p>
          <a:p>
            <a:pPr marL="342900" indent="-342900">
              <a:buFont typeface="Wingdings" panose="05000000000000000000" charset="0"/>
              <a:buChar char="v"/>
            </a:pPr>
            <a:r>
              <a:rPr lang="en-US" altLang="en-US" b="0"/>
              <a:t>         Improved data privacy</a:t>
            </a:r>
            <a:endParaRPr lang="en-US" altLang="en-US" b="0"/>
          </a:p>
          <a:p>
            <a:pPr marL="0" indent="0">
              <a:buNone/>
            </a:pPr>
            <a:endParaRPr lang="en-US" altLang="en-US" b="0"/>
          </a:p>
          <a:p>
            <a:r>
              <a:rPr lang="en-US" altLang="en-US" b="0"/>
              <a:t>Devices continue functioning even with poor or intermittent internet connectivity.</a:t>
            </a:r>
            <a:endParaRPr lang="en-US" altLang="en-US" b="0"/>
          </a:p>
          <a:p>
            <a:r>
              <a:rPr lang="en-US" altLang="en-US" b="0"/>
              <a:t>Eliminates the need for data to leave the premises.</a:t>
            </a:r>
            <a:endParaRPr lang="en-US" altLang="en-US" b="0"/>
          </a:p>
          <a:p>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05000" y="762000"/>
            <a:ext cx="6455410" cy="707390"/>
          </a:xfrm>
        </p:spPr>
        <p:txBody>
          <a:bodyPr wrap="square"/>
          <a:p>
            <a:r>
              <a:rPr lang="en-US"/>
              <a:t>conti...</a:t>
            </a:r>
            <a:endParaRPr lang="en-US"/>
          </a:p>
        </p:txBody>
      </p:sp>
      <p:graphicFrame>
        <p:nvGraphicFramePr>
          <p:cNvPr id="6" name="Content Placeholder 5"/>
          <p:cNvGraphicFramePr>
            <a:graphicFrameLocks noChangeAspect="1"/>
          </p:cNvGraphicFramePr>
          <p:nvPr>
            <p:ph idx="1"/>
          </p:nvPr>
        </p:nvGraphicFramePr>
        <p:xfrm>
          <a:off x="1219200" y="2026285"/>
          <a:ext cx="9748520" cy="4228465"/>
        </p:xfrm>
        <a:graphic>
          <a:graphicData uri="http://schemas.openxmlformats.org/presentationml/2006/ole">
            <mc:AlternateContent xmlns:mc="http://schemas.openxmlformats.org/markup-compatibility/2006">
              <mc:Choice xmlns:v="urn:schemas-microsoft-com:vml" Requires="v">
                <p:oleObj spid="_x0000_s7" name="" r:id="rId1" imgW="7029450" imgH="3629025" progId="Paint.Picture">
                  <p:embed/>
                </p:oleObj>
              </mc:Choice>
              <mc:Fallback>
                <p:oleObj name="" r:id="rId1" imgW="7029450" imgH="3629025" progId="Paint.Picture">
                  <p:embed/>
                  <p:pic>
                    <p:nvPicPr>
                      <p:cNvPr id="0" name="Picture 6"/>
                      <p:cNvPicPr/>
                      <p:nvPr/>
                    </p:nvPicPr>
                    <p:blipFill>
                      <a:blip r:embed="rId2"/>
                      <a:stretch>
                        <a:fillRect/>
                      </a:stretch>
                    </p:blipFill>
                    <p:spPr>
                      <a:xfrm>
                        <a:off x="1219200" y="2026285"/>
                        <a:ext cx="9748520" cy="4228465"/>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31595" y="685800"/>
            <a:ext cx="10250805" cy="707390"/>
          </a:xfrm>
        </p:spPr>
        <p:txBody>
          <a:bodyPr wrap="square"/>
          <a:p>
            <a:r>
              <a:rPr lang="en-US" altLang="en-US"/>
              <a:t>Comparison Between Cloud AI and Edge AI</a:t>
            </a:r>
            <a:endParaRPr lang="en-US" altLang="en-US"/>
          </a:p>
        </p:txBody>
      </p:sp>
      <p:graphicFrame>
        <p:nvGraphicFramePr>
          <p:cNvPr id="7" name="Content Placeholder 6"/>
          <p:cNvGraphicFramePr>
            <a:graphicFrameLocks noChangeAspect="1"/>
          </p:cNvGraphicFramePr>
          <p:nvPr>
            <p:ph idx="1"/>
          </p:nvPr>
        </p:nvGraphicFramePr>
        <p:xfrm>
          <a:off x="1219200" y="1905000"/>
          <a:ext cx="9987280" cy="4335780"/>
        </p:xfrm>
        <a:graphic>
          <a:graphicData uri="http://schemas.openxmlformats.org/presentationml/2006/ole">
            <mc:AlternateContent xmlns:mc="http://schemas.openxmlformats.org/markup-compatibility/2006">
              <mc:Choice xmlns:v="urn:schemas-microsoft-com:vml" Requires="v">
                <p:oleObj spid="_x0000_s8" name="" r:id="rId1" imgW="5724525" imgH="3486150" progId="Paint.Picture">
                  <p:embed/>
                </p:oleObj>
              </mc:Choice>
              <mc:Fallback>
                <p:oleObj name="" r:id="rId1" imgW="5724525" imgH="3486150" progId="Paint.Picture">
                  <p:embed/>
                  <p:pic>
                    <p:nvPicPr>
                      <p:cNvPr id="0" name="Picture 7"/>
                      <p:cNvPicPr/>
                      <p:nvPr/>
                    </p:nvPicPr>
                    <p:blipFill>
                      <a:blip r:embed="rId2"/>
                      <a:stretch>
                        <a:fillRect/>
                      </a:stretch>
                    </p:blipFill>
                    <p:spPr>
                      <a:xfrm>
                        <a:off x="1219200" y="1905000"/>
                        <a:ext cx="9987280" cy="4335780"/>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90422" y="761949"/>
            <a:ext cx="10410545" cy="707390"/>
          </a:xfrm>
        </p:spPr>
        <p:txBody>
          <a:bodyPr/>
          <a:p>
            <a:r>
              <a:rPr lang="en-US" altLang="en-US">
                <a:sym typeface="+mn-ea"/>
              </a:rPr>
              <a:t>Comparison Between Cloud AI and Edge AI</a:t>
            </a:r>
            <a:endParaRPr lang="en-US"/>
          </a:p>
        </p:txBody>
      </p:sp>
      <p:graphicFrame>
        <p:nvGraphicFramePr>
          <p:cNvPr id="6" name="Content Placeholder 5"/>
          <p:cNvGraphicFramePr>
            <a:graphicFrameLocks noChangeAspect="1"/>
          </p:cNvGraphicFramePr>
          <p:nvPr>
            <p:ph idx="1"/>
          </p:nvPr>
        </p:nvGraphicFramePr>
        <p:xfrm>
          <a:off x="1213485" y="1981200"/>
          <a:ext cx="9940290" cy="4319270"/>
        </p:xfrm>
        <a:graphic>
          <a:graphicData uri="http://schemas.openxmlformats.org/presentationml/2006/ole">
            <mc:AlternateContent xmlns:mc="http://schemas.openxmlformats.org/markup-compatibility/2006">
              <mc:Choice xmlns:v="urn:schemas-microsoft-com:vml" Requires="v">
                <p:oleObj spid="_x0000_s7" name="" r:id="rId1" imgW="5000625" imgH="2476500" progId="Paint.Picture">
                  <p:embed/>
                </p:oleObj>
              </mc:Choice>
              <mc:Fallback>
                <p:oleObj name="" r:id="rId1" imgW="5000625" imgH="2476500" progId="Paint.Picture">
                  <p:embed/>
                  <p:pic>
                    <p:nvPicPr>
                      <p:cNvPr id="0" name="Picture 6"/>
                      <p:cNvPicPr/>
                      <p:nvPr/>
                    </p:nvPicPr>
                    <p:blipFill>
                      <a:blip r:embed="rId2"/>
                      <a:stretch>
                        <a:fillRect/>
                      </a:stretch>
                    </p:blipFill>
                    <p:spPr>
                      <a:xfrm>
                        <a:off x="1213485" y="1981200"/>
                        <a:ext cx="9940290" cy="4319270"/>
                      </a:xfrm>
                      <a:prstGeom prst="rect">
                        <a:avLst/>
                      </a:prstGeom>
                    </p:spPr>
                  </p:pic>
                </p:oleObj>
              </mc:Fallback>
            </mc:AlternateContent>
          </a:graphicData>
        </a:graphic>
      </p:graphicFrame>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761" y="2023237"/>
            <a:ext cx="10824845" cy="2215515"/>
          </a:xfrm>
        </p:spPr>
        <p:txBody>
          <a:bodyPr/>
          <a:p>
            <a:pPr marL="0" indent="0">
              <a:buNone/>
            </a:pPr>
            <a:r>
              <a:rPr lang="en-US" altLang="en-US">
                <a:sym typeface="+mn-ea"/>
              </a:rPr>
              <a:t>                   </a:t>
            </a:r>
            <a:endParaRPr lang="en-US" altLang="en-US">
              <a:sym typeface="+mn-ea"/>
            </a:endParaRPr>
          </a:p>
          <a:p>
            <a:pPr marL="0" indent="0">
              <a:buNone/>
            </a:pPr>
            <a:r>
              <a:rPr lang="en-US">
                <a:sym typeface="+mn-ea"/>
              </a:rPr>
              <a:t>After going through this topic student should be able to</a:t>
            </a:r>
            <a:endParaRPr lang="en-US">
              <a:sym typeface="+mn-ea"/>
            </a:endParaRPr>
          </a:p>
          <a:p>
            <a:pPr marL="0" indent="0">
              <a:buNone/>
            </a:pPr>
            <a:endParaRPr lang="en-US" altLang="en-US">
              <a:sym typeface="+mn-ea"/>
            </a:endParaRPr>
          </a:p>
          <a:p>
            <a:r>
              <a:rPr lang="en-US" altLang="en-US"/>
              <a:t>CO1: How Edge AI supports real-time analytics.</a:t>
            </a:r>
            <a:endParaRPr lang="en-US" altLang="en-US"/>
          </a:p>
          <a:p>
            <a:r>
              <a:rPr lang="en-US" altLang="en-US"/>
              <a:t>CO2: Describe the benefits of performing analytics</a:t>
            </a:r>
            <a:endParaRPr lang="en-US" altLang="en-US"/>
          </a:p>
          <a:p>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2" name="Text Box 1"/>
          <p:cNvSpPr txBox="1"/>
          <p:nvPr/>
        </p:nvSpPr>
        <p:spPr>
          <a:xfrm>
            <a:off x="2362200" y="838200"/>
            <a:ext cx="6096000" cy="768350"/>
          </a:xfrm>
          <a:prstGeom prst="rect">
            <a:avLst/>
          </a:prstGeom>
          <a:noFill/>
        </p:spPr>
        <p:txBody>
          <a:bodyPr wrap="square" rtlCol="0" anchor="t">
            <a:spAutoFit/>
          </a:bodyPr>
          <a:p>
            <a:pPr marL="0" indent="0">
              <a:buNone/>
            </a:pPr>
            <a:r>
              <a:rPr lang="en-US" altLang="en-US" sz="4400">
                <a:sym typeface="+mn-ea"/>
              </a:rPr>
              <a:t>Module I –L3</a:t>
            </a:r>
            <a:endParaRPr lang="en-US" altLang="en-US" sz="440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905" y="393700"/>
            <a:ext cx="10757535" cy="707390"/>
          </a:xfrm>
        </p:spPr>
        <p:txBody>
          <a:bodyPr wrap="square"/>
          <a:p>
            <a:r>
              <a:rPr>
                <a:latin typeface="+mn-ea"/>
                <a:ea typeface="Calibri" panose="020F0502020204030204"/>
                <a:cs typeface="+mn-ea"/>
                <a:sym typeface="+mn-ea"/>
              </a:rPr>
              <a:t>Benefits of Edge AI in real-time analytics</a:t>
            </a:r>
            <a:endParaRPr lang="en-US"/>
          </a:p>
        </p:txBody>
      </p:sp>
      <p:graphicFrame>
        <p:nvGraphicFramePr>
          <p:cNvPr id="4" name="Object 3"/>
          <p:cNvGraphicFramePr/>
          <p:nvPr/>
        </p:nvGraphicFramePr>
        <p:xfrm>
          <a:off x="861060" y="1435100"/>
          <a:ext cx="10595610" cy="4869180"/>
        </p:xfrm>
        <a:graphic>
          <a:graphicData uri="http://schemas.openxmlformats.org/presentationml/2006/ole">
            <mc:AlternateContent xmlns:mc="http://schemas.openxmlformats.org/markup-compatibility/2006">
              <mc:Choice xmlns:v="urn:schemas-microsoft-com:vml" Requires="v">
                <p:oleObj spid="_x0000_s5" name="" r:id="rId1" imgW="6819900" imgH="2447925" progId="Paint.Picture">
                  <p:embed/>
                </p:oleObj>
              </mc:Choice>
              <mc:Fallback>
                <p:oleObj name="" r:id="rId1" imgW="6819900" imgH="2447925" progId="Paint.Picture">
                  <p:embed/>
                  <p:pic>
                    <p:nvPicPr>
                      <p:cNvPr id="0" name="Picture 4"/>
                      <p:cNvPicPr/>
                      <p:nvPr/>
                    </p:nvPicPr>
                    <p:blipFill>
                      <a:blip r:embed="rId2"/>
                      <a:stretch>
                        <a:fillRect/>
                      </a:stretch>
                    </p:blipFill>
                    <p:spPr>
                      <a:xfrm>
                        <a:off x="861060" y="1435100"/>
                        <a:ext cx="10595610" cy="4869180"/>
                      </a:xfrm>
                      <a:prstGeom prst="rect">
                        <a:avLst/>
                      </a:prstGeom>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838200"/>
            <a:ext cx="10997565" cy="707390"/>
          </a:xfrm>
        </p:spPr>
        <p:txBody>
          <a:bodyPr wrap="square"/>
          <a:p>
            <a:r>
              <a:rPr>
                <a:latin typeface="+mn-ea"/>
                <a:ea typeface="Calibri" panose="020F0502020204030204"/>
                <a:cs typeface="+mn-ea"/>
                <a:sym typeface="+mn-ea"/>
              </a:rPr>
              <a:t>Benefits of Edge AI in real-time analytics, </a:t>
            </a:r>
            <a:endParaRPr lang="en-US"/>
          </a:p>
        </p:txBody>
      </p:sp>
      <p:sp>
        <p:nvSpPr>
          <p:cNvPr id="3" name="Content Placeholder 2"/>
          <p:cNvSpPr>
            <a:spLocks noGrp="1"/>
          </p:cNvSpPr>
          <p:nvPr>
            <p:ph idx="1"/>
          </p:nvPr>
        </p:nvSpPr>
        <p:spPr>
          <a:xfrm>
            <a:off x="361315" y="2057400"/>
            <a:ext cx="11422380" cy="3323590"/>
          </a:xfrm>
        </p:spPr>
        <p:txBody>
          <a:bodyPr wrap="square"/>
          <a:p>
            <a:pPr marL="342900" indent="-342900">
              <a:buFont typeface="Wingdings" panose="05000000000000000000" charset="0"/>
              <a:buChar char="v"/>
            </a:pPr>
            <a:r>
              <a:rPr lang="en-US" altLang="en-US" b="0"/>
              <a:t>Edge computing shifts </a:t>
            </a:r>
            <a:r>
              <a:rPr lang="en-US" altLang="en-US"/>
              <a:t>data processing and storage to the network edge, close to data sources.</a:t>
            </a:r>
            <a:endParaRPr lang="en-US" altLang="en-US"/>
          </a:p>
          <a:p>
            <a:pPr marL="342900" indent="-342900">
              <a:buFont typeface="Wingdings" panose="05000000000000000000" charset="0"/>
              <a:buChar char="v"/>
            </a:pPr>
            <a:r>
              <a:rPr lang="en-US" altLang="en-US" b="0"/>
              <a:t>Enables </a:t>
            </a:r>
            <a:r>
              <a:rPr lang="en-US" altLang="en-US"/>
              <a:t>millisecond-level processing </a:t>
            </a:r>
            <a:r>
              <a:rPr lang="en-US" altLang="en-US" b="0"/>
              <a:t>using AI without constant internet connectivity.</a:t>
            </a:r>
            <a:endParaRPr lang="en-US" altLang="en-US" b="0"/>
          </a:p>
          <a:p>
            <a:pPr marL="342900" indent="-342900">
              <a:buFont typeface="Wingdings" panose="05000000000000000000" charset="0"/>
              <a:buChar char="v"/>
            </a:pPr>
            <a:r>
              <a:rPr lang="en-US" altLang="en-US" b="0"/>
              <a:t>Improves </a:t>
            </a:r>
            <a:r>
              <a:rPr lang="en-US" altLang="en-US"/>
              <a:t>compute performance, data security, and business continuity</a:t>
            </a:r>
            <a:r>
              <a:rPr lang="en-US" altLang="en-US" b="0"/>
              <a:t>.</a:t>
            </a:r>
            <a:endParaRPr lang="en-US" altLang="en-US" b="0"/>
          </a:p>
          <a:p>
            <a:pPr marL="342900" indent="-342900">
              <a:buFont typeface="Wingdings" panose="05000000000000000000" charset="0"/>
              <a:buChar char="v"/>
            </a:pPr>
            <a:r>
              <a:rPr lang="en-US" altLang="en-US"/>
              <a:t>Reduces operational costs</a:t>
            </a:r>
            <a:r>
              <a:rPr lang="en-US" altLang="en-US" b="0"/>
              <a:t> and enhances AI-enabled application functionality.</a:t>
            </a:r>
            <a:endParaRPr lang="en-US" altLang="en-US" b="0"/>
          </a:p>
          <a:p>
            <a:pPr marL="342900" indent="-342900">
              <a:buFont typeface="Wingdings" panose="05000000000000000000" charset="0"/>
              <a:buChar char="v"/>
            </a:pPr>
            <a:r>
              <a:rPr lang="en-US" altLang="en-US" b="0"/>
              <a:t>Supports </a:t>
            </a:r>
            <a:r>
              <a:rPr lang="en-US" altLang="en-US" b="0">
                <a:solidFill>
                  <a:srgbClr val="FF0000"/>
                </a:solidFill>
              </a:rPr>
              <a:t>machine learning, deep learning inference</a:t>
            </a:r>
            <a:r>
              <a:rPr lang="en-US" altLang="en-US" b="0"/>
              <a:t>, and IoT devices without cloud dependency.</a:t>
            </a:r>
            <a:endParaRPr lang="en-US" altLang="en-US" b="0"/>
          </a:p>
          <a:p>
            <a:pPr marL="342900" indent="-342900">
              <a:buFont typeface="Wingdings" panose="05000000000000000000" charset="0"/>
              <a:buChar char="v"/>
            </a:pPr>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3" name="Content Placeholder 2"/>
          <p:cNvSpPr>
            <a:spLocks noGrp="1"/>
          </p:cNvSpPr>
          <p:nvPr>
            <p:ph idx="1"/>
          </p:nvPr>
        </p:nvSpPr>
        <p:spPr>
          <a:xfrm>
            <a:off x="779145" y="2023110"/>
            <a:ext cx="10373360" cy="3323590"/>
          </a:xfrm>
        </p:spPr>
        <p:txBody>
          <a:bodyPr wrap="square"/>
          <a:p>
            <a:pPr marL="342900" indent="-342900">
              <a:buFont typeface="Wingdings" panose="05000000000000000000" charset="0"/>
              <a:buChar char="v"/>
            </a:pPr>
            <a:r>
              <a:rPr lang="en-US" altLang="en-US" sz="2400" b="0"/>
              <a:t>Reduced Latency</a:t>
            </a:r>
            <a:endParaRPr lang="en-US" altLang="en-US" sz="2400" b="0"/>
          </a:p>
          <a:p>
            <a:pPr indent="0">
              <a:buFont typeface="Wingdings" panose="05000000000000000000" charset="0"/>
              <a:buNone/>
            </a:pPr>
            <a:r>
              <a:rPr lang="en-US" altLang="en-US" sz="2400" b="0"/>
              <a:t>    Local processing eliminates </a:t>
            </a:r>
            <a:r>
              <a:rPr lang="en-US" altLang="en-US" sz="2400" b="0">
                <a:solidFill>
                  <a:srgbClr val="FF0000"/>
                </a:solidFill>
              </a:rPr>
              <a:t>round-trip delay</a:t>
            </a:r>
            <a:r>
              <a:rPr lang="en-US" altLang="en-US" sz="2400" b="0"/>
              <a:t> to cloud servers.</a:t>
            </a:r>
            <a:endParaRPr lang="en-US" altLang="en-US" sz="2400" b="0"/>
          </a:p>
          <a:p>
            <a:pPr marL="342900" indent="-342900">
              <a:buFont typeface="Wingdings" panose="05000000000000000000" charset="0"/>
              <a:buChar char="v"/>
            </a:pPr>
            <a:r>
              <a:rPr lang="en-US" altLang="en-US" sz="2400" b="0"/>
              <a:t>Real-Time Analytics</a:t>
            </a:r>
            <a:endParaRPr lang="en-US" altLang="en-US" sz="2400" b="0"/>
          </a:p>
          <a:p>
            <a:pPr indent="0">
              <a:buFont typeface="Wingdings" panose="05000000000000000000" charset="0"/>
              <a:buNone/>
            </a:pPr>
            <a:r>
              <a:rPr lang="en-US" altLang="en-US" sz="2400" b="0"/>
              <a:t>     Enables immediate insights at </a:t>
            </a:r>
            <a:r>
              <a:rPr lang="en-US" altLang="en-US" sz="2400" b="0">
                <a:solidFill>
                  <a:srgbClr val="FF0000"/>
                </a:solidFill>
              </a:rPr>
              <a:t>sensor and IoT device level</a:t>
            </a:r>
            <a:r>
              <a:rPr lang="en-US" altLang="en-US" sz="2400" b="0"/>
              <a:t>.</a:t>
            </a:r>
            <a:endParaRPr lang="en-US" altLang="en-US" sz="2400" b="0"/>
          </a:p>
          <a:p>
            <a:pPr marL="342900" indent="-342900">
              <a:buFont typeface="Wingdings" panose="05000000000000000000" charset="0"/>
              <a:buChar char="v"/>
            </a:pPr>
            <a:r>
              <a:rPr lang="en-US" altLang="en-US" sz="2400" b="0"/>
              <a:t>Higher Processing Speed</a:t>
            </a:r>
            <a:endParaRPr lang="en-US" altLang="en-US" sz="2400" b="0"/>
          </a:p>
          <a:p>
            <a:pPr indent="0">
              <a:buFont typeface="Wingdings" panose="05000000000000000000" charset="0"/>
              <a:buNone/>
            </a:pPr>
            <a:r>
              <a:rPr lang="en-US" altLang="en-US" sz="2400" b="0"/>
              <a:t>     </a:t>
            </a:r>
            <a:r>
              <a:rPr lang="en-US" altLang="en-US" sz="2400" b="0">
                <a:solidFill>
                  <a:srgbClr val="FF0000"/>
                </a:solidFill>
              </a:rPr>
              <a:t>Faster execution compared</a:t>
            </a:r>
            <a:r>
              <a:rPr lang="en-US" altLang="en-US" sz="2400" b="0"/>
              <a:t> to cloud-based AI processing.</a:t>
            </a:r>
            <a:endParaRPr lang="en-US" altLang="en-US" sz="2400" b="0"/>
          </a:p>
          <a:p>
            <a:pPr marL="342900" indent="-342900">
              <a:buFont typeface="Wingdings" panose="05000000000000000000" charset="0"/>
              <a:buChar char="v"/>
            </a:pPr>
            <a:r>
              <a:rPr lang="en-US" altLang="en-US" sz="2400" b="0"/>
              <a:t>Reduced Bandwidth and Cost</a:t>
            </a:r>
            <a:endParaRPr lang="en-US" altLang="en-US" sz="2400" b="0"/>
          </a:p>
          <a:p>
            <a:pPr indent="0">
              <a:buFont typeface="Wingdings" panose="05000000000000000000" charset="0"/>
              <a:buNone/>
            </a:pPr>
            <a:r>
              <a:rPr lang="en-US" altLang="en-US" sz="2400" b="0"/>
              <a:t>     </a:t>
            </a:r>
            <a:r>
              <a:rPr lang="en-US" altLang="en-US" sz="2400" b="0">
                <a:solidFill>
                  <a:srgbClr val="FF0000"/>
                </a:solidFill>
              </a:rPr>
              <a:t>Minimizes internet traffic</a:t>
            </a:r>
            <a:r>
              <a:rPr lang="en-US" altLang="en-US" sz="2400" b="0"/>
              <a:t> and cloud storage expenses.</a:t>
            </a:r>
            <a:endParaRPr lang="en-US" altLang="en-US" sz="2400" b="0"/>
          </a:p>
          <a:p>
            <a:endParaRPr lang="en-US" altLang="en-US" sz="24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092" y="838149"/>
            <a:ext cx="10410545" cy="707390"/>
          </a:xfrm>
        </p:spPr>
        <p:txBody>
          <a:bodyPr/>
          <a:p>
            <a:r>
              <a:rPr lang="en-US"/>
              <a:t>conti..</a:t>
            </a:r>
            <a:endParaRPr lang="en-US"/>
          </a:p>
        </p:txBody>
      </p:sp>
      <p:sp>
        <p:nvSpPr>
          <p:cNvPr id="3" name="Content Placeholder 2"/>
          <p:cNvSpPr>
            <a:spLocks noGrp="1"/>
          </p:cNvSpPr>
          <p:nvPr>
            <p:ph idx="1"/>
          </p:nvPr>
        </p:nvSpPr>
        <p:spPr>
          <a:xfrm>
            <a:off x="1097280" y="2023110"/>
            <a:ext cx="10338435" cy="3693160"/>
          </a:xfrm>
        </p:spPr>
        <p:txBody>
          <a:bodyPr wrap="square"/>
          <a:p>
            <a:pPr marL="342900" indent="-342900" algn="just">
              <a:buFont typeface="Wingdings" panose="05000000000000000000" charset="0"/>
              <a:buChar char="v"/>
            </a:pPr>
            <a:r>
              <a:rPr lang="en-US" altLang="en-US" sz="2400" b="0">
                <a:solidFill>
                  <a:srgbClr val="FF0000"/>
                </a:solidFill>
                <a:sym typeface="+mn-ea"/>
              </a:rPr>
              <a:t>Improved Data Security</a:t>
            </a:r>
            <a:endParaRPr lang="en-US" altLang="en-US" sz="2400" b="0">
              <a:solidFill>
                <a:srgbClr val="FF0000"/>
              </a:solidFill>
            </a:endParaRPr>
          </a:p>
          <a:p>
            <a:pPr indent="0" algn="just">
              <a:buFont typeface="Wingdings" panose="05000000000000000000" charset="0"/>
              <a:buNone/>
            </a:pPr>
            <a:r>
              <a:rPr lang="en-US" altLang="en-US" sz="2400" b="0">
                <a:sym typeface="+mn-ea"/>
              </a:rPr>
              <a:t>    Sensitive data remains on-device, reducing exposure to cyber threats.</a:t>
            </a:r>
            <a:endParaRPr lang="en-US" altLang="en-US" sz="2400" b="0"/>
          </a:p>
          <a:p>
            <a:pPr marL="342900" indent="-342900" algn="just">
              <a:buFont typeface="Wingdings" panose="05000000000000000000" charset="0"/>
              <a:buChar char="v"/>
            </a:pPr>
            <a:r>
              <a:rPr lang="en-US" altLang="en-US" sz="2400">
                <a:sym typeface="+mn-ea"/>
              </a:rPr>
              <a:t>Scalability</a:t>
            </a:r>
            <a:endParaRPr lang="en-US" altLang="en-US" sz="2400"/>
          </a:p>
          <a:p>
            <a:pPr indent="0" algn="just">
              <a:buFont typeface="Wingdings" panose="05000000000000000000" charset="0"/>
              <a:buNone/>
            </a:pPr>
            <a:r>
              <a:rPr lang="en-US" altLang="en-US" sz="2400" b="0">
                <a:sym typeface="+mn-ea"/>
              </a:rPr>
              <a:t>    Handles large volumes of data (e.g., video streams) without cloud overload.</a:t>
            </a:r>
            <a:endParaRPr lang="en-US" altLang="en-US" sz="2400" b="0"/>
          </a:p>
          <a:p>
            <a:pPr marL="342900" indent="-342900" algn="just">
              <a:buFont typeface="Wingdings" panose="05000000000000000000" charset="0"/>
              <a:buChar char="v"/>
            </a:pPr>
            <a:r>
              <a:rPr lang="en-US" altLang="en-US" sz="2400">
                <a:sym typeface="+mn-ea"/>
              </a:rPr>
              <a:t>Improved Reliability</a:t>
            </a:r>
            <a:endParaRPr lang="en-US" altLang="en-US" sz="2400"/>
          </a:p>
          <a:p>
            <a:pPr indent="0" algn="just">
              <a:buFont typeface="Wingdings" panose="05000000000000000000" charset="0"/>
              <a:buNone/>
            </a:pPr>
            <a:r>
              <a:rPr lang="en-US" altLang="en-US" sz="2400" b="0">
                <a:sym typeface="+mn-ea"/>
              </a:rPr>
              <a:t>    Continues functioning even during connectivity description.</a:t>
            </a:r>
            <a:endParaRPr lang="en-US" altLang="en-US" sz="2400" b="0"/>
          </a:p>
          <a:p>
            <a:pPr marL="342900" indent="-342900" algn="just">
              <a:buFont typeface="Wingdings" panose="05000000000000000000" charset="0"/>
              <a:buChar char="v"/>
            </a:pPr>
            <a:r>
              <a:rPr lang="en-US" altLang="en-US" sz="2400">
                <a:sym typeface="+mn-ea"/>
              </a:rPr>
              <a:t>Reduced Power Consumption</a:t>
            </a:r>
            <a:endParaRPr lang="en-US" altLang="en-US" sz="2400"/>
          </a:p>
          <a:p>
            <a:pPr indent="0" algn="just">
              <a:buFont typeface="Wingdings" panose="05000000000000000000" charset="0"/>
              <a:buNone/>
            </a:pPr>
            <a:r>
              <a:rPr lang="en-US" altLang="en-US" sz="2400" b="0">
                <a:sym typeface="+mn-ea"/>
              </a:rPr>
              <a:t>     Less data transmission leads to lower </a:t>
            </a:r>
            <a:r>
              <a:rPr lang="en-US" altLang="en-US" sz="2400" b="0">
                <a:solidFill>
                  <a:srgbClr val="FF0000"/>
                </a:solidFill>
                <a:sym typeface="+mn-ea"/>
              </a:rPr>
              <a:t>network-related power usage</a:t>
            </a:r>
            <a:r>
              <a:rPr lang="en-US" altLang="en-US" b="0">
                <a:solidFill>
                  <a:srgbClr val="FF0000"/>
                </a:solidFill>
                <a:sym typeface="+mn-ea"/>
              </a:rPr>
              <a:t>.</a:t>
            </a:r>
            <a:endParaRPr lang="en-US" altLang="en-US" b="0"/>
          </a:p>
          <a:p>
            <a:endParaRPr 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660" y="2023110"/>
            <a:ext cx="11511280" cy="3323590"/>
          </a:xfrm>
        </p:spPr>
        <p:txBody>
          <a:bodyPr wrap="square"/>
          <a:p>
            <a:pPr marL="0" indent="0" algn="ctr">
              <a:buNone/>
            </a:pPr>
            <a:endParaRPr lang="en-US" altLang="en-US">
              <a:sym typeface="+mn-ea"/>
            </a:endParaRPr>
          </a:p>
          <a:p>
            <a:pPr marL="0" indent="0" algn="ctr">
              <a:buNone/>
            </a:pPr>
            <a:r>
              <a:rPr lang="en-US" altLang="en-US"/>
              <a:t>CO1: Explain current trends driving the adoption of Edge AI.</a:t>
            </a:r>
            <a:endParaRPr lang="en-US" altLang="en-US"/>
          </a:p>
          <a:p>
            <a:pPr marL="0" indent="0" algn="ctr">
              <a:buNone/>
            </a:pPr>
            <a:endParaRPr lang="en-US" altLang="en-US"/>
          </a:p>
          <a:p>
            <a:pPr marL="0" indent="0" algn="ctr">
              <a:buNone/>
            </a:pPr>
            <a:r>
              <a:rPr lang="en-US" altLang="en-US"/>
              <a:t>CO2: Describe how Edge AI is applied in smart cities or healthcare</a:t>
            </a:r>
            <a:endParaRPr lang="en-US" altLang="en-US"/>
          </a:p>
          <a:p>
            <a:pPr marL="0" indent="0" algn="ctr">
              <a:buNone/>
            </a:pPr>
            <a:endParaRPr lang="en-US" altLang="en-US"/>
          </a:p>
          <a:p>
            <a:pPr marL="0" indent="0" algn="just">
              <a:buNone/>
            </a:pPr>
            <a:r>
              <a:rPr lang="en-US" altLang="en-US"/>
              <a:t>CO3:</a:t>
            </a:r>
            <a:r>
              <a:rPr lang="en-US" altLang="en-US" b="0"/>
              <a:t>In a smart city, multiple IoT devices like traffic cameras and environmental sensors continuously send data to Edge Nodes for processing. However, the Edge Nodes often experience overloading due to the high volume of data and real-time processing demands</a:t>
            </a:r>
            <a:r>
              <a:rPr lang="en-US" altLang="en-US"/>
              <a:t>. Identify the Critical Issues of Edge Nodes</a:t>
            </a:r>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2" name="Text Box 1"/>
          <p:cNvSpPr txBox="1"/>
          <p:nvPr/>
        </p:nvSpPr>
        <p:spPr>
          <a:xfrm>
            <a:off x="2362200" y="838200"/>
            <a:ext cx="6096000" cy="768350"/>
          </a:xfrm>
          <a:prstGeom prst="rect">
            <a:avLst/>
          </a:prstGeom>
          <a:noFill/>
        </p:spPr>
        <p:txBody>
          <a:bodyPr wrap="square" rtlCol="0" anchor="t">
            <a:spAutoFit/>
          </a:bodyPr>
          <a:p>
            <a:pPr marL="0" indent="0">
              <a:buNone/>
            </a:pPr>
            <a:r>
              <a:rPr lang="en-US" altLang="en-US" sz="4400">
                <a:sym typeface="+mn-ea"/>
              </a:rPr>
              <a:t>Module I –L4</a:t>
            </a:r>
            <a:endParaRPr lang="en-US" altLang="en-US" sz="440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6622" y="685749"/>
            <a:ext cx="10410545" cy="707390"/>
          </a:xfrm>
        </p:spPr>
        <p:txBody>
          <a:bodyPr/>
          <a:p>
            <a:r>
              <a:rPr lang="en-US" b="1"/>
              <a:t>Smart City</a:t>
            </a:r>
            <a:endParaRPr lang="en-US" b="1"/>
          </a:p>
        </p:txBody>
      </p:sp>
      <p:graphicFrame>
        <p:nvGraphicFramePr>
          <p:cNvPr id="4" name="Object 3"/>
          <p:cNvGraphicFramePr/>
          <p:nvPr/>
        </p:nvGraphicFramePr>
        <p:xfrm>
          <a:off x="914400" y="1676400"/>
          <a:ext cx="10330815" cy="4547235"/>
        </p:xfrm>
        <a:graphic>
          <a:graphicData uri="http://schemas.openxmlformats.org/presentationml/2006/ole">
            <mc:AlternateContent xmlns:mc="http://schemas.openxmlformats.org/markup-compatibility/2006">
              <mc:Choice xmlns:v="urn:schemas-microsoft-com:vml" Requires="v">
                <p:oleObj spid="_x0000_s5" name="" r:id="rId1" imgW="8020050" imgH="4543425" progId="Paint.Picture">
                  <p:embed/>
                </p:oleObj>
              </mc:Choice>
              <mc:Fallback>
                <p:oleObj name="" r:id="rId1" imgW="8020050" imgH="4543425" progId="Paint.Picture">
                  <p:embed/>
                  <p:pic>
                    <p:nvPicPr>
                      <p:cNvPr id="0" name="Picture 4"/>
                      <p:cNvPicPr/>
                      <p:nvPr/>
                    </p:nvPicPr>
                    <p:blipFill>
                      <a:blip r:embed="rId2"/>
                      <a:stretch>
                        <a:fillRect/>
                      </a:stretch>
                    </p:blipFill>
                    <p:spPr>
                      <a:xfrm>
                        <a:off x="914400" y="1676400"/>
                        <a:ext cx="10330815" cy="4547235"/>
                      </a:xfrm>
                      <a:prstGeom prst="rect">
                        <a:avLst/>
                      </a:prstGeom>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ltLang="en-US"/>
              <a:t>Current Trends and Applications </a:t>
            </a:r>
            <a:endParaRPr lang="en-US" altLang="en-US"/>
          </a:p>
        </p:txBody>
      </p:sp>
      <p:sp>
        <p:nvSpPr>
          <p:cNvPr id="3" name="Content Placeholder 2"/>
          <p:cNvSpPr>
            <a:spLocks noGrp="1"/>
          </p:cNvSpPr>
          <p:nvPr>
            <p:ph idx="1"/>
          </p:nvPr>
        </p:nvSpPr>
        <p:spPr>
          <a:xfrm>
            <a:off x="381101" y="1523492"/>
            <a:ext cx="10824845" cy="4431665"/>
          </a:xfrm>
        </p:spPr>
        <p:txBody>
          <a:bodyPr/>
          <a:p>
            <a:pPr marL="0" indent="0" algn="ctr">
              <a:buNone/>
            </a:pPr>
            <a:r>
              <a:rPr lang="en-US" altLang="en-US" sz="2400" b="1"/>
              <a:t>Smart Transit (Intelligent Transportation)</a:t>
            </a:r>
            <a:endParaRPr lang="en-US" altLang="en-US" sz="2400" b="1"/>
          </a:p>
          <a:p>
            <a:pPr marL="342900" indent="-342900">
              <a:buFont typeface="Wingdings" panose="05000000000000000000" charset="0"/>
              <a:buChar char="v"/>
            </a:pPr>
            <a:r>
              <a:rPr lang="en-US" altLang="en-US" sz="2400" b="1"/>
              <a:t>Cities aim to reduce:</a:t>
            </a:r>
            <a:endParaRPr lang="en-US" altLang="en-US" sz="2400" b="1"/>
          </a:p>
          <a:p>
            <a:pPr indent="0">
              <a:buFont typeface="Wingdings" panose="05000000000000000000" charset="0"/>
              <a:buNone/>
            </a:pPr>
            <a:r>
              <a:rPr lang="en-US" altLang="en-US" sz="2400" b="0"/>
              <a:t>    Traffic congestion</a:t>
            </a:r>
            <a:endParaRPr lang="en-US" altLang="en-US" sz="2400" b="0"/>
          </a:p>
          <a:p>
            <a:pPr indent="0">
              <a:buFont typeface="Wingdings" panose="05000000000000000000" charset="0"/>
              <a:buNone/>
            </a:pPr>
            <a:r>
              <a:rPr lang="en-US" altLang="en-US" sz="2400" b="0"/>
              <a:t>     Fuel consumption</a:t>
            </a:r>
            <a:endParaRPr lang="en-US" altLang="en-US" sz="2400" b="0"/>
          </a:p>
          <a:p>
            <a:pPr indent="0">
              <a:buFont typeface="Wingdings" panose="05000000000000000000" charset="0"/>
              <a:buNone/>
            </a:pPr>
            <a:r>
              <a:rPr lang="en-US" altLang="en-US" sz="2400" b="0"/>
              <a:t>     Delays due to poor traffic management</a:t>
            </a:r>
            <a:endParaRPr lang="en-US" altLang="en-US" sz="2400" b="0"/>
          </a:p>
          <a:p>
            <a:pPr marL="342900" indent="-342900">
              <a:buFont typeface="Wingdings" panose="05000000000000000000" charset="0"/>
              <a:buChar char="v"/>
            </a:pPr>
            <a:r>
              <a:rPr lang="en-US" altLang="en-US" sz="2400"/>
              <a:t>Edge servers analyze data from</a:t>
            </a:r>
            <a:r>
              <a:rPr lang="en-US" altLang="en-US" sz="2400" b="0"/>
              <a:t>:</a:t>
            </a:r>
            <a:endParaRPr lang="en-US" altLang="en-US" sz="2400" b="0"/>
          </a:p>
          <a:p>
            <a:pPr indent="0">
              <a:buFont typeface="Wingdings" panose="05000000000000000000" charset="0"/>
              <a:buNone/>
            </a:pPr>
            <a:r>
              <a:rPr lang="en-US" altLang="en-US" sz="2400" b="0"/>
              <a:t>    Smart traffic sensors</a:t>
            </a:r>
            <a:endParaRPr lang="en-US" altLang="en-US" sz="2400" b="0"/>
          </a:p>
          <a:p>
            <a:pPr indent="0">
              <a:buFont typeface="Wingdings" panose="05000000000000000000" charset="0"/>
              <a:buNone/>
            </a:pPr>
            <a:r>
              <a:rPr lang="en-US" altLang="en-US" sz="2400" b="0"/>
              <a:t>    CCTV cameras</a:t>
            </a:r>
            <a:endParaRPr lang="en-US" altLang="en-US" sz="2400" b="0"/>
          </a:p>
          <a:p>
            <a:pPr marL="342900" indent="-342900">
              <a:buFont typeface="Wingdings" panose="05000000000000000000" charset="0"/>
              <a:buChar char="v"/>
            </a:pPr>
            <a:r>
              <a:rPr lang="en-US" altLang="en-US" sz="2400" b="1"/>
              <a:t>Enables:</a:t>
            </a:r>
            <a:endParaRPr lang="en-US" altLang="en-US" sz="2400" b="1"/>
          </a:p>
          <a:p>
            <a:pPr marL="0" indent="0">
              <a:buNone/>
            </a:pPr>
            <a:r>
              <a:rPr lang="en-US" altLang="en-US" sz="2400" b="0"/>
              <a:t>    Adaptive traffic signal control</a:t>
            </a:r>
            <a:endParaRPr lang="en-US" altLang="en-US" sz="2400" b="0"/>
          </a:p>
          <a:p>
            <a:pPr marL="0" indent="0">
              <a:buNone/>
            </a:pPr>
            <a:r>
              <a:rPr lang="en-US" altLang="en-US" sz="2400" b="0"/>
              <a:t>    Real-time vehicle movement analysis</a:t>
            </a:r>
            <a:endParaRPr lang="en-US" altLang="en-US" sz="2400" b="0"/>
          </a:p>
          <a:p>
            <a:endParaRPr lang="en-US" altLang="en-US" sz="24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3" name="Content Placeholder 2"/>
          <p:cNvSpPr>
            <a:spLocks noGrp="1"/>
          </p:cNvSpPr>
          <p:nvPr>
            <p:ph idx="1"/>
          </p:nvPr>
        </p:nvSpPr>
        <p:spPr>
          <a:xfrm>
            <a:off x="327660" y="1905000"/>
            <a:ext cx="10824845" cy="4318635"/>
          </a:xfrm>
        </p:spPr>
        <p:txBody>
          <a:bodyPr>
            <a:noAutofit/>
          </a:bodyPr>
          <a:p>
            <a:pPr marL="457200" indent="-457200">
              <a:buFont typeface="Wingdings" panose="05000000000000000000" charset="0"/>
              <a:buChar char="v"/>
            </a:pPr>
            <a:r>
              <a:rPr lang="en-US" altLang="en-US" sz="2800">
                <a:sym typeface="+mn-ea"/>
              </a:rPr>
              <a:t>Intelligent parking systems</a:t>
            </a:r>
            <a:r>
              <a:rPr lang="en-US" altLang="en-US" sz="2800" b="0">
                <a:sym typeface="+mn-ea"/>
              </a:rPr>
              <a:t> </a:t>
            </a:r>
            <a:endParaRPr lang="en-US" altLang="en-US" sz="2800" b="0">
              <a:sym typeface="+mn-ea"/>
            </a:endParaRPr>
          </a:p>
          <a:p>
            <a:r>
              <a:rPr lang="en-US" altLang="en-US" sz="2800" b="0">
                <a:sym typeface="+mn-ea"/>
              </a:rPr>
              <a:t>provide location-based parking availability.</a:t>
            </a:r>
            <a:endParaRPr lang="en-US" altLang="en-US" sz="2800" b="0"/>
          </a:p>
          <a:p>
            <a:pPr marL="457200" indent="-457200">
              <a:buFont typeface="Wingdings" panose="05000000000000000000" charset="0"/>
              <a:buChar char="v"/>
            </a:pPr>
            <a:r>
              <a:rPr lang="en-US" altLang="en-US" sz="2800">
                <a:sym typeface="+mn-ea"/>
              </a:rPr>
              <a:t>Limitations of cloud computing:</a:t>
            </a:r>
            <a:endParaRPr lang="en-US" altLang="en-US" sz="2800"/>
          </a:p>
          <a:p>
            <a:pPr marL="0" indent="0">
              <a:buNone/>
            </a:pPr>
            <a:r>
              <a:rPr lang="en-US" altLang="en-US" sz="2800" b="0">
                <a:sym typeface="+mn-ea"/>
              </a:rPr>
              <a:t>High latency</a:t>
            </a:r>
            <a:endParaRPr lang="en-US" altLang="en-US" sz="2800" b="0"/>
          </a:p>
          <a:p>
            <a:pPr marL="0" indent="0">
              <a:buNone/>
            </a:pPr>
            <a:r>
              <a:rPr lang="en-US" altLang="en-US" sz="2800" b="0">
                <a:sym typeface="+mn-ea"/>
              </a:rPr>
              <a:t>Lack of real-time safety guarantees</a:t>
            </a:r>
            <a:endParaRPr lang="en-US" altLang="en-US" sz="2800" b="0"/>
          </a:p>
          <a:p>
            <a:pPr marL="457200" indent="-457200">
              <a:buFont typeface="Wingdings" panose="05000000000000000000" charset="0"/>
              <a:buChar char="v"/>
            </a:pPr>
            <a:r>
              <a:rPr lang="en-US" altLang="en-US" sz="2800">
                <a:sym typeface="+mn-ea"/>
              </a:rPr>
              <a:t>Edge computing enables:</a:t>
            </a:r>
            <a:endParaRPr lang="en-US" altLang="en-US" sz="2800"/>
          </a:p>
          <a:p>
            <a:pPr marL="0" indent="0">
              <a:buNone/>
            </a:pPr>
            <a:r>
              <a:rPr lang="en-US" altLang="en-US" sz="2800" b="0">
                <a:sym typeface="+mn-ea"/>
              </a:rPr>
              <a:t>Faster decision-making</a:t>
            </a:r>
            <a:endParaRPr lang="en-US" altLang="en-US" sz="2800" b="0"/>
          </a:p>
          <a:p>
            <a:pPr marL="0" indent="0">
              <a:buNone/>
            </a:pPr>
            <a:r>
              <a:rPr lang="en-US" altLang="en-US" sz="2800" b="0">
                <a:sym typeface="+mn-ea"/>
              </a:rPr>
              <a:t>Low-latency responses for autonomous vehicles</a:t>
            </a:r>
            <a:endParaRPr lang="en-US" altLang="en-US" sz="2800" b="0">
              <a:sym typeface="+mn-ea"/>
            </a:endParaRPr>
          </a:p>
          <a:p>
            <a:pPr marL="0" indent="0">
              <a:buNone/>
            </a:pPr>
            <a:r>
              <a:rPr lang="en-US" altLang="en-US" sz="2800" b="0">
                <a:sym typeface="+mn-ea"/>
              </a:rPr>
              <a:t>Smart industries</a:t>
            </a:r>
            <a:endParaRPr lang="en-US" altLang="en-US" sz="2800" b="0">
              <a:sym typeface="+mn-ea"/>
            </a:endParaRPr>
          </a:p>
          <a:p>
            <a:pPr marL="0" indent="0">
              <a:buNone/>
            </a:pPr>
            <a:r>
              <a:rPr lang="en-US" altLang="en-US" sz="2800" b="0">
                <a:sym typeface="+mn-ea"/>
              </a:rPr>
              <a:t>UAV</a:t>
            </a:r>
            <a:endParaRPr lang="en-US" altLang="en-US" sz="2800" b="0"/>
          </a:p>
          <a:p>
            <a:endParaRPr lang="en-US" sz="28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9070" y="762000"/>
            <a:ext cx="12012930" cy="707390"/>
          </a:xfrm>
        </p:spPr>
        <p:txBody>
          <a:bodyPr wrap="square"/>
          <a:p>
            <a:r>
              <a:rPr lang="en-US" altLang="en-US" b="1">
                <a:sym typeface="+mn-ea"/>
              </a:rPr>
              <a:t>Current Problems and Emerging Trends in Edge AI</a:t>
            </a:r>
            <a:endParaRPr lang="en-US"/>
          </a:p>
        </p:txBody>
      </p:sp>
      <p:graphicFrame>
        <p:nvGraphicFramePr>
          <p:cNvPr id="4" name="Object 3"/>
          <p:cNvGraphicFramePr/>
          <p:nvPr/>
        </p:nvGraphicFramePr>
        <p:xfrm>
          <a:off x="890905" y="1967865"/>
          <a:ext cx="10410190" cy="4170680"/>
        </p:xfrm>
        <a:graphic>
          <a:graphicData uri="http://schemas.openxmlformats.org/presentationml/2006/ole">
            <mc:AlternateContent xmlns:mc="http://schemas.openxmlformats.org/markup-compatibility/2006">
              <mc:Choice xmlns:v="urn:schemas-microsoft-com:vml" Requires="v">
                <p:oleObj spid="_x0000_s5" name="" r:id="rId1" imgW="6076950" imgH="2162175" progId="Paint.Picture">
                  <p:embed/>
                </p:oleObj>
              </mc:Choice>
              <mc:Fallback>
                <p:oleObj name="" r:id="rId1" imgW="6076950" imgH="2162175" progId="Paint.Picture">
                  <p:embed/>
                  <p:pic>
                    <p:nvPicPr>
                      <p:cNvPr id="0" name="Picture 4"/>
                      <p:cNvPicPr/>
                      <p:nvPr/>
                    </p:nvPicPr>
                    <p:blipFill>
                      <a:blip r:embed="rId2"/>
                      <a:stretch>
                        <a:fillRect/>
                      </a:stretch>
                    </p:blipFill>
                    <p:spPr>
                      <a:xfrm>
                        <a:off x="890905" y="1967865"/>
                        <a:ext cx="10410190" cy="4170680"/>
                      </a:xfrm>
                      <a:prstGeom prst="rect">
                        <a:avLst/>
                      </a:prstGeom>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022" y="838149"/>
            <a:ext cx="10410545" cy="615315"/>
          </a:xfrm>
        </p:spPr>
        <p:txBody>
          <a:bodyPr/>
          <a:p>
            <a:r>
              <a:rPr lang="en-US" altLang="en-US" sz="4000" b="1">
                <a:sym typeface="+mn-ea"/>
              </a:rPr>
              <a:t>Current Problems and Emerging Trends in Edge AI</a:t>
            </a:r>
            <a:endParaRPr lang="en-US" sz="4000" b="1"/>
          </a:p>
        </p:txBody>
      </p:sp>
      <p:sp>
        <p:nvSpPr>
          <p:cNvPr id="3" name="Content Placeholder 2"/>
          <p:cNvSpPr>
            <a:spLocks noGrp="1"/>
          </p:cNvSpPr>
          <p:nvPr>
            <p:ph idx="1"/>
          </p:nvPr>
        </p:nvSpPr>
        <p:spPr>
          <a:xfrm>
            <a:off x="327761" y="2023237"/>
            <a:ext cx="10824845" cy="4062730"/>
          </a:xfrm>
        </p:spPr>
        <p:txBody>
          <a:bodyPr/>
          <a:p>
            <a:pPr marL="342900" indent="-342900">
              <a:buFont typeface="Wingdings" panose="05000000000000000000" charset="0"/>
              <a:buChar char="v"/>
            </a:pPr>
            <a:r>
              <a:rPr lang="en-US" altLang="en-US" sz="2400" b="1"/>
              <a:t>Increased Adoption</a:t>
            </a:r>
            <a:endParaRPr lang="en-US" altLang="en-US" sz="2400" b="1"/>
          </a:p>
          <a:p>
            <a:r>
              <a:rPr lang="en-US" altLang="en-US" sz="2400" b="0"/>
              <a:t>More devices capable of local AI processing</a:t>
            </a:r>
            <a:endParaRPr lang="en-US" altLang="en-US" sz="2400" b="0"/>
          </a:p>
          <a:p>
            <a:r>
              <a:rPr lang="en-US" altLang="en-US" sz="2400" b="0"/>
              <a:t>Edge AI becoming mainstream</a:t>
            </a:r>
            <a:endParaRPr lang="en-US" altLang="en-US" sz="2400" b="0"/>
          </a:p>
          <a:p>
            <a:pPr marL="342900" indent="-342900">
              <a:buFont typeface="Wingdings" panose="05000000000000000000" charset="0"/>
              <a:buChar char="v"/>
            </a:pPr>
            <a:r>
              <a:rPr lang="en-US" altLang="en-US" sz="2400" b="1"/>
              <a:t>Faster Processing</a:t>
            </a:r>
            <a:endParaRPr lang="en-US" altLang="en-US" sz="2400"/>
          </a:p>
          <a:p>
            <a:r>
              <a:rPr lang="en-US" altLang="en-US" sz="2400" b="0"/>
              <a:t>Advanced processors on edge devices</a:t>
            </a:r>
            <a:endParaRPr lang="en-US" altLang="en-US" sz="2400" b="0"/>
          </a:p>
          <a:p>
            <a:r>
              <a:rPr lang="en-US" altLang="en-US" sz="2400" b="0"/>
              <a:t>Improved AI performance and response times</a:t>
            </a:r>
            <a:endParaRPr lang="en-US" altLang="en-US" sz="2400" b="0"/>
          </a:p>
          <a:p>
            <a:pPr marL="342900" indent="-342900">
              <a:buFont typeface="Wingdings" panose="05000000000000000000" charset="0"/>
              <a:buChar char="v"/>
            </a:pPr>
            <a:r>
              <a:rPr lang="en-US" altLang="en-US" sz="2400" b="1"/>
              <a:t>Improved Accuracy</a:t>
            </a:r>
            <a:endParaRPr lang="en-US" altLang="en-US" sz="2400"/>
          </a:p>
          <a:p>
            <a:r>
              <a:rPr lang="en-US" altLang="en-US" sz="2400" b="0"/>
              <a:t>Better data quality</a:t>
            </a:r>
            <a:endParaRPr lang="en-US" altLang="en-US" sz="2400" b="0"/>
          </a:p>
          <a:p>
            <a:r>
              <a:rPr lang="en-US" altLang="en-US" sz="2400" b="0"/>
              <a:t>Advanced algorithms</a:t>
            </a:r>
            <a:endParaRPr lang="en-US" altLang="en-US" sz="2400" b="0"/>
          </a:p>
          <a:p>
            <a:r>
              <a:rPr lang="en-US" altLang="en-US" sz="2400" b="0"/>
              <a:t>Multi-source data integration</a:t>
            </a:r>
            <a:endParaRPr lang="en-US" altLang="en-US" sz="2400" b="0"/>
          </a:p>
          <a:p>
            <a:pPr marL="0" indent="0">
              <a:buNone/>
            </a:pPr>
            <a:endParaRPr lang="en-US" altLang="en-US" sz="1200"/>
          </a:p>
          <a:p>
            <a:endParaRPr lang="en-US" altLang="en-US" sz="12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71422" y="838149"/>
            <a:ext cx="10410545" cy="707390"/>
          </a:xfrm>
        </p:spPr>
        <p:txBody>
          <a:bodyPr/>
          <a:p>
            <a:r>
              <a:rPr lang="en-US"/>
              <a:t>conti...</a:t>
            </a:r>
            <a:endParaRPr lang="en-US"/>
          </a:p>
        </p:txBody>
      </p:sp>
      <p:sp>
        <p:nvSpPr>
          <p:cNvPr id="3" name="Content Placeholder 2"/>
          <p:cNvSpPr>
            <a:spLocks noGrp="1"/>
          </p:cNvSpPr>
          <p:nvPr>
            <p:ph idx="1"/>
          </p:nvPr>
        </p:nvSpPr>
        <p:spPr>
          <a:xfrm>
            <a:off x="1295400" y="1981200"/>
            <a:ext cx="9834880" cy="3693160"/>
          </a:xfrm>
        </p:spPr>
        <p:txBody>
          <a:bodyPr wrap="square"/>
          <a:p>
            <a:pPr marL="342900" indent="-342900">
              <a:buFont typeface="Wingdings" panose="05000000000000000000" charset="0"/>
              <a:buChar char="v"/>
            </a:pPr>
            <a:r>
              <a:rPr lang="en-US" altLang="en-US" sz="2400" b="1">
                <a:sym typeface="+mn-ea"/>
              </a:rPr>
              <a:t>Privacy and Security</a:t>
            </a:r>
            <a:endParaRPr lang="en-US" altLang="en-US" sz="2400"/>
          </a:p>
          <a:p>
            <a:r>
              <a:rPr lang="en-US" altLang="en-US" sz="2400" b="0">
                <a:sym typeface="+mn-ea"/>
              </a:rPr>
              <a:t>Local data processing raises privacy concerns</a:t>
            </a:r>
            <a:endParaRPr lang="en-US" altLang="en-US" sz="2400" b="0"/>
          </a:p>
          <a:p>
            <a:r>
              <a:rPr lang="en-US" altLang="en-US" sz="2400" b="0">
                <a:sym typeface="+mn-ea"/>
              </a:rPr>
              <a:t>Federated learning reduces raw data sharing</a:t>
            </a:r>
            <a:endParaRPr lang="en-US" altLang="en-US" sz="2400" b="0"/>
          </a:p>
          <a:p>
            <a:pPr marL="342900" indent="-342900">
              <a:buFont typeface="Wingdings" panose="05000000000000000000" charset="0"/>
              <a:buChar char="v"/>
            </a:pPr>
            <a:r>
              <a:rPr lang="en-US" altLang="en-US" sz="2400" b="1">
                <a:sym typeface="+mn-ea"/>
              </a:rPr>
              <a:t>Energy Efficiency</a:t>
            </a:r>
            <a:endParaRPr lang="en-US" altLang="en-US" sz="2400" b="1"/>
          </a:p>
          <a:p>
            <a:r>
              <a:rPr lang="en-US" altLang="en-US" sz="2400" b="0">
                <a:sym typeface="+mn-ea"/>
              </a:rPr>
              <a:t>Battery-powered edge devices need low-power designs</a:t>
            </a:r>
            <a:endParaRPr lang="en-US" altLang="en-US" sz="2400" b="0"/>
          </a:p>
          <a:p>
            <a:r>
              <a:rPr lang="en-US" altLang="en-US" sz="2400" b="0">
                <a:sym typeface="+mn-ea"/>
              </a:rPr>
              <a:t>Use of quantization and model compression</a:t>
            </a:r>
            <a:endParaRPr lang="en-US" altLang="en-US" sz="2400" b="0"/>
          </a:p>
          <a:p>
            <a:pPr marL="342900" indent="-342900">
              <a:buFont typeface="Wingdings" panose="05000000000000000000" charset="0"/>
              <a:buChar char="v"/>
            </a:pPr>
            <a:r>
              <a:rPr lang="en-US" altLang="en-US" sz="2400" b="1">
                <a:sym typeface="+mn-ea"/>
              </a:rPr>
              <a:t>Edge-to-Cloud Integration</a:t>
            </a:r>
            <a:endParaRPr lang="en-US" altLang="en-US" sz="2400" b="1"/>
          </a:p>
          <a:p>
            <a:r>
              <a:rPr lang="en-US" altLang="en-US" sz="2400" b="0">
                <a:sym typeface="+mn-ea"/>
              </a:rPr>
              <a:t>Hybrid systems combine strengths of both</a:t>
            </a:r>
            <a:endParaRPr lang="en-US" altLang="en-US" sz="2400" b="0"/>
          </a:p>
          <a:p>
            <a:r>
              <a:rPr lang="en-US" altLang="en-US" sz="2400" b="0">
                <a:sym typeface="+mn-ea"/>
              </a:rPr>
              <a:t>Cloud for model training</a:t>
            </a:r>
            <a:endParaRPr lang="en-US" altLang="en-US" sz="2400" b="0"/>
          </a:p>
          <a:p>
            <a:r>
              <a:rPr lang="en-US" altLang="en-US" sz="2400" b="0">
                <a:sym typeface="+mn-ea"/>
              </a:rPr>
              <a:t>Edge for real-time decision</a:t>
            </a:r>
            <a:endParaRPr lang="en-US" sz="24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761" y="2023237"/>
            <a:ext cx="10824845" cy="1477010"/>
          </a:xfrm>
        </p:spPr>
        <p:txBody>
          <a:bodyPr/>
          <a:p>
            <a:pPr marL="0" indent="0">
              <a:buNone/>
            </a:pPr>
            <a:r>
              <a:rPr lang="en-US" altLang="en-US">
                <a:sym typeface="+mn-ea"/>
              </a:rPr>
              <a:t>CO1:Explain the future prospects of edge computing in next-generation networks.</a:t>
            </a:r>
            <a:endParaRPr lang="en-US" altLang="en-US">
              <a:sym typeface="+mn-ea"/>
            </a:endParaRPr>
          </a:p>
          <a:p>
            <a:pPr marL="0" indent="0">
              <a:buNone/>
            </a:pPr>
            <a:r>
              <a:rPr lang="en-US" altLang="en-US">
                <a:sym typeface="+mn-ea"/>
              </a:rPr>
              <a:t>CO2:Describe how Edge AI will influence future IoT applications.</a:t>
            </a:r>
            <a:endParaRPr lang="en-US" altLang="en-US">
              <a:sym typeface="+mn-ea"/>
            </a:endParaRPr>
          </a:p>
          <a:p>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2" name="Text Box 1"/>
          <p:cNvSpPr txBox="1"/>
          <p:nvPr/>
        </p:nvSpPr>
        <p:spPr>
          <a:xfrm>
            <a:off x="1804670" y="570865"/>
            <a:ext cx="4064000" cy="1198880"/>
          </a:xfrm>
          <a:prstGeom prst="rect">
            <a:avLst/>
          </a:prstGeom>
          <a:noFill/>
        </p:spPr>
        <p:txBody>
          <a:bodyPr wrap="square" rtlCol="0">
            <a:spAutoFit/>
          </a:bodyPr>
          <a:p>
            <a:r>
              <a:rPr lang="en-US" altLang="en-US" sz="3600" b="1">
                <a:latin typeface="Cambria" panose="02040503050406030204" charset="0"/>
                <a:cs typeface="Cambria" panose="02040503050406030204" charset="0"/>
                <a:sym typeface="+mn-ea"/>
              </a:rPr>
              <a:t>Module I –L5</a:t>
            </a:r>
            <a:endParaRPr lang="en-US" altLang="en-US" sz="3600" b="1">
              <a:latin typeface="Cambria" panose="02040503050406030204" charset="0"/>
              <a:cs typeface="Cambria" panose="02040503050406030204" charset="0"/>
              <a:sym typeface="+mn-ea"/>
            </a:endParaRPr>
          </a:p>
          <a:p>
            <a:endParaRPr lang="en-US" sz="3600" b="1">
              <a:latin typeface="Cambria" panose="02040503050406030204" charset="0"/>
              <a:cs typeface="Cambria" panose="020405030504060302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a:latin typeface="+mn-ea"/>
                <a:ea typeface="Calibri" panose="020F0502020204030204"/>
                <a:cs typeface="+mn-ea"/>
                <a:sym typeface="+mn-ea"/>
              </a:rPr>
              <a:t>Future prospects of Edge</a:t>
            </a:r>
            <a:endParaRPr lang="en-US"/>
          </a:p>
        </p:txBody>
      </p:sp>
      <p:pic>
        <p:nvPicPr>
          <p:cNvPr id="6" name="Picture 5"/>
          <p:cNvPicPr/>
          <p:nvPr/>
        </p:nvPicPr>
        <p:blipFill>
          <a:blip r:embed="rId1"/>
          <a:stretch>
            <a:fillRect/>
          </a:stretch>
        </p:blipFill>
        <p:spPr>
          <a:xfrm>
            <a:off x="664210" y="1175385"/>
            <a:ext cx="10720070" cy="50730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a:latin typeface="+mn-ea"/>
                <a:ea typeface="Calibri" panose="020F0502020204030204"/>
                <a:cs typeface="+mn-ea"/>
                <a:sym typeface="+mn-ea"/>
              </a:rPr>
              <a:t>Future prospects of Edge</a:t>
            </a:r>
            <a:r>
              <a:rPr lang="en-US">
                <a:latin typeface="+mn-ea"/>
                <a:ea typeface="Calibri" panose="020F0502020204030204"/>
                <a:cs typeface="+mn-ea"/>
                <a:sym typeface="+mn-ea"/>
              </a:rPr>
              <a:t>/EdgeAI</a:t>
            </a:r>
            <a:endParaRPr lang="en-US">
              <a:latin typeface="+mn-ea"/>
              <a:ea typeface="Calibri" panose="020F0502020204030204"/>
              <a:cs typeface="+mn-ea"/>
              <a:sym typeface="+mn-ea"/>
            </a:endParaRPr>
          </a:p>
        </p:txBody>
      </p:sp>
      <p:sp>
        <p:nvSpPr>
          <p:cNvPr id="3" name="Content Placeholder 2"/>
          <p:cNvSpPr>
            <a:spLocks noGrp="1"/>
          </p:cNvSpPr>
          <p:nvPr>
            <p:ph idx="1"/>
          </p:nvPr>
        </p:nvSpPr>
        <p:spPr>
          <a:xfrm>
            <a:off x="327761" y="2023237"/>
            <a:ext cx="10824845" cy="4801235"/>
          </a:xfrm>
        </p:spPr>
        <p:txBody>
          <a:bodyPr/>
          <a:p>
            <a:pPr marL="0" indent="0">
              <a:buNone/>
            </a:pPr>
            <a:r>
              <a:rPr lang="en-US" altLang="en-US" b="1">
                <a:latin typeface="Cambria" panose="02040503050406030204" charset="0"/>
                <a:cs typeface="Cambria" panose="02040503050406030204" charset="0"/>
              </a:rPr>
              <a:t>Resource Computation at the Edge</a:t>
            </a:r>
            <a:endParaRPr lang="en-US" altLang="en-US" b="1">
              <a:latin typeface="Cambria" panose="02040503050406030204" charset="0"/>
              <a:cs typeface="Cambria" panose="02040503050406030204" charset="0"/>
            </a:endParaRPr>
          </a:p>
          <a:p>
            <a:r>
              <a:rPr lang="en-US" altLang="en-US" b="0">
                <a:latin typeface="Cambria" panose="02040503050406030204" charset="0"/>
                <a:cs typeface="Cambria" panose="02040503050406030204" charset="0"/>
              </a:rPr>
              <a:t>Most edge hardware is not designed for heavy computation.</a:t>
            </a:r>
            <a:endParaRPr lang="en-US" altLang="en-US" b="0">
              <a:latin typeface="Cambria" panose="02040503050406030204" charset="0"/>
              <a:cs typeface="Cambria" panose="02040503050406030204" charset="0"/>
            </a:endParaRPr>
          </a:p>
          <a:p>
            <a:r>
              <a:rPr lang="en-US" altLang="en-US" b="0">
                <a:latin typeface="Cambria" panose="02040503050406030204" charset="0"/>
                <a:cs typeface="Cambria" panose="02040503050406030204" charset="0"/>
              </a:rPr>
              <a:t>Software-based solutions are emerging to overcome limitations</a:t>
            </a:r>
            <a:r>
              <a:rPr lang="en-US" altLang="en-US">
                <a:latin typeface="Cambria" panose="02040503050406030204" charset="0"/>
                <a:cs typeface="Cambria" panose="02040503050406030204" charset="0"/>
              </a:rPr>
              <a:t>.</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rPr>
              <a:t>Examples include:</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rPr>
              <a:t>             </a:t>
            </a:r>
            <a:r>
              <a:rPr lang="en-US" altLang="en-US" b="0">
                <a:latin typeface="Cambria" panose="02040503050406030204" charset="0"/>
                <a:cs typeface="Cambria" panose="02040503050406030204" charset="0"/>
              </a:rPr>
              <a:t>Cloud servers with radio applications</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Virtual machine (VM) hosting at the edge</a:t>
            </a:r>
            <a:endParaRPr lang="en-US" altLang="en-US" b="0">
              <a:latin typeface="Cambria" panose="02040503050406030204" charset="0"/>
              <a:cs typeface="Cambria" panose="02040503050406030204" charset="0"/>
            </a:endParaRPr>
          </a:p>
          <a:p>
            <a:pPr marL="0" indent="0">
              <a:buNone/>
            </a:pPr>
            <a:r>
              <a:rPr lang="en-US" altLang="en-US" b="1">
                <a:latin typeface="Cambria" panose="02040503050406030204" charset="0"/>
                <a:cs typeface="Cambria" panose="02040503050406030204" charset="0"/>
              </a:rPr>
              <a:t>Finding Suitable Edge Nodes and Resources</a:t>
            </a:r>
            <a:endParaRPr lang="en-US" altLang="en-US" b="1">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rPr>
              <a:t>• </a:t>
            </a:r>
            <a:r>
              <a:rPr lang="en-US" altLang="en-US" b="0">
                <a:latin typeface="Cambria" panose="02040503050406030204" charset="0"/>
                <a:cs typeface="Cambria" panose="02040503050406030204" charset="0"/>
              </a:rPr>
              <a:t>Discovery and trust are critical issues in edge networks.</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Mobile devices must:</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Identify suitable edge nodes</a:t>
            </a:r>
            <a:endParaRPr lang="en-US" altLang="en-US" b="0">
              <a:latin typeface="Cambria" panose="02040503050406030204" charset="0"/>
              <a:cs typeface="Cambria" panose="02040503050406030204" charset="0"/>
            </a:endParaRPr>
          </a:p>
          <a:p>
            <a:pPr marL="0" indent="0">
              <a:buNone/>
            </a:pPr>
            <a:r>
              <a:rPr lang="en-US" altLang="en-US" b="0">
                <a:latin typeface="Cambria" panose="02040503050406030204" charset="0"/>
                <a:cs typeface="Cambria" panose="02040503050406030204" charset="0"/>
              </a:rPr>
              <a:t>                 Ensure trustworthiness of edge resources</a:t>
            </a:r>
            <a:endParaRPr lang="en-US" altLang="en-US" b="0">
              <a:latin typeface="Cambria" panose="02040503050406030204" charset="0"/>
              <a:cs typeface="Cambria" panose="02040503050406030204" charset="0"/>
            </a:endParaRPr>
          </a:p>
          <a:p>
            <a:pPr marL="0" indent="0">
              <a:buNone/>
            </a:pPr>
            <a:endParaRPr lang="en-US" altLang="en-US">
              <a:latin typeface="Cambria" panose="02040503050406030204" charset="0"/>
              <a:cs typeface="Cambria" panose="02040503050406030204" charset="0"/>
            </a:endParaRPr>
          </a:p>
          <a:p>
            <a:endParaRPr lang="en-US" altLang="en-US">
              <a:latin typeface="Cambria" panose="02040503050406030204" charset="0"/>
              <a:cs typeface="Cambria" panose="02040503050406030204" charset="0"/>
            </a:endParaRPr>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3" name="Content Placeholder 2"/>
          <p:cNvSpPr>
            <a:spLocks noGrp="1"/>
          </p:cNvSpPr>
          <p:nvPr>
            <p:ph idx="1"/>
          </p:nvPr>
        </p:nvSpPr>
        <p:spPr>
          <a:xfrm>
            <a:off x="1174115" y="2023110"/>
            <a:ext cx="9978390" cy="4431665"/>
          </a:xfrm>
        </p:spPr>
        <p:txBody>
          <a:bodyPr wrap="square"/>
          <a:p>
            <a:pPr marL="0" indent="0">
              <a:buNone/>
            </a:pPr>
            <a:r>
              <a:rPr lang="en-US" altLang="en-US" b="1">
                <a:latin typeface="Cambria" panose="02040503050406030204" charset="0"/>
                <a:cs typeface="Cambria" panose="02040503050406030204" charset="0"/>
              </a:rPr>
              <a:t>E</a:t>
            </a:r>
            <a:r>
              <a:rPr lang="en-US" altLang="en-US" b="1"/>
              <a:t>dge AI: Future Directions</a:t>
            </a:r>
            <a:endParaRPr lang="en-US" altLang="en-US" b="1"/>
          </a:p>
          <a:p>
            <a:r>
              <a:rPr lang="en-US" altLang="en-US" b="0"/>
              <a:t>Deploying AI in resource-constrained environments requires:</a:t>
            </a:r>
            <a:endParaRPr lang="en-US" altLang="en-US" b="0"/>
          </a:p>
          <a:p>
            <a:pPr marL="0" indent="0">
              <a:buNone/>
            </a:pPr>
            <a:r>
              <a:rPr lang="en-US" altLang="en-US" b="0"/>
              <a:t>                      Efficient computing resource management</a:t>
            </a:r>
            <a:endParaRPr lang="en-US" altLang="en-US" b="0"/>
          </a:p>
          <a:p>
            <a:pPr marL="0" indent="0">
              <a:buNone/>
            </a:pPr>
            <a:r>
              <a:rPr lang="en-US" altLang="en-US" b="0"/>
              <a:t>                       Secure data handling</a:t>
            </a:r>
            <a:endParaRPr lang="en-US" altLang="en-US" b="0"/>
          </a:p>
          <a:p>
            <a:pPr marL="0" indent="0">
              <a:buNone/>
            </a:pPr>
            <a:r>
              <a:rPr lang="en-US" altLang="en-US" b="0"/>
              <a:t>                       Reliable network connectivity</a:t>
            </a:r>
            <a:endParaRPr lang="en-US" altLang="en-US" b="0"/>
          </a:p>
          <a:p>
            <a:pPr marL="0" indent="0">
              <a:buNone/>
            </a:pPr>
            <a:r>
              <a:rPr lang="en-US" altLang="en-US" b="0"/>
              <a:t>                       Real-time processing capability</a:t>
            </a:r>
            <a:endParaRPr lang="en-US" altLang="en-US" b="0"/>
          </a:p>
          <a:p>
            <a:r>
              <a:rPr lang="en-US" altLang="en-US"/>
              <a:t> before deployment:</a:t>
            </a:r>
            <a:endParaRPr lang="en-US" altLang="en-US"/>
          </a:p>
          <a:p>
            <a:pPr marL="0" indent="0">
              <a:buNone/>
            </a:pPr>
            <a:r>
              <a:rPr lang="en-US" altLang="en-US"/>
              <a:t>                       </a:t>
            </a:r>
            <a:r>
              <a:rPr lang="en-US" altLang="en-US" b="0"/>
              <a:t>Can edge devices support AI model complexity?</a:t>
            </a:r>
            <a:endParaRPr lang="en-US" altLang="en-US" b="0"/>
          </a:p>
          <a:p>
            <a:pPr marL="0" indent="0">
              <a:buNone/>
            </a:pPr>
            <a:r>
              <a:rPr lang="en-US" altLang="en-US" b="0"/>
              <a:t>                       How will data and models be transmitted?</a:t>
            </a:r>
            <a:endParaRPr lang="en-US" altLang="en-US" b="0"/>
          </a:p>
          <a:p>
            <a:pPr marL="0" indent="0">
              <a:buNone/>
            </a:pPr>
            <a:r>
              <a:rPr lang="en-US" altLang="en-US" b="0"/>
              <a:t>                       Which network infrastructure will be used?</a:t>
            </a:r>
            <a:endParaRPr lang="en-US" altLang="en-US" b="0"/>
          </a:p>
          <a:p>
            <a:pPr marL="0" indent="0">
              <a:buNone/>
            </a:pPr>
            <a:r>
              <a:rPr lang="en-US" altLang="en-US" b="0"/>
              <a:t>                       How will sensitive data privacy be ensured?</a:t>
            </a:r>
            <a:endParaRPr lang="en-US" altLang="en-US" b="0"/>
          </a:p>
          <a:p>
            <a:endParaRPr lang="en-US" altLang="en-US"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914222" y="838149"/>
            <a:ext cx="10410545" cy="707390"/>
          </a:xfrm>
        </p:spPr>
        <p:txBody>
          <a:bodyPr/>
          <a:p>
            <a:r>
              <a:rPr lang="en-US">
                <a:sym typeface="+mn-ea"/>
              </a:rPr>
              <a:t>conti...</a:t>
            </a:r>
            <a:endParaRPr lang="en-US"/>
          </a:p>
        </p:txBody>
      </p:sp>
      <p:sp>
        <p:nvSpPr>
          <p:cNvPr id="3" name="Text Placeholder 2"/>
          <p:cNvSpPr>
            <a:spLocks noGrp="1"/>
          </p:cNvSpPr>
          <p:nvPr>
            <p:ph type="body" idx="1"/>
          </p:nvPr>
        </p:nvSpPr>
        <p:spPr>
          <a:xfrm>
            <a:off x="327660" y="2023110"/>
            <a:ext cx="11285220" cy="4062730"/>
          </a:xfrm>
        </p:spPr>
        <p:txBody>
          <a:bodyPr wrap="square"/>
          <a:p>
            <a:pPr marL="342900" indent="-342900" algn="just">
              <a:buFont typeface="Wingdings" panose="05000000000000000000" charset="0"/>
              <a:buChar char="v"/>
            </a:pPr>
            <a:r>
              <a:rPr lang="en-US" altLang="en-US" b="0">
                <a:latin typeface="Cambria" panose="02040503050406030204" charset="0"/>
                <a:cs typeface="Cambria" panose="02040503050406030204" charset="0"/>
              </a:rPr>
              <a:t>This improves </a:t>
            </a:r>
            <a:r>
              <a:rPr lang="en-US" altLang="en-US">
                <a:latin typeface="Cambria" panose="02040503050406030204" charset="0"/>
                <a:cs typeface="Cambria" panose="02040503050406030204" charset="0"/>
              </a:rPr>
              <a:t>response time, reliability, energy efficiency, and privacy,</a:t>
            </a:r>
            <a:endParaRPr lang="en-US" altLang="en-US">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b="0">
                <a:latin typeface="Cambria" panose="02040503050406030204" charset="0"/>
                <a:cs typeface="Cambria" panose="02040503050406030204" charset="0"/>
              </a:rPr>
              <a:t>Edge AI will enable IoT devices to perform local intelligence,train AI models locally and share only model updates instead of </a:t>
            </a:r>
            <a:r>
              <a:rPr lang="en-US" altLang="en-US">
                <a:latin typeface="Cambria" panose="02040503050406030204" charset="0"/>
                <a:cs typeface="Cambria" panose="02040503050406030204" charset="0"/>
              </a:rPr>
              <a:t>raw data making IoT systems more scalable and autonomous</a:t>
            </a:r>
            <a:endParaRPr lang="en-US" altLang="en-US">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b="0">
                <a:latin typeface="Cambria" panose="02040503050406030204" charset="0"/>
                <a:cs typeface="Cambria" panose="02040503050406030204" charset="0"/>
              </a:rPr>
              <a:t>saving network energy and lowering data center workloads. </a:t>
            </a:r>
            <a:r>
              <a:rPr lang="en-US" altLang="en-US">
                <a:latin typeface="Cambria" panose="02040503050406030204" charset="0"/>
                <a:cs typeface="Cambria" panose="02040503050406030204" charset="0"/>
              </a:rPr>
              <a:t>Optimized local processing and AI model</a:t>
            </a:r>
            <a:r>
              <a:rPr lang="en-US" altLang="en-US" b="0">
                <a:latin typeface="Cambria" panose="02040503050406030204" charset="0"/>
                <a:cs typeface="Cambria" panose="02040503050406030204" charset="0"/>
              </a:rPr>
              <a:t> compression also contribute more energy-efficient computing.</a:t>
            </a:r>
            <a:endParaRPr lang="en-US" altLang="en-US" b="0">
              <a:latin typeface="Cambria" panose="02040503050406030204" charset="0"/>
              <a:cs typeface="Cambria" panose="02040503050406030204" charset="0"/>
            </a:endParaRPr>
          </a:p>
          <a:p>
            <a:pPr marL="342900" indent="-342900" algn="just">
              <a:buFont typeface="Wingdings" panose="05000000000000000000" charset="0"/>
              <a:buChar char="v"/>
            </a:pPr>
            <a:r>
              <a:rPr lang="en-US" altLang="en-US">
                <a:latin typeface="Cambria" panose="02040503050406030204" charset="0"/>
                <a:cs typeface="Cambria" panose="02040503050406030204" charset="0"/>
              </a:rPr>
              <a:t>This approach improves privacy, reduces network load, and enables collaborative intelligence</a:t>
            </a:r>
            <a:r>
              <a:rPr lang="en-US" altLang="en-US" b="0">
                <a:latin typeface="Cambria" panose="02040503050406030204" charset="0"/>
                <a:cs typeface="Cambria" panose="02040503050406030204" charset="0"/>
              </a:rPr>
              <a:t>, making it suitable for large-scale distributed edge systems</a:t>
            </a:r>
            <a:endParaRPr lang="en-US" altLang="en-US" b="0">
              <a:latin typeface="Cambria" panose="02040503050406030204" charset="0"/>
              <a:cs typeface="Cambria" panose="02040503050406030204" charset="0"/>
            </a:endParaRPr>
          </a:p>
          <a:p>
            <a:pPr algn="just"/>
            <a:endParaRPr lang="en-US" altLang="en-US" b="0">
              <a:latin typeface="Cambria" panose="02040503050406030204" charset="0"/>
              <a:cs typeface="Cambria" panose="020405030504060302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761" y="2023237"/>
            <a:ext cx="10824845" cy="1477010"/>
          </a:xfrm>
        </p:spPr>
        <p:txBody>
          <a:bodyPr/>
          <a:p>
            <a:pPr algn="ctr"/>
            <a:r>
              <a:rPr lang="en-US" altLang="en-US">
                <a:sym typeface="+mn-ea"/>
              </a:rPr>
              <a:t>Module I –L6</a:t>
            </a:r>
            <a:endParaRPr lang="en-US" altLang="en-US">
              <a:sym typeface="+mn-ea"/>
            </a:endParaRPr>
          </a:p>
          <a:p>
            <a:pPr algn="ctr"/>
            <a:endParaRPr lang="en-US" altLang="en-US">
              <a:sym typeface="+mn-ea"/>
            </a:endParaRPr>
          </a:p>
          <a:p>
            <a:pPr marL="0" indent="0" algn="ctr">
              <a:buNone/>
            </a:pPr>
            <a:r>
              <a:rPr lang="en-US" altLang="en-US">
                <a:sym typeface="+mn-ea"/>
              </a:rPr>
              <a:t>Explain the differences between Edge, Fog, and Cloud computing</a:t>
            </a:r>
            <a:endParaRPr lang="en-US" altLang="en-US">
              <a:sym typeface="+mn-ea"/>
            </a:endParaRPr>
          </a:p>
          <a:p>
            <a:pPr algn="ctr"/>
            <a:endParaRPr lang="en-US"/>
          </a:p>
        </p:txBody>
      </p:sp>
      <p:sp>
        <p:nvSpPr>
          <p:cNvPr id="4" name="Footer Placeholder 3"/>
          <p:cNvSpPr>
            <a:spLocks noGrp="1"/>
          </p:cNvSpPr>
          <p:nvPr>
            <p:ph type="ftr" sz="quarter" idx="11"/>
          </p:nvPr>
        </p:nvSpPr>
        <p:spPr>
          <a:xfrm>
            <a:off x="4145280" y="6377940"/>
            <a:ext cx="3901440" cy="276860"/>
          </a:xfrm>
        </p:spPr>
        <p:txBody>
          <a:bodyPr/>
          <a:p>
            <a:r>
              <a:rPr lang="en-US"/>
              <a:t>CSE</a:t>
            </a:r>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xfrm>
            <a:off x="890270" y="-304800"/>
            <a:ext cx="10410825" cy="1311275"/>
          </a:xfrm>
          <a:prstGeom prst="rect">
            <a:avLst/>
          </a:prstGeom>
        </p:spPr>
        <p:txBody>
          <a:bodyPr vert="horz" wrap="square" lIns="0" tIns="732917" rIns="0" bIns="0" rtlCol="0">
            <a:noAutofit/>
          </a:bodyPr>
          <a:lstStyle/>
          <a:p>
            <a:pPr marL="3136265">
              <a:lnSpc>
                <a:spcPct val="100000"/>
              </a:lnSpc>
              <a:spcBef>
                <a:spcPts val="95"/>
              </a:spcBef>
            </a:pPr>
            <a:r>
              <a:rPr spc="-30" dirty="0"/>
              <a:t>Cloud</a:t>
            </a:r>
            <a:r>
              <a:rPr spc="-220" dirty="0"/>
              <a:t> </a:t>
            </a:r>
            <a:r>
              <a:rPr spc="-135" dirty="0"/>
              <a:t>Vs</a:t>
            </a:r>
            <a:r>
              <a:rPr spc="-125" dirty="0"/>
              <a:t> </a:t>
            </a:r>
            <a:r>
              <a:rPr spc="-60" dirty="0"/>
              <a:t>Edge</a:t>
            </a:r>
            <a:r>
              <a:rPr spc="-160" dirty="0"/>
              <a:t> </a:t>
            </a:r>
            <a:endParaRPr spc="-25" dirty="0"/>
          </a:p>
        </p:txBody>
      </p:sp>
      <p:pic>
        <p:nvPicPr>
          <p:cNvPr id="4" name="object 4"/>
          <p:cNvPicPr/>
          <p:nvPr/>
        </p:nvPicPr>
        <p:blipFill>
          <a:blip r:embed="rId1" cstate="print"/>
          <a:stretch>
            <a:fillRect/>
          </a:stretch>
        </p:blipFill>
        <p:spPr>
          <a:xfrm>
            <a:off x="942975" y="1668145"/>
            <a:ext cx="10280650" cy="458533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97280" y="1891029"/>
            <a:ext cx="10343515" cy="4371340"/>
            <a:chOff x="1097280" y="1891029"/>
            <a:chExt cx="10343515" cy="4371340"/>
          </a:xfrm>
        </p:grpSpPr>
        <p:sp>
          <p:nvSpPr>
            <p:cNvPr id="3" name="object 3"/>
            <p:cNvSpPr/>
            <p:nvPr/>
          </p:nvSpPr>
          <p:spPr>
            <a:xfrm>
              <a:off x="1193292"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pic>
          <p:nvPicPr>
            <p:cNvPr id="4" name="object 4"/>
            <p:cNvPicPr/>
            <p:nvPr/>
          </p:nvPicPr>
          <p:blipFill>
            <a:blip r:embed="rId1" cstate="print"/>
            <a:stretch>
              <a:fillRect/>
            </a:stretch>
          </p:blipFill>
          <p:spPr>
            <a:xfrm>
              <a:off x="1097280" y="1940051"/>
              <a:ext cx="10343388" cy="4322064"/>
            </a:xfrm>
            <a:prstGeom prst="rect">
              <a:avLst/>
            </a:prstGeom>
          </p:spPr>
        </p:pic>
      </p:grpSp>
      <p:sp>
        <p:nvSpPr>
          <p:cNvPr id="5" name="object 5"/>
          <p:cNvSpPr txBox="1">
            <a:spLocks noGrp="1"/>
          </p:cNvSpPr>
          <p:nvPr>
            <p:ph type="title"/>
          </p:nvPr>
        </p:nvSpPr>
        <p:spPr>
          <a:prstGeom prst="rect">
            <a:avLst/>
          </a:prstGeom>
        </p:spPr>
        <p:txBody>
          <a:bodyPr vert="horz" wrap="square" lIns="0" tIns="626618" rIns="0" bIns="0" rtlCol="0">
            <a:spAutoFit/>
          </a:bodyPr>
          <a:lstStyle/>
          <a:p>
            <a:pPr marL="3136265">
              <a:lnSpc>
                <a:spcPct val="100000"/>
              </a:lnSpc>
              <a:spcBef>
                <a:spcPts val="95"/>
              </a:spcBef>
            </a:pPr>
            <a:r>
              <a:rPr spc="-30" dirty="0"/>
              <a:t>Cloud</a:t>
            </a:r>
            <a:r>
              <a:rPr spc="-220" dirty="0"/>
              <a:t> </a:t>
            </a:r>
            <a:r>
              <a:rPr spc="-135" dirty="0"/>
              <a:t>Vs</a:t>
            </a:r>
            <a:r>
              <a:rPr spc="-125" dirty="0"/>
              <a:t> </a:t>
            </a:r>
            <a:r>
              <a:rPr spc="-60" dirty="0"/>
              <a:t>Edge</a:t>
            </a:r>
            <a:r>
              <a:rPr spc="-160" dirty="0"/>
              <a:t> </a:t>
            </a:r>
            <a:r>
              <a:rPr spc="-135" dirty="0"/>
              <a:t>Vs</a:t>
            </a:r>
            <a:r>
              <a:rPr spc="-125" dirty="0"/>
              <a:t> </a:t>
            </a:r>
            <a:r>
              <a:rPr spc="-25" dirty="0"/>
              <a:t>Fog</a:t>
            </a:r>
            <a:endParaRPr spc="-2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85800" y="1818132"/>
            <a:ext cx="10744200" cy="3987165"/>
            <a:chOff x="685800" y="1818132"/>
            <a:chExt cx="10744200" cy="3987165"/>
          </a:xfrm>
        </p:grpSpPr>
        <p:sp>
          <p:nvSpPr>
            <p:cNvPr id="3" name="object 3"/>
            <p:cNvSpPr/>
            <p:nvPr/>
          </p:nvSpPr>
          <p:spPr>
            <a:xfrm>
              <a:off x="1193291" y="1897380"/>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pic>
          <p:nvPicPr>
            <p:cNvPr id="4" name="object 4"/>
            <p:cNvPicPr/>
            <p:nvPr/>
          </p:nvPicPr>
          <p:blipFill>
            <a:blip r:embed="rId1" cstate="print"/>
            <a:stretch>
              <a:fillRect/>
            </a:stretch>
          </p:blipFill>
          <p:spPr>
            <a:xfrm>
              <a:off x="685800" y="1818132"/>
              <a:ext cx="10744200" cy="3986783"/>
            </a:xfrm>
            <a:prstGeom prst="rect">
              <a:avLst/>
            </a:prstGeom>
          </p:spPr>
        </p:pic>
      </p:grpSp>
      <p:sp>
        <p:nvSpPr>
          <p:cNvPr id="5" name="object 5"/>
          <p:cNvSpPr txBox="1">
            <a:spLocks noGrp="1"/>
          </p:cNvSpPr>
          <p:nvPr>
            <p:ph type="title"/>
          </p:nvPr>
        </p:nvSpPr>
        <p:spPr>
          <a:prstGeom prst="rect">
            <a:avLst/>
          </a:prstGeom>
        </p:spPr>
        <p:txBody>
          <a:bodyPr vert="horz" wrap="square" lIns="0" tIns="732917" rIns="0" bIns="0" rtlCol="0">
            <a:spAutoFit/>
          </a:bodyPr>
          <a:lstStyle/>
          <a:p>
            <a:pPr marL="3136265">
              <a:lnSpc>
                <a:spcPct val="100000"/>
              </a:lnSpc>
              <a:spcBef>
                <a:spcPts val="95"/>
              </a:spcBef>
            </a:pPr>
            <a:r>
              <a:rPr spc="-30" dirty="0"/>
              <a:t>Cloud</a:t>
            </a:r>
            <a:r>
              <a:rPr spc="-220" dirty="0"/>
              <a:t> </a:t>
            </a:r>
            <a:r>
              <a:rPr spc="-135" dirty="0"/>
              <a:t>Vs</a:t>
            </a:r>
            <a:r>
              <a:rPr spc="-125" dirty="0"/>
              <a:t> </a:t>
            </a:r>
            <a:r>
              <a:rPr spc="-60" dirty="0"/>
              <a:t>Edge</a:t>
            </a:r>
            <a:r>
              <a:rPr spc="-160" dirty="0"/>
              <a:t> </a:t>
            </a:r>
            <a:r>
              <a:rPr spc="-135" dirty="0"/>
              <a:t>Vs</a:t>
            </a:r>
            <a:r>
              <a:rPr spc="-125" dirty="0"/>
              <a:t> </a:t>
            </a:r>
            <a:r>
              <a:rPr spc="-25" dirty="0"/>
              <a:t>Fog</a:t>
            </a:r>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27761" y="2023237"/>
            <a:ext cx="10824845" cy="1477010"/>
          </a:xfrm>
        </p:spPr>
        <p:txBody>
          <a:bodyPr/>
          <a:p>
            <a:pPr algn="ctr"/>
            <a:r>
              <a:rPr lang="en-US"/>
              <a:t>Module-1- L7</a:t>
            </a:r>
            <a:endParaRPr lang="en-US"/>
          </a:p>
          <a:p>
            <a:r>
              <a:rPr lang="en-US" altLang="en-US"/>
              <a:t>CO1:Explain the hierarchical architecture of fog and edge computing.</a:t>
            </a:r>
            <a:endParaRPr lang="en-US" altLang="en-US"/>
          </a:p>
          <a:p>
            <a:endParaRPr lang="en-US" altLang="en-US"/>
          </a:p>
          <a:p>
            <a:r>
              <a:rPr lang="en-US" altLang="en-US"/>
              <a:t>CO2: Describe the function of each layer in the fog–edge hierarchy</a:t>
            </a:r>
            <a:endParaRPr lang="en-US" altLang="en-US"/>
          </a:p>
        </p:txBody>
      </p:sp>
      <p:sp>
        <p:nvSpPr>
          <p:cNvPr id="4" name="Footer Placeholder 3"/>
          <p:cNvSpPr>
            <a:spLocks noGrp="1"/>
          </p:cNvSpPr>
          <p:nvPr>
            <p:ph type="ftr" sz="quarter" idx="11"/>
          </p:nvPr>
        </p:nvSpPr>
        <p:spPr>
          <a:xfrm>
            <a:off x="4145280" y="6377940"/>
            <a:ext cx="3901440" cy="276860"/>
          </a:xfrm>
        </p:spPr>
        <p:txBody>
          <a:bodyPr/>
          <a:p>
            <a:r>
              <a:rPr lang="en-US"/>
              <a:t>CSE-367 Data Visualization</a:t>
            </a:r>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6325" y="304800"/>
            <a:ext cx="10621010" cy="641350"/>
          </a:xfrm>
        </p:spPr>
        <p:txBody>
          <a:bodyPr>
            <a:normAutofit fontScale="90000"/>
          </a:bodyPr>
          <a:lstStyle/>
          <a:p>
            <a:r>
              <a:rPr lang="en-US" dirty="0">
                <a:latin typeface="Times New Roman" panose="02020603050405020304" charset="0"/>
                <a:cs typeface="Times New Roman" panose="02020603050405020304" charset="0"/>
              </a:rPr>
              <a:t>Hierarchy of  Edge Computing technology</a:t>
            </a:r>
            <a:endParaRPr lang="en-IN"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1076325" y="1905000"/>
            <a:ext cx="10403840" cy="3667125"/>
          </a:xfrm>
        </p:spPr>
        <p:txBody>
          <a:bodyPr>
            <a:normAutofit/>
          </a:bodyPr>
          <a:lstStyle/>
          <a:p>
            <a:pPr marL="0" indent="0">
              <a:buNone/>
            </a:pPr>
            <a:r>
              <a:rPr lang="en-US" sz="2400" dirty="0">
                <a:solidFill>
                  <a:srgbClr val="FF0000"/>
                </a:solidFill>
                <a:latin typeface="Times New Roman" panose="02020603050405020304" charset="0"/>
                <a:cs typeface="Times New Roman" panose="02020603050405020304" charset="0"/>
              </a:rPr>
              <a:t>Introduction</a:t>
            </a:r>
            <a:endParaRPr lang="en-US" sz="2400" dirty="0">
              <a:solidFill>
                <a:srgbClr val="FF0000"/>
              </a:solidFill>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dirty="0">
                <a:latin typeface="Times New Roman" panose="02020603050405020304" charset="0"/>
                <a:cs typeface="Times New Roman" panose="02020603050405020304" charset="0"/>
              </a:rPr>
              <a:t>I</a:t>
            </a:r>
            <a:r>
              <a:rPr lang="en-US" sz="2400" b="0" dirty="0">
                <a:latin typeface="Times New Roman" panose="02020603050405020304" charset="0"/>
                <a:cs typeface="Times New Roman" panose="02020603050405020304" charset="0"/>
              </a:rPr>
              <a:t>n IoT (Internet of Things) systems, massive amounts of data are </a:t>
            </a:r>
            <a:r>
              <a:rPr lang="en-US" sz="2400" dirty="0">
                <a:latin typeface="Times New Roman" panose="02020603050405020304" charset="0"/>
                <a:cs typeface="Times New Roman" panose="02020603050405020304" charset="0"/>
              </a:rPr>
              <a:t>generated by sensors, devices, and machines.</a:t>
            </a:r>
            <a:br>
              <a:rPr lang="en-US" sz="240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Traditionally, all this data was sent to the cloud</a:t>
            </a:r>
            <a:r>
              <a:rPr lang="en-US" sz="2400" b="0" dirty="0">
                <a:latin typeface="Times New Roman" panose="02020603050405020304" charset="0"/>
                <a:cs typeface="Times New Roman" panose="02020603050405020304" charset="0"/>
              </a:rPr>
              <a:t> for processing and storage.</a:t>
            </a:r>
            <a:br>
              <a:rPr lang="en-US" sz="2400" b="0" dirty="0">
                <a:latin typeface="Times New Roman" panose="02020603050405020304" charset="0"/>
                <a:cs typeface="Times New Roman" panose="02020603050405020304" charset="0"/>
              </a:rPr>
            </a:br>
            <a:r>
              <a:rPr lang="en-US" sz="2400" b="0" dirty="0">
                <a:latin typeface="Times New Roman" panose="02020603050405020304" charset="0"/>
                <a:cs typeface="Times New Roman" panose="02020603050405020304" charset="0"/>
              </a:rPr>
              <a:t>However, this causes:</a:t>
            </a:r>
            <a:endParaRPr lang="en-US" sz="2400" b="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High latency</a:t>
            </a:r>
            <a:r>
              <a:rPr lang="en-US" sz="2400" dirty="0">
                <a:latin typeface="Times New Roman" panose="02020603050405020304" charset="0"/>
                <a:cs typeface="Times New Roman" panose="02020603050405020304" charset="0"/>
              </a:rPr>
              <a:t> (delay)</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b="1" dirty="0">
                <a:latin typeface="Times New Roman" panose="02020603050405020304" charset="0"/>
                <a:cs typeface="Times New Roman" panose="02020603050405020304" charset="0"/>
              </a:rPr>
              <a:t>Network congestion</a:t>
            </a:r>
            <a:endParaRPr lang="en-US" sz="2400" dirty="0">
              <a:latin typeface="Times New Roman" panose="02020603050405020304" charset="0"/>
              <a:cs typeface="Times New Roman" panose="02020603050405020304" charset="0"/>
            </a:endParaRPr>
          </a:p>
          <a:p>
            <a:pPr marL="342900" indent="-342900">
              <a:buFont typeface="Wingdings" panose="05000000000000000000" charset="0"/>
              <a:buChar char="v"/>
            </a:pPr>
            <a:r>
              <a:rPr lang="en-US" sz="2400" dirty="0">
                <a:latin typeface="Times New Roman" panose="02020603050405020304" charset="0"/>
                <a:cs typeface="Times New Roman" panose="02020603050405020304" charset="0"/>
              </a:rPr>
              <a:t>To solve these issues, </a:t>
            </a:r>
            <a:r>
              <a:rPr lang="en-US" sz="2400" b="0" dirty="0">
                <a:latin typeface="Times New Roman" panose="02020603050405020304" charset="0"/>
                <a:cs typeface="Times New Roman" panose="02020603050405020304" charset="0"/>
              </a:rPr>
              <a:t>Fog</a:t>
            </a:r>
            <a:r>
              <a:rPr lang="en-US" sz="2400" b="0" dirty="0">
                <a:latin typeface="Times New Roman" panose="02020603050405020304" charset="0"/>
                <a:cs typeface="Times New Roman" panose="02020603050405020304" charset="0"/>
              </a:rPr>
              <a:t> and Edge Computing</a:t>
            </a:r>
            <a:r>
              <a:rPr lang="en-US" sz="2400" b="0" dirty="0">
                <a:latin typeface="Times New Roman" panose="02020603050405020304" charset="0"/>
                <a:cs typeface="Times New Roman" panose="02020603050405020304" charset="0"/>
              </a:rPr>
              <a:t> introduce intermediate layers between the devices</a:t>
            </a:r>
            <a:r>
              <a:rPr lang="en-US" sz="2400" b="0" dirty="0">
                <a:latin typeface="Times New Roman" panose="02020603050405020304" charset="0"/>
                <a:cs typeface="Times New Roman" panose="02020603050405020304" charset="0"/>
              </a:rPr>
              <a:t> and the cloud</a:t>
            </a:r>
            <a:r>
              <a:rPr lang="en-US" sz="2400" b="0" dirty="0">
                <a:latin typeface="Times New Roman" panose="02020603050405020304" charset="0"/>
                <a:cs typeface="Times New Roman" panose="02020603050405020304" charset="0"/>
              </a:rPr>
              <a:t> — creating a hierarchical architecture</a:t>
            </a:r>
            <a:r>
              <a:rPr lang="en-US" sz="2400" b="0" dirty="0">
                <a:latin typeface="Times New Roman" panose="02020603050405020304" charset="0"/>
                <a:cs typeface="Times New Roman" panose="02020603050405020304" charset="0"/>
              </a:rPr>
              <a:t>.</a:t>
            </a:r>
            <a:endParaRPr lang="en-US" sz="2400" b="0" dirty="0">
              <a:latin typeface="Times New Roman" panose="02020603050405020304" charset="0"/>
              <a:cs typeface="Times New Roman" panose="02020603050405020304" charset="0"/>
            </a:endParaRPr>
          </a:p>
          <a:p>
            <a:endParaRPr lang="en-IN" b="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1" cstate="print">
            <a:extLst>
              <a:ext uri="{28A0092B-C50C-407E-A947-70E740481C1C}">
                <a14:useLocalDpi xmlns:a14="http://schemas.microsoft.com/office/drawing/2010/main" val="0"/>
              </a:ext>
            </a:extLst>
          </a:blip>
          <a:stretch>
            <a:fillRect/>
          </a:stretch>
        </p:blipFill>
        <p:spPr>
          <a:xfrm>
            <a:off x="2438400" y="1225550"/>
            <a:ext cx="6953250" cy="5137150"/>
          </a:xfrm>
        </p:spPr>
      </p:pic>
      <p:sp>
        <p:nvSpPr>
          <p:cNvPr id="7" name="Text Box 6"/>
          <p:cNvSpPr txBox="1"/>
          <p:nvPr/>
        </p:nvSpPr>
        <p:spPr>
          <a:xfrm>
            <a:off x="2438400" y="461010"/>
            <a:ext cx="3048000" cy="583565"/>
          </a:xfrm>
          <a:prstGeom prst="rect">
            <a:avLst/>
          </a:prstGeom>
          <a:noFill/>
        </p:spPr>
        <p:txBody>
          <a:bodyPr wrap="square" rtlCol="0">
            <a:spAutoFit/>
          </a:bodyPr>
          <a:p>
            <a:r>
              <a:rPr lang="en-US" sz="3200" b="1"/>
              <a:t>conti...</a:t>
            </a:r>
            <a:endParaRPr lang="en-US" sz="3200"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latin typeface="Times New Roman" panose="02020603050405020304" charset="0"/>
                <a:cs typeface="Times New Roman" panose="02020603050405020304" charset="0"/>
              </a:rPr>
              <a:t>The hierarchy of Fog and Edge Computing generally consists of three main layers:</a:t>
            </a:r>
            <a:endParaRPr lang="en-IN" sz="3200" b="1" dirty="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704215" y="2133600"/>
            <a:ext cx="10761345" cy="3083560"/>
          </a:xfrm>
        </p:spPr>
        <p:txBody>
          <a:bodyPr>
            <a:normAutofit lnSpcReduction="10000"/>
          </a:bodyPr>
          <a:lstStyle/>
          <a:p>
            <a:pPr marL="0" indent="0">
              <a:buNone/>
            </a:pPr>
            <a:r>
              <a:rPr lang="en-IN" sz="2400" dirty="0">
                <a:latin typeface="Times New Roman" panose="02020603050405020304" charset="0"/>
                <a:cs typeface="Times New Roman" panose="02020603050405020304" charset="0"/>
              </a:rPr>
              <a:t>1️ </a:t>
            </a:r>
            <a:r>
              <a:rPr lang="en-IN" sz="2400" b="1" dirty="0">
                <a:latin typeface="Times New Roman" panose="02020603050405020304" charset="0"/>
                <a:cs typeface="Times New Roman" panose="02020603050405020304" charset="0"/>
              </a:rPr>
              <a:t>Edge Layer (Device Layer)</a:t>
            </a:r>
            <a:endParaRPr lang="en-IN" sz="2400" b="1" dirty="0">
              <a:latin typeface="Times New Roman" panose="02020603050405020304" charset="0"/>
              <a:cs typeface="Times New Roman" panose="02020603050405020304" charset="0"/>
            </a:endParaRPr>
          </a:p>
          <a:p>
            <a:r>
              <a:rPr lang="en-IN" sz="2400" b="1" dirty="0">
                <a:latin typeface="Times New Roman" panose="02020603050405020304" charset="0"/>
                <a:cs typeface="Times New Roman" panose="02020603050405020304" charset="0"/>
              </a:rPr>
              <a:t>Location</a:t>
            </a:r>
            <a:r>
              <a:rPr lang="en-IN" sz="2400" dirty="0">
                <a:latin typeface="Times New Roman" panose="02020603050405020304" charset="0"/>
                <a:cs typeface="Times New Roman" panose="02020603050405020304" charset="0"/>
              </a:rPr>
              <a:t>: Closest to end devices or sensors.</a:t>
            </a:r>
            <a:endParaRPr lang="en-IN" sz="2400" dirty="0">
              <a:latin typeface="Times New Roman" panose="02020603050405020304" charset="0"/>
              <a:cs typeface="Times New Roman" panose="02020603050405020304" charset="0"/>
            </a:endParaRPr>
          </a:p>
          <a:p>
            <a:r>
              <a:rPr lang="en-IN" sz="2400" b="1" dirty="0">
                <a:latin typeface="Times New Roman" panose="02020603050405020304" charset="0"/>
                <a:cs typeface="Times New Roman" panose="02020603050405020304" charset="0"/>
              </a:rPr>
              <a:t>Components</a:t>
            </a:r>
            <a:r>
              <a:rPr lang="en-IN" sz="2400" dirty="0">
                <a:latin typeface="Times New Roman" panose="02020603050405020304" charset="0"/>
                <a:cs typeface="Times New Roman" panose="02020603050405020304" charset="0"/>
              </a:rPr>
              <a:t>: IoT devices, sensors, actuators, smartphones, cameras, etc.</a:t>
            </a:r>
            <a:endParaRPr lang="en-IN" sz="2400" dirty="0">
              <a:latin typeface="Times New Roman" panose="02020603050405020304" charset="0"/>
              <a:cs typeface="Times New Roman" panose="02020603050405020304" charset="0"/>
            </a:endParaRPr>
          </a:p>
          <a:p>
            <a:r>
              <a:rPr lang="en-IN" sz="2400" b="1" dirty="0">
                <a:latin typeface="Times New Roman" panose="02020603050405020304" charset="0"/>
                <a:cs typeface="Times New Roman" panose="02020603050405020304" charset="0"/>
              </a:rPr>
              <a:t>Function:</a:t>
            </a:r>
            <a:endParaRPr lang="en-IN" sz="2400" b="1" dirty="0">
              <a:latin typeface="Times New Roman" panose="02020603050405020304" charset="0"/>
              <a:cs typeface="Times New Roman" panose="02020603050405020304" charset="0"/>
            </a:endParaRPr>
          </a:p>
          <a:p>
            <a:pPr lvl="1"/>
            <a:r>
              <a:rPr lang="en-IN" sz="2400" dirty="0">
                <a:latin typeface="Times New Roman" panose="02020603050405020304" charset="0"/>
                <a:cs typeface="Times New Roman" panose="02020603050405020304" charset="0"/>
              </a:rPr>
              <a:t>Collects real-time data.</a:t>
            </a:r>
            <a:endParaRPr lang="en-IN" sz="2400" dirty="0">
              <a:latin typeface="Times New Roman" panose="02020603050405020304" charset="0"/>
              <a:cs typeface="Times New Roman" panose="02020603050405020304" charset="0"/>
            </a:endParaRPr>
          </a:p>
          <a:p>
            <a:pPr lvl="1"/>
            <a:r>
              <a:rPr lang="en-IN" sz="2400" dirty="0">
                <a:latin typeface="Times New Roman" panose="02020603050405020304" charset="0"/>
                <a:cs typeface="Times New Roman" panose="02020603050405020304" charset="0"/>
              </a:rPr>
              <a:t>Performs basic processing (e.g., filtering, noise reduction).</a:t>
            </a:r>
            <a:endParaRPr lang="en-IN" sz="2400" dirty="0">
              <a:latin typeface="Times New Roman" panose="02020603050405020304" charset="0"/>
              <a:cs typeface="Times New Roman" panose="02020603050405020304" charset="0"/>
            </a:endParaRPr>
          </a:p>
          <a:p>
            <a:pPr lvl="1"/>
            <a:r>
              <a:rPr lang="en-IN" sz="2400" dirty="0">
                <a:latin typeface="Times New Roman" panose="02020603050405020304" charset="0"/>
                <a:cs typeface="Times New Roman" panose="02020603050405020304" charset="0"/>
              </a:rPr>
              <a:t>Sends relevant data to the next layer (Fog).</a:t>
            </a:r>
            <a:endParaRPr lang="en-IN" sz="2400" dirty="0">
              <a:latin typeface="Times New Roman" panose="02020603050405020304" charset="0"/>
              <a:cs typeface="Times New Roman" panose="02020603050405020304" charset="0"/>
            </a:endParaRPr>
          </a:p>
          <a:p>
            <a:r>
              <a:rPr lang="en-IN" sz="2400" b="1" dirty="0">
                <a:latin typeface="Times New Roman" panose="02020603050405020304" charset="0"/>
                <a:cs typeface="Times New Roman" panose="02020603050405020304" charset="0"/>
              </a:rPr>
              <a:t>Example</a:t>
            </a:r>
            <a:r>
              <a:rPr lang="en-IN" sz="2400" dirty="0">
                <a:latin typeface="Times New Roman" panose="02020603050405020304" charset="0"/>
                <a:cs typeface="Times New Roman" panose="02020603050405020304" charset="0"/>
              </a:rPr>
              <a:t>: A temperature sensor monitoring a machine in a factory.</a:t>
            </a:r>
            <a:endParaRPr lang="en-IN" sz="2400" dirty="0">
              <a:latin typeface="Times New Roman" panose="02020603050405020304" charset="0"/>
              <a:cs typeface="Times New Roman" panose="02020603050405020304" charset="0"/>
            </a:endParaRPr>
          </a:p>
          <a:p>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915" y="1905000"/>
            <a:ext cx="9996805" cy="3882390"/>
          </a:xfrm>
        </p:spPr>
        <p:txBody>
          <a:bodyPr>
            <a:normAutofit fontScale="50000"/>
          </a:bodyPr>
          <a:lstStyle/>
          <a:p>
            <a:pPr marL="0" indent="0">
              <a:buNone/>
            </a:pPr>
            <a:r>
              <a:rPr lang="en-US" sz="4800" b="1" dirty="0">
                <a:latin typeface="Times New Roman" panose="02020603050405020304" charset="0"/>
                <a:cs typeface="Times New Roman" panose="02020603050405020304" charset="0"/>
              </a:rPr>
              <a:t>2️</a:t>
            </a:r>
            <a:r>
              <a:rPr lang="en-US" sz="4000" b="1" dirty="0">
                <a:latin typeface="Times New Roman" panose="02020603050405020304" charset="0"/>
                <a:cs typeface="Times New Roman" panose="02020603050405020304" charset="0"/>
              </a:rPr>
              <a:t>Fog Layer (Intermediate Layer)</a:t>
            </a:r>
            <a:endParaRPr lang="en-US" sz="4000" b="1" dirty="0">
              <a:latin typeface="Times New Roman" panose="02020603050405020304" charset="0"/>
              <a:cs typeface="Times New Roman" panose="02020603050405020304" charset="0"/>
            </a:endParaRPr>
          </a:p>
          <a:p>
            <a:pPr marL="0" indent="0">
              <a:buNone/>
            </a:pPr>
            <a:endParaRPr lang="en-US" sz="4000" b="1" dirty="0">
              <a:latin typeface="Times New Roman" panose="02020603050405020304" charset="0"/>
              <a:cs typeface="Times New Roman" panose="02020603050405020304" charset="0"/>
            </a:endParaRPr>
          </a:p>
          <a:p>
            <a:r>
              <a:rPr lang="en-US" sz="4000" b="1" dirty="0">
                <a:latin typeface="Times New Roman" panose="02020603050405020304" charset="0"/>
                <a:cs typeface="Times New Roman" panose="02020603050405020304" charset="0"/>
              </a:rPr>
              <a:t>Location:</a:t>
            </a:r>
            <a:r>
              <a:rPr lang="en-US" sz="4000" dirty="0">
                <a:latin typeface="Times New Roman" panose="02020603050405020304" charset="0"/>
                <a:cs typeface="Times New Roman" panose="02020603050405020304" charset="0"/>
              </a:rPr>
              <a:t> Between the </a:t>
            </a:r>
            <a:r>
              <a:rPr lang="en-US" sz="4000" b="1" dirty="0">
                <a:latin typeface="Times New Roman" panose="02020603050405020304" charset="0"/>
                <a:cs typeface="Times New Roman" panose="02020603050405020304" charset="0"/>
              </a:rPr>
              <a:t>Edge</a:t>
            </a:r>
            <a:r>
              <a:rPr lang="en-US" sz="4000" dirty="0">
                <a:latin typeface="Times New Roman" panose="02020603050405020304" charset="0"/>
                <a:cs typeface="Times New Roman" panose="02020603050405020304" charset="0"/>
              </a:rPr>
              <a:t> and the </a:t>
            </a:r>
            <a:r>
              <a:rPr lang="en-US" sz="4000" b="1" dirty="0">
                <a:latin typeface="Times New Roman" panose="02020603050405020304" charset="0"/>
                <a:cs typeface="Times New Roman" panose="02020603050405020304" charset="0"/>
              </a:rPr>
              <a:t>Cloud</a:t>
            </a:r>
            <a:r>
              <a:rPr lang="en-US" sz="4000" dirty="0">
                <a:latin typeface="Times New Roman" panose="02020603050405020304" charset="0"/>
                <a:cs typeface="Times New Roman" panose="02020603050405020304" charset="0"/>
              </a:rPr>
              <a:t>, usually within the local network.</a:t>
            </a:r>
            <a:endParaRPr lang="en-US" sz="4000" dirty="0">
              <a:latin typeface="Times New Roman" panose="02020603050405020304" charset="0"/>
              <a:cs typeface="Times New Roman" panose="02020603050405020304" charset="0"/>
            </a:endParaRPr>
          </a:p>
          <a:p>
            <a:endParaRPr lang="en-US" sz="4000" dirty="0">
              <a:latin typeface="Times New Roman" panose="02020603050405020304" charset="0"/>
              <a:cs typeface="Times New Roman" panose="02020603050405020304" charset="0"/>
            </a:endParaRPr>
          </a:p>
          <a:p>
            <a:r>
              <a:rPr lang="en-US" sz="4000" b="1" dirty="0">
                <a:latin typeface="Times New Roman" panose="02020603050405020304" charset="0"/>
                <a:cs typeface="Times New Roman" panose="02020603050405020304" charset="0"/>
              </a:rPr>
              <a:t>Components:</a:t>
            </a:r>
            <a:r>
              <a:rPr lang="en-US" sz="4000" dirty="0">
                <a:latin typeface="Times New Roman" panose="02020603050405020304" charset="0"/>
                <a:cs typeface="Times New Roman" panose="02020603050405020304" charset="0"/>
              </a:rPr>
              <a:t> Gateways, routers, micro data centers, fog nodes.</a:t>
            </a:r>
            <a:endParaRPr lang="en-US" sz="4000" dirty="0">
              <a:latin typeface="Times New Roman" panose="02020603050405020304" charset="0"/>
              <a:cs typeface="Times New Roman" panose="02020603050405020304" charset="0"/>
            </a:endParaRPr>
          </a:p>
          <a:p>
            <a:endParaRPr lang="en-US" sz="4000" dirty="0">
              <a:latin typeface="Times New Roman" panose="02020603050405020304" charset="0"/>
              <a:cs typeface="Times New Roman" panose="02020603050405020304" charset="0"/>
            </a:endParaRPr>
          </a:p>
          <a:p>
            <a:r>
              <a:rPr lang="en-US" sz="4000" b="1" dirty="0">
                <a:latin typeface="Times New Roman" panose="02020603050405020304" charset="0"/>
                <a:cs typeface="Times New Roman" panose="02020603050405020304" charset="0"/>
              </a:rPr>
              <a:t>Function:</a:t>
            </a:r>
            <a:endParaRPr lang="en-US" sz="4000" b="1" dirty="0">
              <a:latin typeface="Times New Roman" panose="02020603050405020304" charset="0"/>
              <a:cs typeface="Times New Roman" panose="02020603050405020304" charset="0"/>
            </a:endParaRPr>
          </a:p>
          <a:p>
            <a:endParaRPr lang="en-US" sz="4000" dirty="0">
              <a:latin typeface="Times New Roman" panose="02020603050405020304" charset="0"/>
              <a:cs typeface="Times New Roman" panose="02020603050405020304" charset="0"/>
            </a:endParaRPr>
          </a:p>
          <a:p>
            <a:pPr lvl="1"/>
            <a:r>
              <a:rPr lang="en-US" sz="4000" dirty="0">
                <a:latin typeface="Times New Roman" panose="02020603050405020304" charset="0"/>
                <a:cs typeface="Times New Roman" panose="02020603050405020304" charset="0"/>
              </a:rPr>
              <a:t>Performs </a:t>
            </a:r>
            <a:r>
              <a:rPr lang="en-US" sz="4000" b="1" dirty="0">
                <a:latin typeface="Times New Roman" panose="02020603050405020304" charset="0"/>
                <a:cs typeface="Times New Roman" panose="02020603050405020304" charset="0"/>
              </a:rPr>
              <a:t>data aggregation and analysis</a:t>
            </a:r>
            <a:r>
              <a:rPr lang="en-US" sz="4000" dirty="0">
                <a:latin typeface="Times New Roman" panose="02020603050405020304" charset="0"/>
                <a:cs typeface="Times New Roman" panose="02020603050405020304" charset="0"/>
              </a:rPr>
              <a:t> close to the source.</a:t>
            </a:r>
            <a:endParaRPr lang="en-US" sz="4000" dirty="0">
              <a:latin typeface="Times New Roman" panose="02020603050405020304" charset="0"/>
              <a:cs typeface="Times New Roman" panose="02020603050405020304" charset="0"/>
            </a:endParaRPr>
          </a:p>
          <a:p>
            <a:pPr lvl="1"/>
            <a:r>
              <a:rPr lang="en-US" sz="4000" dirty="0">
                <a:latin typeface="Times New Roman" panose="02020603050405020304" charset="0"/>
                <a:cs typeface="Times New Roman" panose="02020603050405020304" charset="0"/>
              </a:rPr>
              <a:t>Reduces the load on the cloud by handling </a:t>
            </a:r>
            <a:r>
              <a:rPr lang="en-US" sz="4000" b="1" dirty="0">
                <a:latin typeface="Times New Roman" panose="02020603050405020304" charset="0"/>
                <a:cs typeface="Times New Roman" panose="02020603050405020304" charset="0"/>
              </a:rPr>
              <a:t>time-sensitive tasks locally</a:t>
            </a:r>
            <a:r>
              <a:rPr lang="en-US" sz="4000" dirty="0">
                <a:latin typeface="Times New Roman" panose="02020603050405020304" charset="0"/>
                <a:cs typeface="Times New Roman" panose="02020603050405020304" charset="0"/>
              </a:rPr>
              <a:t>.</a:t>
            </a:r>
            <a:endParaRPr lang="en-US" sz="4000" dirty="0">
              <a:latin typeface="Times New Roman" panose="02020603050405020304" charset="0"/>
              <a:cs typeface="Times New Roman" panose="02020603050405020304" charset="0"/>
            </a:endParaRPr>
          </a:p>
          <a:p>
            <a:pPr lvl="1"/>
            <a:r>
              <a:rPr lang="en-US" sz="4000" dirty="0">
                <a:latin typeface="Times New Roman" panose="02020603050405020304" charset="0"/>
                <a:cs typeface="Times New Roman" panose="02020603050405020304" charset="0"/>
              </a:rPr>
              <a:t>Provides </a:t>
            </a:r>
            <a:r>
              <a:rPr lang="en-US" sz="4000" b="1" dirty="0">
                <a:latin typeface="Times New Roman" panose="02020603050405020304" charset="0"/>
                <a:cs typeface="Times New Roman" panose="02020603050405020304" charset="0"/>
              </a:rPr>
              <a:t>storage</a:t>
            </a:r>
            <a:r>
              <a:rPr lang="en-US" sz="4000" dirty="0">
                <a:latin typeface="Times New Roman" panose="02020603050405020304" charset="0"/>
                <a:cs typeface="Times New Roman" panose="02020603050405020304" charset="0"/>
              </a:rPr>
              <a:t>, </a:t>
            </a:r>
            <a:r>
              <a:rPr lang="en-US" sz="4000" b="1" dirty="0">
                <a:latin typeface="Times New Roman" panose="02020603050405020304" charset="0"/>
                <a:cs typeface="Times New Roman" panose="02020603050405020304" charset="0"/>
              </a:rPr>
              <a:t>computation</a:t>
            </a:r>
            <a:r>
              <a:rPr lang="en-US" sz="4000" dirty="0">
                <a:latin typeface="Times New Roman" panose="02020603050405020304" charset="0"/>
                <a:cs typeface="Times New Roman" panose="02020603050405020304" charset="0"/>
              </a:rPr>
              <a:t>, and </a:t>
            </a:r>
            <a:r>
              <a:rPr lang="en-US" sz="4000" b="1" dirty="0">
                <a:latin typeface="Times New Roman" panose="02020603050405020304" charset="0"/>
                <a:cs typeface="Times New Roman" panose="02020603050405020304" charset="0"/>
              </a:rPr>
              <a:t>networking</a:t>
            </a:r>
            <a:r>
              <a:rPr lang="en-US" sz="4000" dirty="0">
                <a:latin typeface="Times New Roman" panose="02020603050405020304" charset="0"/>
                <a:cs typeface="Times New Roman" panose="02020603050405020304" charset="0"/>
              </a:rPr>
              <a:t> within the region.</a:t>
            </a:r>
            <a:endParaRPr lang="en-US" sz="4000" dirty="0">
              <a:latin typeface="Times New Roman" panose="02020603050405020304" charset="0"/>
              <a:cs typeface="Times New Roman" panose="02020603050405020304" charset="0"/>
            </a:endParaRPr>
          </a:p>
          <a:p>
            <a:pPr marL="0" indent="0">
              <a:buNone/>
            </a:pPr>
            <a:endParaRPr lang="en-IN" sz="4000" dirty="0"/>
          </a:p>
        </p:txBody>
      </p:sp>
      <p:sp>
        <p:nvSpPr>
          <p:cNvPr id="2" name="Text Box 1"/>
          <p:cNvSpPr txBox="1"/>
          <p:nvPr/>
        </p:nvSpPr>
        <p:spPr>
          <a:xfrm>
            <a:off x="1371600" y="838200"/>
            <a:ext cx="6096000" cy="583565"/>
          </a:xfrm>
          <a:prstGeom prst="rect">
            <a:avLst/>
          </a:prstGeom>
          <a:noFill/>
        </p:spPr>
        <p:txBody>
          <a:bodyPr wrap="square" rtlCol="0" anchor="t">
            <a:spAutoFit/>
          </a:bodyPr>
          <a:p>
            <a:r>
              <a:rPr lang="en-US" sz="3200" b="1">
                <a:sym typeface="+mn-ea"/>
              </a:rPr>
              <a:t>conti...</a:t>
            </a:r>
            <a:endParaRPr lang="en-US" sz="3200" b="1">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524000"/>
            <a:ext cx="10111105" cy="4800600"/>
          </a:xfrm>
        </p:spPr>
        <p:txBody>
          <a:bodyPr>
            <a:normAutofit/>
          </a:bodyPr>
          <a:lstStyle/>
          <a:p>
            <a:pPr marL="0" indent="0">
              <a:buNone/>
            </a:pPr>
            <a:r>
              <a:rPr lang="en-IN" sz="1950" b="1" dirty="0">
                <a:latin typeface="Times New Roman" panose="02020603050405020304" charset="0"/>
                <a:cs typeface="Times New Roman" panose="02020603050405020304" charset="0"/>
              </a:rPr>
              <a:t>3️</a:t>
            </a:r>
            <a:r>
              <a:rPr lang="en-IN" sz="2200" b="1" dirty="0">
                <a:latin typeface="Times New Roman" panose="02020603050405020304" charset="0"/>
                <a:cs typeface="Times New Roman" panose="02020603050405020304" charset="0"/>
              </a:rPr>
              <a:t>Cloud Layer</a:t>
            </a:r>
            <a:endParaRPr lang="en-IN" sz="2200" b="1" dirty="0">
              <a:latin typeface="Times New Roman" panose="02020603050405020304" charset="0"/>
              <a:cs typeface="Times New Roman" panose="02020603050405020304" charset="0"/>
            </a:endParaRPr>
          </a:p>
          <a:p>
            <a:r>
              <a:rPr lang="en-IN" sz="2200" b="1" dirty="0">
                <a:latin typeface="Times New Roman" panose="02020603050405020304" charset="0"/>
                <a:cs typeface="Times New Roman" panose="02020603050405020304" charset="0"/>
              </a:rPr>
              <a:t>Location:</a:t>
            </a:r>
            <a:r>
              <a:rPr lang="en-IN" sz="2200" dirty="0">
                <a:latin typeface="Times New Roman" panose="02020603050405020304" charset="0"/>
                <a:cs typeface="Times New Roman" panose="02020603050405020304" charset="0"/>
              </a:rPr>
              <a:t> Centralized, remote data </a:t>
            </a:r>
            <a:r>
              <a:rPr lang="en-IN" sz="2200" dirty="0" err="1">
                <a:latin typeface="Times New Roman" panose="02020603050405020304" charset="0"/>
                <a:cs typeface="Times New Roman" panose="02020603050405020304" charset="0"/>
              </a:rPr>
              <a:t>centers</a:t>
            </a:r>
            <a:r>
              <a:rPr lang="en-IN" sz="2200" dirty="0">
                <a:latin typeface="Times New Roman" panose="02020603050405020304" charset="0"/>
                <a:cs typeface="Times New Roman" panose="02020603050405020304" charset="0"/>
              </a:rPr>
              <a:t> (far from data sources).</a:t>
            </a:r>
            <a:endParaRPr lang="en-IN" sz="2200" dirty="0">
              <a:latin typeface="Times New Roman" panose="02020603050405020304" charset="0"/>
              <a:cs typeface="Times New Roman" panose="02020603050405020304" charset="0"/>
            </a:endParaRPr>
          </a:p>
          <a:p>
            <a:r>
              <a:rPr lang="en-IN" sz="2200" b="1" dirty="0">
                <a:latin typeface="Times New Roman" panose="02020603050405020304" charset="0"/>
                <a:cs typeface="Times New Roman" panose="02020603050405020304" charset="0"/>
              </a:rPr>
              <a:t>Components:</a:t>
            </a:r>
            <a:r>
              <a:rPr lang="en-IN" sz="2200" dirty="0">
                <a:latin typeface="Times New Roman" panose="02020603050405020304" charset="0"/>
                <a:cs typeface="Times New Roman" panose="02020603050405020304" charset="0"/>
              </a:rPr>
              <a:t> Cloud servers, data </a:t>
            </a:r>
            <a:r>
              <a:rPr lang="en-IN" sz="2200" dirty="0" err="1">
                <a:latin typeface="Times New Roman" panose="02020603050405020304" charset="0"/>
                <a:cs typeface="Times New Roman" panose="02020603050405020304" charset="0"/>
              </a:rPr>
              <a:t>centers</a:t>
            </a:r>
            <a:r>
              <a:rPr lang="en-IN" sz="2200" dirty="0">
                <a:latin typeface="Times New Roman" panose="02020603050405020304" charset="0"/>
                <a:cs typeface="Times New Roman" panose="02020603050405020304" charset="0"/>
              </a:rPr>
              <a:t>.</a:t>
            </a:r>
            <a:endParaRPr lang="en-IN" sz="2200" dirty="0">
              <a:latin typeface="Times New Roman" panose="02020603050405020304" charset="0"/>
              <a:cs typeface="Times New Roman" panose="02020603050405020304" charset="0"/>
            </a:endParaRPr>
          </a:p>
          <a:p>
            <a:r>
              <a:rPr lang="en-IN" sz="2200" b="1" dirty="0">
                <a:latin typeface="Times New Roman" panose="02020603050405020304" charset="0"/>
                <a:cs typeface="Times New Roman" panose="02020603050405020304" charset="0"/>
              </a:rPr>
              <a:t>Function:</a:t>
            </a:r>
            <a:endParaRPr lang="en-IN" sz="2200" dirty="0">
              <a:latin typeface="Times New Roman" panose="02020603050405020304" charset="0"/>
              <a:cs typeface="Times New Roman" panose="02020603050405020304" charset="0"/>
            </a:endParaRPr>
          </a:p>
          <a:p>
            <a:pPr lvl="1"/>
            <a:r>
              <a:rPr lang="en-IN" sz="2200" dirty="0">
                <a:latin typeface="Times New Roman" panose="02020603050405020304" charset="0"/>
                <a:cs typeface="Times New Roman" panose="02020603050405020304" charset="0"/>
              </a:rPr>
              <a:t>Handles </a:t>
            </a:r>
            <a:r>
              <a:rPr lang="en-IN" sz="2200" b="1" dirty="0">
                <a:latin typeface="Times New Roman" panose="02020603050405020304" charset="0"/>
                <a:cs typeface="Times New Roman" panose="02020603050405020304" charset="0"/>
              </a:rPr>
              <a:t>long-term storage</a:t>
            </a:r>
            <a:r>
              <a:rPr lang="en-IN" sz="2200" dirty="0">
                <a:latin typeface="Times New Roman" panose="02020603050405020304" charset="0"/>
                <a:cs typeface="Times New Roman" panose="02020603050405020304" charset="0"/>
              </a:rPr>
              <a:t> and </a:t>
            </a:r>
            <a:r>
              <a:rPr lang="en-IN" sz="2200" b="1" dirty="0">
                <a:latin typeface="Times New Roman" panose="02020603050405020304" charset="0"/>
                <a:cs typeface="Times New Roman" panose="02020603050405020304" charset="0"/>
              </a:rPr>
              <a:t>big data analytics</a:t>
            </a:r>
            <a:r>
              <a:rPr lang="en-IN" sz="2200" dirty="0">
                <a:latin typeface="Times New Roman" panose="02020603050405020304" charset="0"/>
                <a:cs typeface="Times New Roman" panose="02020603050405020304" charset="0"/>
              </a:rPr>
              <a:t>.</a:t>
            </a:r>
            <a:endParaRPr lang="en-IN" sz="2200" dirty="0">
              <a:latin typeface="Times New Roman" panose="02020603050405020304" charset="0"/>
              <a:cs typeface="Times New Roman" panose="02020603050405020304" charset="0"/>
            </a:endParaRPr>
          </a:p>
          <a:p>
            <a:pPr lvl="1"/>
            <a:r>
              <a:rPr lang="en-IN" sz="2200" dirty="0">
                <a:latin typeface="Times New Roman" panose="02020603050405020304" charset="0"/>
                <a:cs typeface="Times New Roman" panose="02020603050405020304" charset="0"/>
              </a:rPr>
              <a:t>Runs </a:t>
            </a:r>
            <a:r>
              <a:rPr lang="en-IN" sz="2200" b="1" dirty="0">
                <a:latin typeface="Times New Roman" panose="02020603050405020304" charset="0"/>
                <a:cs typeface="Times New Roman" panose="02020603050405020304" charset="0"/>
              </a:rPr>
              <a:t>machine learning models</a:t>
            </a:r>
            <a:r>
              <a:rPr lang="en-IN" sz="2200" dirty="0">
                <a:latin typeface="Times New Roman" panose="02020603050405020304" charset="0"/>
                <a:cs typeface="Times New Roman" panose="02020603050405020304" charset="0"/>
              </a:rPr>
              <a:t>, </a:t>
            </a:r>
            <a:r>
              <a:rPr lang="en-IN" sz="2200" b="1" dirty="0">
                <a:latin typeface="Times New Roman" panose="02020603050405020304" charset="0"/>
                <a:cs typeface="Times New Roman" panose="02020603050405020304" charset="0"/>
              </a:rPr>
              <a:t>historical analysis</a:t>
            </a:r>
            <a:r>
              <a:rPr lang="en-IN" sz="2200" dirty="0">
                <a:latin typeface="Times New Roman" panose="02020603050405020304" charset="0"/>
                <a:cs typeface="Times New Roman" panose="02020603050405020304" charset="0"/>
              </a:rPr>
              <a:t>, and </a:t>
            </a:r>
            <a:r>
              <a:rPr lang="en-IN" sz="2200" b="1" dirty="0">
                <a:latin typeface="Times New Roman" panose="02020603050405020304" charset="0"/>
                <a:cs typeface="Times New Roman" panose="02020603050405020304" charset="0"/>
              </a:rPr>
              <a:t>large-scale decision-making</a:t>
            </a:r>
            <a:r>
              <a:rPr lang="en-IN" sz="2200" dirty="0">
                <a:latin typeface="Times New Roman" panose="02020603050405020304" charset="0"/>
                <a:cs typeface="Times New Roman" panose="02020603050405020304" charset="0"/>
              </a:rPr>
              <a:t>.</a:t>
            </a:r>
            <a:endParaRPr lang="en-IN" sz="2200" dirty="0">
              <a:latin typeface="Times New Roman" panose="02020603050405020304" charset="0"/>
              <a:cs typeface="Times New Roman" panose="02020603050405020304" charset="0"/>
            </a:endParaRPr>
          </a:p>
          <a:p>
            <a:r>
              <a:rPr lang="en-IN" sz="2200" b="1" dirty="0">
                <a:latin typeface="Times New Roman" panose="02020603050405020304" charset="0"/>
                <a:cs typeface="Times New Roman" panose="02020603050405020304" charset="0"/>
              </a:rPr>
              <a:t>Example:</a:t>
            </a:r>
            <a:r>
              <a:rPr lang="en-IN" sz="2200" dirty="0">
                <a:latin typeface="Times New Roman" panose="02020603050405020304" charset="0"/>
                <a:cs typeface="Times New Roman" panose="02020603050405020304" charset="0"/>
              </a:rPr>
              <a:t> Cloud platform </a:t>
            </a:r>
            <a:r>
              <a:rPr lang="en-IN" sz="2200" dirty="0" err="1">
                <a:latin typeface="Times New Roman" panose="02020603050405020304" charset="0"/>
                <a:cs typeface="Times New Roman" panose="02020603050405020304" charset="0"/>
              </a:rPr>
              <a:t>analyzing</a:t>
            </a:r>
            <a:r>
              <a:rPr lang="en-IN" sz="2200" dirty="0">
                <a:latin typeface="Times New Roman" panose="02020603050405020304" charset="0"/>
                <a:cs typeface="Times New Roman" panose="02020603050405020304" charset="0"/>
              </a:rPr>
              <a:t> months of temperature data to predict maintenance schedules.</a:t>
            </a:r>
            <a:endParaRPr lang="en-IN" sz="2200" dirty="0">
              <a:latin typeface="Times New Roman" panose="02020603050405020304" charset="0"/>
              <a:cs typeface="Times New Roman" panose="02020603050405020304" charset="0"/>
            </a:endParaRPr>
          </a:p>
          <a:p>
            <a:pPr marL="0" indent="0">
              <a:buNone/>
            </a:pPr>
            <a:r>
              <a:rPr lang="en-US" sz="2200" b="0" dirty="0">
                <a:latin typeface="Times New Roman" panose="02020603050405020304" charset="0"/>
                <a:cs typeface="Times New Roman" panose="02020603050405020304" charset="0"/>
              </a:rPr>
              <a:t>Hierarchical Flow of Data</a:t>
            </a:r>
            <a:endParaRPr lang="en-US" sz="2200" b="0" dirty="0">
              <a:latin typeface="Times New Roman" panose="02020603050405020304" charset="0"/>
              <a:cs typeface="Times New Roman" panose="02020603050405020304" charset="0"/>
            </a:endParaRPr>
          </a:p>
          <a:p>
            <a:r>
              <a:rPr lang="en-US" sz="2200" b="0" dirty="0">
                <a:latin typeface="Times New Roman" panose="02020603050405020304" charset="0"/>
                <a:cs typeface="Times New Roman" panose="02020603050405020304" charset="0"/>
              </a:rPr>
              <a:t>Edge Devices → Fog Nodes → Cloud Servers</a:t>
            </a:r>
            <a:endParaRPr lang="en-US" sz="2200" b="0" dirty="0">
              <a:latin typeface="Times New Roman" panose="02020603050405020304" charset="0"/>
              <a:cs typeface="Times New Roman" panose="02020603050405020304" charset="0"/>
            </a:endParaRPr>
          </a:p>
          <a:p>
            <a:r>
              <a:rPr lang="en-US" sz="2200" b="0" dirty="0">
                <a:latin typeface="Times New Roman" panose="02020603050405020304" charset="0"/>
                <a:cs typeface="Times New Roman" panose="02020603050405020304" charset="0"/>
              </a:rPr>
              <a:t>Each layer performs its own role in processing and passing only necessary data upwards, thereby optimizing latency and network usage.</a:t>
            </a:r>
            <a:endParaRPr lang="en-US" sz="2200" b="0" dirty="0">
              <a:latin typeface="Times New Roman" panose="02020603050405020304" charset="0"/>
              <a:cs typeface="Times New Roman" panose="02020603050405020304" charset="0"/>
            </a:endParaRPr>
          </a:p>
          <a:p>
            <a:endParaRPr lang="en-IN" b="0" dirty="0"/>
          </a:p>
        </p:txBody>
      </p:sp>
      <p:sp>
        <p:nvSpPr>
          <p:cNvPr id="2" name="Text Box 1"/>
          <p:cNvSpPr txBox="1"/>
          <p:nvPr/>
        </p:nvSpPr>
        <p:spPr>
          <a:xfrm>
            <a:off x="1219200" y="533400"/>
            <a:ext cx="6096000" cy="583565"/>
          </a:xfrm>
          <a:prstGeom prst="rect">
            <a:avLst/>
          </a:prstGeom>
          <a:noFill/>
        </p:spPr>
        <p:txBody>
          <a:bodyPr wrap="square" rtlCol="0" anchor="t">
            <a:spAutoFit/>
          </a:bodyPr>
          <a:p>
            <a:r>
              <a:rPr lang="en-US" sz="3200" b="1">
                <a:sym typeface="+mn-ea"/>
              </a:rPr>
              <a:t>conti...</a:t>
            </a:r>
            <a:endParaRPr lang="en-US" sz="3200" b="1">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pPr algn="ctr"/>
            <a:r>
              <a:rPr lang="en-US">
                <a:sym typeface="+mn-ea"/>
              </a:rPr>
              <a:t>Module 1 -L8</a:t>
            </a:r>
            <a:endParaRPr lang="en-US"/>
          </a:p>
        </p:txBody>
      </p:sp>
      <p:sp>
        <p:nvSpPr>
          <p:cNvPr id="3" name="Text Box 2"/>
          <p:cNvSpPr txBox="1"/>
          <p:nvPr/>
        </p:nvSpPr>
        <p:spPr>
          <a:xfrm>
            <a:off x="232410" y="2514600"/>
            <a:ext cx="10834370" cy="2326640"/>
          </a:xfrm>
          <a:prstGeom prst="rect">
            <a:avLst/>
          </a:prstGeom>
          <a:noFill/>
        </p:spPr>
        <p:txBody>
          <a:bodyPr wrap="square" rtlCol="0" anchor="t">
            <a:spAutoFit/>
          </a:bodyPr>
          <a:p>
            <a:pPr marL="12700">
              <a:lnSpc>
                <a:spcPct val="100000"/>
              </a:lnSpc>
              <a:spcBef>
                <a:spcPts val="105"/>
              </a:spcBef>
            </a:pPr>
            <a:r>
              <a:rPr sz="2000" b="1" dirty="0">
                <a:solidFill>
                  <a:srgbClr val="0D0D0D"/>
                </a:solidFill>
                <a:latin typeface="Arial" panose="020B0604020202020204"/>
                <a:cs typeface="Arial" panose="020B0604020202020204"/>
                <a:sym typeface="+mn-ea"/>
              </a:rPr>
              <a:t>LO1:</a:t>
            </a:r>
            <a:r>
              <a:rPr sz="2000" b="1" spc="-60"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Define</a:t>
            </a:r>
            <a:r>
              <a:rPr sz="2000" b="1" spc="-55"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Inner</a:t>
            </a:r>
            <a:r>
              <a:rPr sz="2000" b="1" spc="-55"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Edge</a:t>
            </a:r>
            <a:r>
              <a:rPr sz="2000" b="1" spc="-25" dirty="0">
                <a:solidFill>
                  <a:srgbClr val="0D0D0D"/>
                </a:solidFill>
                <a:latin typeface="Arial" panose="020B0604020202020204"/>
                <a:cs typeface="Arial" panose="020B0604020202020204"/>
                <a:sym typeface="+mn-ea"/>
              </a:rPr>
              <a:t> </a:t>
            </a:r>
            <a:r>
              <a:rPr sz="2000" b="1" spc="-10" dirty="0">
                <a:solidFill>
                  <a:srgbClr val="0D0D0D"/>
                </a:solidFill>
                <a:latin typeface="Arial" panose="020B0604020202020204"/>
                <a:cs typeface="Arial" panose="020B0604020202020204"/>
                <a:sym typeface="+mn-ea"/>
              </a:rPr>
              <a:t>Device.</a:t>
            </a:r>
            <a:endParaRPr lang="en-US" sz="2000" b="1" spc="-10" dirty="0">
              <a:solidFill>
                <a:srgbClr val="0D0D0D"/>
              </a:solidFill>
              <a:latin typeface="Arial" panose="020B0604020202020204"/>
              <a:cs typeface="Arial" panose="020B0604020202020204"/>
              <a:sym typeface="+mn-ea"/>
            </a:endParaRPr>
          </a:p>
          <a:p>
            <a:pPr marL="12700">
              <a:lnSpc>
                <a:spcPct val="100000"/>
              </a:lnSpc>
              <a:spcBef>
                <a:spcPts val="105"/>
              </a:spcBef>
            </a:pPr>
            <a:r>
              <a:rPr sz="2000" b="1" dirty="0">
                <a:solidFill>
                  <a:srgbClr val="404040"/>
                </a:solidFill>
                <a:latin typeface="Arial" panose="020B0604020202020204"/>
                <a:cs typeface="Arial" panose="020B0604020202020204"/>
                <a:sym typeface="+mn-ea"/>
              </a:rPr>
              <a:t>LO2:</a:t>
            </a:r>
            <a:r>
              <a:rPr sz="2000" b="1" dirty="0">
                <a:solidFill>
                  <a:srgbClr val="0D0D0D"/>
                </a:solidFill>
                <a:latin typeface="Arial" panose="020B0604020202020204"/>
                <a:cs typeface="Arial" panose="020B0604020202020204"/>
                <a:sym typeface="+mn-ea"/>
              </a:rPr>
              <a:t>Differentiate</a:t>
            </a:r>
            <a:r>
              <a:rPr sz="2000" b="1" spc="-85"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Outer</a:t>
            </a:r>
            <a:r>
              <a:rPr sz="2000" b="1" spc="-70"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Edge</a:t>
            </a:r>
            <a:r>
              <a:rPr sz="2000" b="1" spc="-35"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and</a:t>
            </a:r>
            <a:r>
              <a:rPr sz="2000" b="1" spc="-60"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inner</a:t>
            </a:r>
            <a:r>
              <a:rPr sz="2000" b="1" spc="-60" dirty="0">
                <a:solidFill>
                  <a:srgbClr val="0D0D0D"/>
                </a:solidFill>
                <a:latin typeface="Arial" panose="020B0604020202020204"/>
                <a:cs typeface="Arial" panose="020B0604020202020204"/>
                <a:sym typeface="+mn-ea"/>
              </a:rPr>
              <a:t> </a:t>
            </a:r>
            <a:r>
              <a:rPr sz="2000" b="1" dirty="0">
                <a:solidFill>
                  <a:srgbClr val="0D0D0D"/>
                </a:solidFill>
                <a:latin typeface="Arial" panose="020B0604020202020204"/>
                <a:cs typeface="Arial" panose="020B0604020202020204"/>
                <a:sym typeface="+mn-ea"/>
              </a:rPr>
              <a:t>Edge</a:t>
            </a:r>
            <a:r>
              <a:rPr sz="2000" b="1" spc="-35" dirty="0">
                <a:solidFill>
                  <a:srgbClr val="0D0D0D"/>
                </a:solidFill>
                <a:latin typeface="Arial" panose="020B0604020202020204"/>
                <a:cs typeface="Arial" panose="020B0604020202020204"/>
                <a:sym typeface="+mn-ea"/>
              </a:rPr>
              <a:t> </a:t>
            </a:r>
            <a:r>
              <a:rPr sz="2000" b="1" spc="-10" dirty="0">
                <a:solidFill>
                  <a:srgbClr val="0D0D0D"/>
                </a:solidFill>
                <a:latin typeface="Arial" panose="020B0604020202020204"/>
                <a:cs typeface="Arial" panose="020B0604020202020204"/>
                <a:sym typeface="+mn-ea"/>
              </a:rPr>
              <a:t>Device</a:t>
            </a:r>
            <a:endParaRPr sz="2000" b="1" spc="-10" dirty="0">
              <a:solidFill>
                <a:srgbClr val="0D0D0D"/>
              </a:solidFill>
              <a:latin typeface="Arial" panose="020B0604020202020204"/>
              <a:cs typeface="Arial" panose="020B0604020202020204"/>
              <a:sym typeface="+mn-ea"/>
            </a:endParaRPr>
          </a:p>
          <a:p>
            <a:pPr marL="12700">
              <a:lnSpc>
                <a:spcPct val="100000"/>
              </a:lnSpc>
              <a:spcBef>
                <a:spcPts val="105"/>
              </a:spcBef>
            </a:pPr>
            <a:r>
              <a:rPr lang="en-US" altLang="en-US" sz="2000">
                <a:sym typeface="+mn-ea"/>
              </a:rPr>
              <a:t>LO3 </a:t>
            </a:r>
            <a:r>
              <a:rPr lang="en-US" altLang="en-US" sz="2000">
                <a:sym typeface="+mn-ea"/>
              </a:rPr>
              <a:t>Explain the hierarchy of fog and edge computing  deployed layers with a diagram</a:t>
            </a:r>
            <a:endParaRPr sz="2000" b="1" dirty="0">
              <a:solidFill>
                <a:srgbClr val="0D0D0D"/>
              </a:solidFill>
              <a:latin typeface="Arial" panose="020B0604020202020204"/>
              <a:cs typeface="Arial" panose="020B0604020202020204"/>
              <a:sym typeface="+mn-ea"/>
            </a:endParaRPr>
          </a:p>
          <a:p>
            <a:pPr marL="12700">
              <a:lnSpc>
                <a:spcPct val="100000"/>
              </a:lnSpc>
              <a:spcBef>
                <a:spcPts val="105"/>
              </a:spcBef>
            </a:pPr>
            <a:endParaRPr lang="en-US" altLang="en-US" sz="2000"/>
          </a:p>
          <a:p>
            <a:pPr marL="12700">
              <a:lnSpc>
                <a:spcPct val="100000"/>
              </a:lnSpc>
              <a:spcBef>
                <a:spcPts val="105"/>
              </a:spcBef>
            </a:pPr>
            <a:r>
              <a:rPr lang="en-US" altLang="en-US" sz="2000">
                <a:sym typeface="+mn-ea"/>
              </a:rPr>
              <a:t>LO4 Describe the function of each layer in the fog–edge hierarchy</a:t>
            </a:r>
            <a:endParaRPr lang="en-US" altLang="en-US" sz="2000"/>
          </a:p>
          <a:p>
            <a:pPr marL="12700">
              <a:lnSpc>
                <a:spcPct val="100000"/>
              </a:lnSpc>
              <a:spcBef>
                <a:spcPts val="105"/>
              </a:spcBef>
            </a:pPr>
            <a:endParaRPr sz="2000" dirty="0">
              <a:latin typeface="Arial" panose="020B0604020202020204"/>
              <a:cs typeface="Arial" panose="020B0604020202020204"/>
            </a:endParaRPr>
          </a:p>
          <a:p>
            <a:pPr marL="12700">
              <a:lnSpc>
                <a:spcPct val="100000"/>
              </a:lnSpc>
              <a:spcBef>
                <a:spcPts val="105"/>
              </a:spcBef>
            </a:pPr>
            <a:endParaRPr lang="en-US" sz="2000" b="1" spc="-10" dirty="0">
              <a:solidFill>
                <a:srgbClr val="0D0D0D"/>
              </a:solidFill>
              <a:latin typeface="Arial" panose="020B0604020202020204"/>
              <a:cs typeface="Arial" panose="020B0604020202020204"/>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prstGeom prst="rect">
            <a:avLst/>
          </a:prstGeom>
        </p:spPr>
        <p:txBody>
          <a:bodyPr vert="horz" wrap="square" lIns="0" tIns="684149" rIns="0" bIns="0" rtlCol="0">
            <a:spAutoFit/>
          </a:bodyPr>
          <a:lstStyle/>
          <a:p>
            <a:pPr marL="610235">
              <a:lnSpc>
                <a:spcPct val="100000"/>
              </a:lnSpc>
              <a:spcBef>
                <a:spcPts val="95"/>
              </a:spcBef>
            </a:pPr>
            <a:r>
              <a:rPr sz="4900" spc="-85" dirty="0"/>
              <a:t>Hierarchy</a:t>
            </a:r>
            <a:r>
              <a:rPr sz="4900" spc="-195" dirty="0"/>
              <a:t> </a:t>
            </a:r>
            <a:r>
              <a:rPr sz="4900" dirty="0"/>
              <a:t>of</a:t>
            </a:r>
            <a:r>
              <a:rPr sz="4900" spc="-225" dirty="0"/>
              <a:t> </a:t>
            </a:r>
            <a:r>
              <a:rPr sz="4900" spc="-25" dirty="0"/>
              <a:t>Fog</a:t>
            </a:r>
            <a:r>
              <a:rPr sz="4900" spc="-204" dirty="0"/>
              <a:t> </a:t>
            </a:r>
            <a:r>
              <a:rPr sz="4900" dirty="0"/>
              <a:t>and</a:t>
            </a:r>
            <a:r>
              <a:rPr sz="4900" spc="-204" dirty="0"/>
              <a:t> </a:t>
            </a:r>
            <a:r>
              <a:rPr sz="4900" spc="-55" dirty="0"/>
              <a:t>Edge</a:t>
            </a:r>
            <a:r>
              <a:rPr sz="4900" spc="-215" dirty="0"/>
              <a:t> </a:t>
            </a:r>
            <a:r>
              <a:rPr sz="4900" spc="-10" dirty="0"/>
              <a:t>Computing</a:t>
            </a:r>
            <a:endParaRPr sz="4900" dirty="0"/>
          </a:p>
        </p:txBody>
      </p:sp>
      <p:sp>
        <p:nvSpPr>
          <p:cNvPr id="4" name="object 4"/>
          <p:cNvSpPr txBox="1"/>
          <p:nvPr/>
        </p:nvSpPr>
        <p:spPr>
          <a:xfrm>
            <a:off x="731621" y="2106168"/>
            <a:ext cx="10532745" cy="2933065"/>
          </a:xfrm>
          <a:prstGeom prst="rect">
            <a:avLst/>
          </a:prstGeom>
        </p:spPr>
        <p:txBody>
          <a:bodyPr vert="horz" wrap="square" lIns="0" tIns="12700" rIns="0" bIns="0" rtlCol="0">
            <a:spAutoFit/>
          </a:bodyPr>
          <a:lstStyle/>
          <a:p>
            <a:pPr marL="277495" marR="7620" indent="-265430">
              <a:lnSpc>
                <a:spcPct val="107000"/>
              </a:lnSpc>
              <a:spcBef>
                <a:spcPts val="100"/>
              </a:spcBef>
              <a:buClr>
                <a:srgbClr val="E88A33"/>
              </a:buClr>
              <a:buFont typeface="Wingdings" panose="05000000000000000000"/>
              <a:buChar char=""/>
              <a:tabLst>
                <a:tab pos="277495" algn="l"/>
              </a:tabLst>
            </a:pPr>
            <a:r>
              <a:rPr sz="2400" dirty="0">
                <a:solidFill>
                  <a:srgbClr val="6F2F9F"/>
                </a:solidFill>
                <a:latin typeface="Palatino Linotype" panose="02040502050505030304"/>
                <a:cs typeface="Palatino Linotype" panose="02040502050505030304"/>
              </a:rPr>
              <a:t>Fog</a:t>
            </a:r>
            <a:r>
              <a:rPr sz="2400" spc="8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and</a:t>
            </a:r>
            <a:r>
              <a:rPr sz="2400" spc="8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edge</a:t>
            </a:r>
            <a:r>
              <a:rPr sz="2400" spc="9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computing</a:t>
            </a:r>
            <a:r>
              <a:rPr sz="2400" spc="9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are</a:t>
            </a:r>
            <a:r>
              <a:rPr sz="2400" spc="10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both</a:t>
            </a:r>
            <a:r>
              <a:rPr sz="2400" spc="9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paradigms</a:t>
            </a:r>
            <a:r>
              <a:rPr sz="2400" spc="10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that</a:t>
            </a:r>
            <a:r>
              <a:rPr sz="2400" spc="9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extend</a:t>
            </a:r>
            <a:r>
              <a:rPr sz="2400" spc="9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cloud</a:t>
            </a:r>
            <a:r>
              <a:rPr sz="2400" spc="1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computing capabilities</a:t>
            </a:r>
            <a:endParaRPr sz="2400">
              <a:latin typeface="Palatino Linotype" panose="02040502050505030304"/>
              <a:cs typeface="Palatino Linotype" panose="02040502050505030304"/>
            </a:endParaRPr>
          </a:p>
          <a:p>
            <a:pPr marL="277495" marR="6350" indent="-265430">
              <a:lnSpc>
                <a:spcPct val="107000"/>
              </a:lnSpc>
              <a:spcBef>
                <a:spcPts val="2000"/>
              </a:spcBef>
              <a:buClr>
                <a:srgbClr val="E88A33"/>
              </a:buClr>
              <a:buFont typeface="Wingdings" panose="05000000000000000000"/>
              <a:buChar char=""/>
              <a:tabLst>
                <a:tab pos="277495" algn="l"/>
                <a:tab pos="1298575" algn="l"/>
                <a:tab pos="2211705" algn="l"/>
                <a:tab pos="2606675" algn="l"/>
                <a:tab pos="3158490" algn="l"/>
                <a:tab pos="3877945" algn="l"/>
                <a:tab pos="4889500" algn="l"/>
                <a:tab pos="5304155" algn="l"/>
                <a:tab pos="6753225" algn="l"/>
                <a:tab pos="7148830" algn="l"/>
                <a:tab pos="8195945" algn="l"/>
                <a:tab pos="9370695" algn="l"/>
              </a:tabLst>
            </a:pPr>
            <a:r>
              <a:rPr sz="2400" spc="-10" dirty="0">
                <a:solidFill>
                  <a:srgbClr val="6F2F9F"/>
                </a:solidFill>
                <a:latin typeface="Palatino Linotype" panose="02040502050505030304"/>
                <a:cs typeface="Palatino Linotype" panose="02040502050505030304"/>
              </a:rPr>
              <a:t>Placed</a:t>
            </a:r>
            <a:r>
              <a:rPr sz="24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closer</a:t>
            </a:r>
            <a:r>
              <a:rPr sz="2400" dirty="0">
                <a:solidFill>
                  <a:srgbClr val="6F2F9F"/>
                </a:solidFill>
                <a:latin typeface="Palatino Linotype" panose="02040502050505030304"/>
                <a:cs typeface="Palatino Linotype" panose="02040502050505030304"/>
              </a:rPr>
              <a:t>	</a:t>
            </a:r>
            <a:r>
              <a:rPr sz="2400" spc="-25" dirty="0">
                <a:solidFill>
                  <a:srgbClr val="6F2F9F"/>
                </a:solidFill>
                <a:latin typeface="Palatino Linotype" panose="02040502050505030304"/>
                <a:cs typeface="Palatino Linotype" panose="02040502050505030304"/>
              </a:rPr>
              <a:t>to</a:t>
            </a:r>
            <a:r>
              <a:rPr sz="2400" dirty="0">
                <a:solidFill>
                  <a:srgbClr val="6F2F9F"/>
                </a:solidFill>
                <a:latin typeface="Palatino Linotype" panose="02040502050505030304"/>
                <a:cs typeface="Palatino Linotype" panose="02040502050505030304"/>
              </a:rPr>
              <a:t>	</a:t>
            </a:r>
            <a:r>
              <a:rPr sz="2400" spc="-25" dirty="0">
                <a:solidFill>
                  <a:srgbClr val="6F2F9F"/>
                </a:solidFill>
                <a:latin typeface="Palatino Linotype" panose="02040502050505030304"/>
                <a:cs typeface="Palatino Linotype" panose="02040502050505030304"/>
              </a:rPr>
              <a:t>the</a:t>
            </a:r>
            <a:r>
              <a:rPr sz="2400" dirty="0">
                <a:solidFill>
                  <a:srgbClr val="6F2F9F"/>
                </a:solidFill>
                <a:latin typeface="Palatino Linotype" panose="02040502050505030304"/>
                <a:cs typeface="Palatino Linotype" panose="02040502050505030304"/>
              </a:rPr>
              <a:t>	</a:t>
            </a:r>
            <a:r>
              <a:rPr sz="2400" spc="-20" dirty="0">
                <a:solidFill>
                  <a:srgbClr val="6F2F9F"/>
                </a:solidFill>
                <a:latin typeface="Palatino Linotype" panose="02040502050505030304"/>
                <a:cs typeface="Palatino Linotype" panose="02040502050505030304"/>
              </a:rPr>
              <a:t>data</a:t>
            </a:r>
            <a:r>
              <a:rPr sz="24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source</a:t>
            </a:r>
            <a:r>
              <a:rPr sz="2400" dirty="0">
                <a:solidFill>
                  <a:srgbClr val="6F2F9F"/>
                </a:solidFill>
                <a:latin typeface="Palatino Linotype" panose="02040502050505030304"/>
                <a:cs typeface="Palatino Linotype" panose="02040502050505030304"/>
              </a:rPr>
              <a:t>	</a:t>
            </a:r>
            <a:r>
              <a:rPr sz="2400" spc="-25" dirty="0">
                <a:solidFill>
                  <a:srgbClr val="6F2F9F"/>
                </a:solidFill>
                <a:latin typeface="Palatino Linotype" panose="02040502050505030304"/>
                <a:cs typeface="Palatino Linotype" panose="02040502050505030304"/>
              </a:rPr>
              <a:t>or</a:t>
            </a:r>
            <a:r>
              <a:rPr sz="24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end-users</a:t>
            </a:r>
            <a:r>
              <a:rPr sz="2400" dirty="0">
                <a:solidFill>
                  <a:srgbClr val="6F2F9F"/>
                </a:solidFill>
                <a:latin typeface="Palatino Linotype" panose="02040502050505030304"/>
                <a:cs typeface="Palatino Linotype" panose="02040502050505030304"/>
              </a:rPr>
              <a:t>	</a:t>
            </a:r>
            <a:r>
              <a:rPr sz="2400" spc="-25" dirty="0">
                <a:solidFill>
                  <a:srgbClr val="6F2F9F"/>
                </a:solidFill>
                <a:latin typeface="Palatino Linotype" panose="02040502050505030304"/>
                <a:cs typeface="Palatino Linotype" panose="02040502050505030304"/>
              </a:rPr>
              <a:t>to</a:t>
            </a:r>
            <a:r>
              <a:rPr sz="24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reduce</a:t>
            </a:r>
            <a:r>
              <a:rPr sz="24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latency,</a:t>
            </a:r>
            <a:r>
              <a:rPr sz="240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improve </a:t>
            </a:r>
            <a:r>
              <a:rPr sz="2400" dirty="0">
                <a:solidFill>
                  <a:srgbClr val="6F2F9F"/>
                </a:solidFill>
                <a:latin typeface="Palatino Linotype" panose="02040502050505030304"/>
                <a:cs typeface="Palatino Linotype" panose="02040502050505030304"/>
              </a:rPr>
              <a:t>responsiveness,</a:t>
            </a:r>
            <a:r>
              <a:rPr sz="2400" spc="-5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and</a:t>
            </a:r>
            <a:r>
              <a:rPr sz="2400" spc="-5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enable</a:t>
            </a:r>
            <a:r>
              <a:rPr sz="2400" spc="-5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real-</a:t>
            </a:r>
            <a:r>
              <a:rPr sz="2400" dirty="0">
                <a:solidFill>
                  <a:srgbClr val="6F2F9F"/>
                </a:solidFill>
                <a:latin typeface="Palatino Linotype" panose="02040502050505030304"/>
                <a:cs typeface="Palatino Linotype" panose="02040502050505030304"/>
              </a:rPr>
              <a:t>time</a:t>
            </a:r>
            <a:r>
              <a:rPr sz="2400" spc="-35"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processing</a:t>
            </a:r>
            <a:endParaRPr sz="2400">
              <a:latin typeface="Palatino Linotype" panose="02040502050505030304"/>
              <a:cs typeface="Palatino Linotype" panose="02040502050505030304"/>
            </a:endParaRPr>
          </a:p>
          <a:p>
            <a:pPr marL="277495" marR="5080" indent="-265430">
              <a:lnSpc>
                <a:spcPct val="115000"/>
              </a:lnSpc>
              <a:spcBef>
                <a:spcPts val="1945"/>
              </a:spcBef>
              <a:buClr>
                <a:srgbClr val="E88A33"/>
              </a:buClr>
              <a:buFont typeface="Wingdings" panose="05000000000000000000"/>
              <a:buChar char=""/>
              <a:tabLst>
                <a:tab pos="277495" algn="l"/>
              </a:tabLst>
            </a:pPr>
            <a:r>
              <a:rPr sz="2400" dirty="0">
                <a:solidFill>
                  <a:srgbClr val="6F2F9F"/>
                </a:solidFill>
                <a:latin typeface="Palatino Linotype" panose="02040502050505030304"/>
                <a:cs typeface="Palatino Linotype" panose="02040502050505030304"/>
              </a:rPr>
              <a:t>However,</a:t>
            </a:r>
            <a:r>
              <a:rPr sz="2400" spc="33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they</a:t>
            </a:r>
            <a:r>
              <a:rPr sz="2400" spc="33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operate</a:t>
            </a:r>
            <a:r>
              <a:rPr sz="2400" spc="34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at</a:t>
            </a:r>
            <a:r>
              <a:rPr sz="2400" spc="33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different</a:t>
            </a:r>
            <a:r>
              <a:rPr sz="2400" spc="32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proximity</a:t>
            </a:r>
            <a:r>
              <a:rPr sz="2400" spc="33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levels</a:t>
            </a:r>
            <a:r>
              <a:rPr sz="2400" spc="33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to</a:t>
            </a:r>
            <a:r>
              <a:rPr sz="2400" spc="34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the</a:t>
            </a:r>
            <a:r>
              <a:rPr sz="2400" spc="33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end-</a:t>
            </a:r>
            <a:r>
              <a:rPr sz="2400" dirty="0">
                <a:solidFill>
                  <a:srgbClr val="6F2F9F"/>
                </a:solidFill>
                <a:latin typeface="Palatino Linotype" panose="02040502050505030304"/>
                <a:cs typeface="Palatino Linotype" panose="02040502050505030304"/>
              </a:rPr>
              <a:t>users</a:t>
            </a:r>
            <a:r>
              <a:rPr sz="2400" spc="340" dirty="0">
                <a:solidFill>
                  <a:srgbClr val="6F2F9F"/>
                </a:solidFill>
                <a:latin typeface="Palatino Linotype" panose="02040502050505030304"/>
                <a:cs typeface="Palatino Linotype" panose="02040502050505030304"/>
              </a:rPr>
              <a:t> </a:t>
            </a:r>
            <a:r>
              <a:rPr sz="2400" spc="-25" dirty="0">
                <a:solidFill>
                  <a:srgbClr val="6F2F9F"/>
                </a:solidFill>
                <a:latin typeface="Palatino Linotype" panose="02040502050505030304"/>
                <a:cs typeface="Palatino Linotype" panose="02040502050505030304"/>
              </a:rPr>
              <a:t>and </a:t>
            </a:r>
            <a:r>
              <a:rPr sz="2400" dirty="0">
                <a:solidFill>
                  <a:srgbClr val="6F2F9F"/>
                </a:solidFill>
                <a:latin typeface="Palatino Linotype" panose="02040502050505030304"/>
                <a:cs typeface="Palatino Linotype" panose="02040502050505030304"/>
              </a:rPr>
              <a:t>have</a:t>
            </a:r>
            <a:r>
              <a:rPr sz="2400" spc="-3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distinct</a:t>
            </a:r>
            <a:r>
              <a:rPr sz="2400" spc="-2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characteristics</a:t>
            </a:r>
            <a:endParaRPr sz="2400">
              <a:latin typeface="Palatino Linotype" panose="02040502050505030304"/>
              <a:cs typeface="Palatino Linotype" panose="020405020505050303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prstGeom prst="rect">
            <a:avLst/>
          </a:prstGeom>
        </p:spPr>
        <p:txBody>
          <a:bodyPr vert="horz" wrap="square" lIns="0" tIns="684149" rIns="0" bIns="0" rtlCol="0">
            <a:spAutoFit/>
          </a:bodyPr>
          <a:lstStyle/>
          <a:p>
            <a:pPr marL="610235">
              <a:lnSpc>
                <a:spcPct val="100000"/>
              </a:lnSpc>
              <a:spcBef>
                <a:spcPts val="95"/>
              </a:spcBef>
            </a:pPr>
            <a:r>
              <a:rPr sz="4900" spc="-85" dirty="0"/>
              <a:t>Hierarchy</a:t>
            </a:r>
            <a:r>
              <a:rPr sz="4900" spc="-195" dirty="0"/>
              <a:t> </a:t>
            </a:r>
            <a:r>
              <a:rPr sz="4900" dirty="0"/>
              <a:t>of</a:t>
            </a:r>
            <a:r>
              <a:rPr sz="4900" spc="-225" dirty="0"/>
              <a:t> </a:t>
            </a:r>
            <a:r>
              <a:rPr sz="4900" spc="-25" dirty="0"/>
              <a:t>Fog</a:t>
            </a:r>
            <a:r>
              <a:rPr sz="4900" spc="-204" dirty="0"/>
              <a:t> </a:t>
            </a:r>
            <a:r>
              <a:rPr sz="4900" dirty="0"/>
              <a:t>and</a:t>
            </a:r>
            <a:r>
              <a:rPr sz="4900" spc="-204" dirty="0"/>
              <a:t> </a:t>
            </a:r>
            <a:r>
              <a:rPr sz="4900" spc="-55" dirty="0"/>
              <a:t>Edge</a:t>
            </a:r>
            <a:r>
              <a:rPr sz="4900" spc="-215" dirty="0"/>
              <a:t> </a:t>
            </a:r>
            <a:r>
              <a:rPr sz="4900" spc="-10" dirty="0"/>
              <a:t>Computing</a:t>
            </a:r>
            <a:endParaRPr sz="4900"/>
          </a:p>
        </p:txBody>
      </p:sp>
      <p:sp>
        <p:nvSpPr>
          <p:cNvPr id="4" name="object 4"/>
          <p:cNvSpPr txBox="1"/>
          <p:nvPr/>
        </p:nvSpPr>
        <p:spPr>
          <a:xfrm>
            <a:off x="731621" y="2106168"/>
            <a:ext cx="4511040" cy="2743835"/>
          </a:xfrm>
          <a:prstGeom prst="rect">
            <a:avLst/>
          </a:prstGeom>
        </p:spPr>
        <p:txBody>
          <a:bodyPr vert="horz" wrap="square" lIns="0" tIns="12700" rIns="0" bIns="0" rtlCol="0">
            <a:spAutoFit/>
          </a:bodyPr>
          <a:lstStyle/>
          <a:p>
            <a:pPr marL="277495" marR="5080" indent="-265430">
              <a:lnSpc>
                <a:spcPct val="107000"/>
              </a:lnSpc>
              <a:spcBef>
                <a:spcPts val="100"/>
              </a:spcBef>
              <a:buClr>
                <a:srgbClr val="E88A33"/>
              </a:buClr>
              <a:buFont typeface="Wingdings" panose="05000000000000000000"/>
              <a:buChar char=""/>
              <a:tabLst>
                <a:tab pos="277495" algn="l"/>
              </a:tabLst>
            </a:pPr>
            <a:r>
              <a:rPr sz="2400" dirty="0">
                <a:solidFill>
                  <a:srgbClr val="6F2F9F"/>
                </a:solidFill>
                <a:latin typeface="Palatino Linotype" panose="02040502050505030304"/>
                <a:cs typeface="Palatino Linotype" panose="02040502050505030304"/>
              </a:rPr>
              <a:t>FEC</a:t>
            </a:r>
            <a:r>
              <a:rPr sz="2400" spc="31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servers</a:t>
            </a:r>
            <a:r>
              <a:rPr sz="2400" spc="320"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deployed</a:t>
            </a:r>
            <a:r>
              <a:rPr sz="2400" spc="315" dirty="0">
                <a:solidFill>
                  <a:srgbClr val="6F2F9F"/>
                </a:solidFill>
                <a:latin typeface="Palatino Linotype" panose="02040502050505030304"/>
                <a:cs typeface="Palatino Linotype" panose="02040502050505030304"/>
              </a:rPr>
              <a:t> </a:t>
            </a:r>
            <a:r>
              <a:rPr sz="2400" dirty="0">
                <a:solidFill>
                  <a:srgbClr val="6F2F9F"/>
                </a:solidFill>
                <a:latin typeface="Palatino Linotype" panose="02040502050505030304"/>
                <a:cs typeface="Palatino Linotype" panose="02040502050505030304"/>
              </a:rPr>
              <a:t>at</a:t>
            </a:r>
            <a:r>
              <a:rPr sz="2400" spc="310" dirty="0">
                <a:solidFill>
                  <a:srgbClr val="6F2F9F"/>
                </a:solidFill>
                <a:latin typeface="Palatino Linotype" panose="02040502050505030304"/>
                <a:cs typeface="Palatino Linotype" panose="02040502050505030304"/>
              </a:rPr>
              <a:t> </a:t>
            </a:r>
            <a:r>
              <a:rPr sz="2400" spc="-10" dirty="0">
                <a:solidFill>
                  <a:srgbClr val="6F2F9F"/>
                </a:solidFill>
                <a:latin typeface="Palatino Linotype" panose="02040502050505030304"/>
                <a:cs typeface="Palatino Linotype" panose="02040502050505030304"/>
              </a:rPr>
              <a:t>three </a:t>
            </a:r>
            <a:r>
              <a:rPr sz="2400" dirty="0">
                <a:solidFill>
                  <a:srgbClr val="6F2F9F"/>
                </a:solidFill>
                <a:latin typeface="Palatino Linotype" panose="02040502050505030304"/>
                <a:cs typeface="Palatino Linotype" panose="02040502050505030304"/>
              </a:rPr>
              <a:t>edge </a:t>
            </a:r>
            <a:r>
              <a:rPr sz="2400" spc="-10" dirty="0">
                <a:solidFill>
                  <a:srgbClr val="6F2F9F"/>
                </a:solidFill>
                <a:latin typeface="Palatino Linotype" panose="02040502050505030304"/>
                <a:cs typeface="Palatino Linotype" panose="02040502050505030304"/>
              </a:rPr>
              <a:t>layers—</a:t>
            </a:r>
            <a:endParaRPr sz="2400">
              <a:latin typeface="Palatino Linotype" panose="02040502050505030304"/>
              <a:cs typeface="Palatino Linotype" panose="02040502050505030304"/>
            </a:endParaRPr>
          </a:p>
          <a:p>
            <a:pPr marL="469265" indent="-456565">
              <a:lnSpc>
                <a:spcPct val="100000"/>
              </a:lnSpc>
              <a:spcBef>
                <a:spcPts val="2205"/>
              </a:spcBef>
              <a:buClr>
                <a:srgbClr val="E88A33"/>
              </a:buClr>
              <a:buAutoNum type="arabicParenR"/>
              <a:tabLst>
                <a:tab pos="469265" algn="l"/>
              </a:tabLst>
            </a:pPr>
            <a:r>
              <a:rPr sz="2400" spc="-20" dirty="0">
                <a:solidFill>
                  <a:srgbClr val="6F2F9F"/>
                </a:solidFill>
                <a:latin typeface="Palatino Linotype" panose="02040502050505030304"/>
                <a:cs typeface="Palatino Linotype" panose="02040502050505030304"/>
              </a:rPr>
              <a:t>Inner-edge,</a:t>
            </a:r>
            <a:endParaRPr sz="2400">
              <a:latin typeface="Palatino Linotype" panose="02040502050505030304"/>
              <a:cs typeface="Palatino Linotype" panose="02040502050505030304"/>
            </a:endParaRPr>
          </a:p>
          <a:p>
            <a:pPr marL="469265" indent="-456565">
              <a:lnSpc>
                <a:spcPct val="100000"/>
              </a:lnSpc>
              <a:spcBef>
                <a:spcPts val="2195"/>
              </a:spcBef>
              <a:buClr>
                <a:srgbClr val="E88A33"/>
              </a:buClr>
              <a:buAutoNum type="arabicParenR"/>
              <a:tabLst>
                <a:tab pos="469265" algn="l"/>
              </a:tabLst>
            </a:pPr>
            <a:r>
              <a:rPr sz="2400" spc="-10" dirty="0">
                <a:solidFill>
                  <a:srgbClr val="6F2F9F"/>
                </a:solidFill>
                <a:latin typeface="Palatino Linotype" panose="02040502050505030304"/>
                <a:cs typeface="Palatino Linotype" panose="02040502050505030304"/>
              </a:rPr>
              <a:t>Middle-</a:t>
            </a:r>
            <a:r>
              <a:rPr sz="2400" dirty="0">
                <a:solidFill>
                  <a:srgbClr val="6F2F9F"/>
                </a:solidFill>
                <a:latin typeface="Palatino Linotype" panose="02040502050505030304"/>
                <a:cs typeface="Palatino Linotype" panose="02040502050505030304"/>
              </a:rPr>
              <a:t>edge,</a:t>
            </a:r>
            <a:r>
              <a:rPr sz="2400" spc="55" dirty="0">
                <a:solidFill>
                  <a:srgbClr val="6F2F9F"/>
                </a:solidFill>
                <a:latin typeface="Palatino Linotype" panose="02040502050505030304"/>
                <a:cs typeface="Palatino Linotype" panose="02040502050505030304"/>
              </a:rPr>
              <a:t> </a:t>
            </a:r>
            <a:r>
              <a:rPr sz="2400" spc="-25" dirty="0">
                <a:solidFill>
                  <a:srgbClr val="6F2F9F"/>
                </a:solidFill>
                <a:latin typeface="Palatino Linotype" panose="02040502050505030304"/>
                <a:cs typeface="Palatino Linotype" panose="02040502050505030304"/>
              </a:rPr>
              <a:t>and</a:t>
            </a:r>
            <a:endParaRPr sz="2400">
              <a:latin typeface="Palatino Linotype" panose="02040502050505030304"/>
              <a:cs typeface="Palatino Linotype" panose="02040502050505030304"/>
            </a:endParaRPr>
          </a:p>
          <a:p>
            <a:pPr marL="469265" indent="-456565">
              <a:lnSpc>
                <a:spcPct val="100000"/>
              </a:lnSpc>
              <a:spcBef>
                <a:spcPts val="2210"/>
              </a:spcBef>
              <a:buClr>
                <a:srgbClr val="E88A33"/>
              </a:buClr>
              <a:buAutoNum type="arabicParenR"/>
              <a:tabLst>
                <a:tab pos="469265" algn="l"/>
              </a:tabLst>
            </a:pPr>
            <a:r>
              <a:rPr sz="2400" spc="-20" dirty="0">
                <a:solidFill>
                  <a:srgbClr val="6F2F9F"/>
                </a:solidFill>
                <a:latin typeface="Palatino Linotype" panose="02040502050505030304"/>
                <a:cs typeface="Palatino Linotype" panose="02040502050505030304"/>
              </a:rPr>
              <a:t>Outer-edge</a:t>
            </a:r>
            <a:endParaRPr sz="2400">
              <a:latin typeface="Palatino Linotype" panose="02040502050505030304"/>
              <a:cs typeface="Palatino Linotype" panose="02040502050505030304"/>
            </a:endParaRPr>
          </a:p>
        </p:txBody>
      </p:sp>
      <p:pic>
        <p:nvPicPr>
          <p:cNvPr id="5" name="object 5"/>
          <p:cNvPicPr/>
          <p:nvPr/>
        </p:nvPicPr>
        <p:blipFill>
          <a:blip r:embed="rId1" cstate="print"/>
          <a:stretch>
            <a:fillRect/>
          </a:stretch>
        </p:blipFill>
        <p:spPr>
          <a:xfrm>
            <a:off x="5675894" y="2039034"/>
            <a:ext cx="5689840" cy="386296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prstGeom prst="rect">
            <a:avLst/>
          </a:prstGeom>
        </p:spPr>
        <p:txBody>
          <a:bodyPr vert="horz" wrap="square" lIns="0" tIns="684149" rIns="0" bIns="0" rtlCol="0">
            <a:spAutoFit/>
          </a:bodyPr>
          <a:lstStyle/>
          <a:p>
            <a:pPr marL="610235">
              <a:lnSpc>
                <a:spcPct val="100000"/>
              </a:lnSpc>
              <a:spcBef>
                <a:spcPts val="95"/>
              </a:spcBef>
            </a:pPr>
            <a:r>
              <a:rPr sz="4900" spc="-85" dirty="0"/>
              <a:t>Hierarchy</a:t>
            </a:r>
            <a:r>
              <a:rPr sz="4900" spc="-195" dirty="0"/>
              <a:t> </a:t>
            </a:r>
            <a:r>
              <a:rPr sz="4900" dirty="0"/>
              <a:t>of</a:t>
            </a:r>
            <a:r>
              <a:rPr sz="4900" spc="-225" dirty="0"/>
              <a:t> </a:t>
            </a:r>
            <a:r>
              <a:rPr sz="4900" spc="-25" dirty="0"/>
              <a:t>Fog</a:t>
            </a:r>
            <a:r>
              <a:rPr sz="4900" spc="-204" dirty="0"/>
              <a:t> </a:t>
            </a:r>
            <a:r>
              <a:rPr sz="4900" dirty="0"/>
              <a:t>and</a:t>
            </a:r>
            <a:r>
              <a:rPr sz="4900" spc="-204" dirty="0"/>
              <a:t> </a:t>
            </a:r>
            <a:r>
              <a:rPr sz="4900" spc="-55" dirty="0"/>
              <a:t>Edge</a:t>
            </a:r>
            <a:r>
              <a:rPr sz="4900" spc="-215" dirty="0"/>
              <a:t> </a:t>
            </a:r>
            <a:r>
              <a:rPr sz="4900" spc="-10" dirty="0"/>
              <a:t>Computing</a:t>
            </a:r>
            <a:endParaRPr sz="4900"/>
          </a:p>
        </p:txBody>
      </p:sp>
      <p:sp>
        <p:nvSpPr>
          <p:cNvPr id="4" name="object 4"/>
          <p:cNvSpPr txBox="1"/>
          <p:nvPr/>
        </p:nvSpPr>
        <p:spPr>
          <a:xfrm>
            <a:off x="731621" y="2132456"/>
            <a:ext cx="10439400" cy="3992879"/>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001F5F"/>
                </a:solidFill>
                <a:latin typeface="Palatino Linotype" panose="02040502050505030304"/>
                <a:cs typeface="Palatino Linotype" panose="02040502050505030304"/>
              </a:rPr>
              <a:t>Inner-</a:t>
            </a:r>
            <a:r>
              <a:rPr sz="2200" b="1" spc="-20" dirty="0">
                <a:solidFill>
                  <a:srgbClr val="001F5F"/>
                </a:solidFill>
                <a:latin typeface="Palatino Linotype" panose="02040502050505030304"/>
                <a:cs typeface="Palatino Linotype" panose="02040502050505030304"/>
              </a:rPr>
              <a:t>edge:</a:t>
            </a:r>
            <a:endParaRPr sz="2200">
              <a:latin typeface="Palatino Linotype" panose="02040502050505030304"/>
              <a:cs typeface="Palatino Linotype" panose="02040502050505030304"/>
            </a:endParaRPr>
          </a:p>
          <a:p>
            <a:pPr marL="374015" marR="6350" indent="-361950" algn="just">
              <a:lnSpc>
                <a:spcPct val="107000"/>
              </a:lnSpc>
              <a:spcBef>
                <a:spcPts val="2000"/>
              </a:spcBef>
              <a:buClr>
                <a:srgbClr val="E88A33"/>
              </a:buClr>
              <a:buFont typeface="Wingdings" panose="05000000000000000000"/>
              <a:buChar char=""/>
              <a:tabLst>
                <a:tab pos="375285" algn="l"/>
              </a:tabLst>
            </a:pPr>
            <a:r>
              <a:rPr sz="2200" spc="-10" dirty="0">
                <a:solidFill>
                  <a:srgbClr val="6F2F9F"/>
                </a:solidFill>
                <a:latin typeface="Palatino Linotype" panose="02040502050505030304"/>
                <a:cs typeface="Palatino Linotype" panose="02040502050505030304"/>
              </a:rPr>
              <a:t>Inner-</a:t>
            </a:r>
            <a:r>
              <a:rPr sz="2200" dirty="0">
                <a:solidFill>
                  <a:srgbClr val="6F2F9F"/>
                </a:solidFill>
                <a:latin typeface="Palatino Linotype" panose="02040502050505030304"/>
                <a:cs typeface="Palatino Linotype" panose="02040502050505030304"/>
              </a:rPr>
              <a:t>edge</a:t>
            </a:r>
            <a:r>
              <a:rPr sz="2200" spc="16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also</a:t>
            </a:r>
            <a:r>
              <a:rPr sz="2200" spc="15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known</a:t>
            </a:r>
            <a:r>
              <a:rPr sz="2200" spc="15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as</a:t>
            </a:r>
            <a:r>
              <a:rPr sz="2200" spc="150" dirty="0">
                <a:solidFill>
                  <a:srgbClr val="6F2F9F"/>
                </a:solidFill>
                <a:latin typeface="Palatino Linotype" panose="02040502050505030304"/>
                <a:cs typeface="Palatino Linotype" panose="02040502050505030304"/>
              </a:rPr>
              <a:t> </a:t>
            </a:r>
            <a:r>
              <a:rPr sz="2200" spc="-20" dirty="0">
                <a:solidFill>
                  <a:srgbClr val="FF0000"/>
                </a:solidFill>
                <a:latin typeface="Palatino Linotype" panose="02040502050505030304"/>
                <a:cs typeface="Palatino Linotype" panose="02040502050505030304"/>
              </a:rPr>
              <a:t>near-</a:t>
            </a:r>
            <a:r>
              <a:rPr sz="2200" spc="-10" dirty="0">
                <a:solidFill>
                  <a:srgbClr val="FF0000"/>
                </a:solidFill>
                <a:latin typeface="Palatino Linotype" panose="02040502050505030304"/>
                <a:cs typeface="Palatino Linotype" panose="02040502050505030304"/>
              </a:rPr>
              <a:t>the-</a:t>
            </a:r>
            <a:r>
              <a:rPr sz="2200" dirty="0">
                <a:solidFill>
                  <a:srgbClr val="FF0000"/>
                </a:solidFill>
                <a:latin typeface="Palatino Linotype" panose="02040502050505030304"/>
                <a:cs typeface="Palatino Linotype" panose="02040502050505030304"/>
              </a:rPr>
              <a:t>edge</a:t>
            </a:r>
            <a:r>
              <a:rPr sz="2200" spc="155" dirty="0">
                <a:solidFill>
                  <a:srgbClr val="FF0000"/>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corresponds</a:t>
            </a:r>
            <a:r>
              <a:rPr sz="2200" spc="16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to</a:t>
            </a:r>
            <a:r>
              <a:rPr sz="2200" spc="14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countrywide,</a:t>
            </a:r>
            <a:r>
              <a:rPr sz="2200" spc="155" dirty="0">
                <a:solidFill>
                  <a:srgbClr val="6F2F9F"/>
                </a:solidFill>
                <a:latin typeface="Palatino Linotype" panose="02040502050505030304"/>
                <a:cs typeface="Palatino Linotype" panose="02040502050505030304"/>
              </a:rPr>
              <a:t> </a:t>
            </a:r>
            <a:r>
              <a:rPr sz="2200" spc="-10" dirty="0">
                <a:solidFill>
                  <a:srgbClr val="6F2F9F"/>
                </a:solidFill>
                <a:latin typeface="Palatino Linotype" panose="02040502050505030304"/>
                <a:cs typeface="Palatino Linotype" panose="02040502050505030304"/>
              </a:rPr>
              <a:t>statewide 	</a:t>
            </a:r>
            <a:r>
              <a:rPr sz="2200" dirty="0">
                <a:solidFill>
                  <a:srgbClr val="6F2F9F"/>
                </a:solidFill>
                <a:latin typeface="Palatino Linotype" panose="02040502050505030304"/>
                <a:cs typeface="Palatino Linotype" panose="02040502050505030304"/>
              </a:rPr>
              <a:t>and</a:t>
            </a:r>
            <a:r>
              <a:rPr sz="2200" spc="18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regional</a:t>
            </a:r>
            <a:r>
              <a:rPr sz="2200" spc="18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Wide</a:t>
            </a:r>
            <a:r>
              <a:rPr sz="2200" spc="18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Area</a:t>
            </a:r>
            <a:r>
              <a:rPr sz="2200" spc="18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Network</a:t>
            </a:r>
            <a:r>
              <a:rPr sz="2200" spc="18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(WAN)</a:t>
            </a:r>
            <a:r>
              <a:rPr sz="2200" spc="18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of</a:t>
            </a:r>
            <a:r>
              <a:rPr sz="2200" spc="18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enterprises,</a:t>
            </a:r>
            <a:r>
              <a:rPr sz="2200" spc="18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Internet</a:t>
            </a:r>
            <a:r>
              <a:rPr sz="2200" spc="175" dirty="0">
                <a:solidFill>
                  <a:srgbClr val="6F2F9F"/>
                </a:solidFill>
                <a:latin typeface="Palatino Linotype" panose="02040502050505030304"/>
                <a:cs typeface="Palatino Linotype" panose="02040502050505030304"/>
              </a:rPr>
              <a:t>  </a:t>
            </a:r>
            <a:r>
              <a:rPr sz="2200" spc="-10" dirty="0">
                <a:solidFill>
                  <a:srgbClr val="6F2F9F"/>
                </a:solidFill>
                <a:latin typeface="Palatino Linotype" panose="02040502050505030304"/>
                <a:cs typeface="Palatino Linotype" panose="02040502050505030304"/>
              </a:rPr>
              <a:t>Service 	</a:t>
            </a:r>
            <a:r>
              <a:rPr sz="2200" dirty="0">
                <a:solidFill>
                  <a:srgbClr val="6F2F9F"/>
                </a:solidFill>
                <a:latin typeface="Palatino Linotype" panose="02040502050505030304"/>
                <a:cs typeface="Palatino Linotype" panose="02040502050505030304"/>
              </a:rPr>
              <a:t>Providers</a:t>
            </a:r>
            <a:r>
              <a:rPr sz="2200" spc="-4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(ISPs),</a:t>
            </a:r>
            <a:r>
              <a:rPr sz="2200" spc="-3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the</a:t>
            </a:r>
            <a:r>
              <a:rPr sz="2200" spc="-6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data</a:t>
            </a:r>
            <a:r>
              <a:rPr sz="2200" spc="-4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centers</a:t>
            </a:r>
            <a:r>
              <a:rPr sz="2200" spc="-5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and</a:t>
            </a:r>
            <a:r>
              <a:rPr sz="2200" spc="-5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Metropolitan</a:t>
            </a:r>
            <a:r>
              <a:rPr sz="2200" spc="-5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Area</a:t>
            </a:r>
            <a:r>
              <a:rPr sz="2200" spc="-3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Network</a:t>
            </a:r>
            <a:r>
              <a:rPr sz="2200" spc="-30" dirty="0">
                <a:solidFill>
                  <a:srgbClr val="6F2F9F"/>
                </a:solidFill>
                <a:latin typeface="Palatino Linotype" panose="02040502050505030304"/>
                <a:cs typeface="Palatino Linotype" panose="02040502050505030304"/>
              </a:rPr>
              <a:t> </a:t>
            </a:r>
            <a:r>
              <a:rPr sz="2200" spc="-10" dirty="0">
                <a:solidFill>
                  <a:srgbClr val="6F2F9F"/>
                </a:solidFill>
                <a:latin typeface="Palatino Linotype" panose="02040502050505030304"/>
                <a:cs typeface="Palatino Linotype" panose="02040502050505030304"/>
              </a:rPr>
              <a:t>(MAN).</a:t>
            </a:r>
            <a:endParaRPr sz="2200">
              <a:latin typeface="Palatino Linotype" panose="02040502050505030304"/>
              <a:cs typeface="Palatino Linotype" panose="02040502050505030304"/>
            </a:endParaRPr>
          </a:p>
          <a:p>
            <a:pPr marL="374015" marR="5080" indent="-361950" algn="just">
              <a:lnSpc>
                <a:spcPct val="107000"/>
              </a:lnSpc>
              <a:spcBef>
                <a:spcPts val="2010"/>
              </a:spcBef>
              <a:buClr>
                <a:srgbClr val="E88A33"/>
              </a:buClr>
              <a:buFont typeface="Wingdings" panose="05000000000000000000"/>
              <a:buChar char=""/>
              <a:tabLst>
                <a:tab pos="375285" algn="l"/>
              </a:tabLst>
            </a:pPr>
            <a:r>
              <a:rPr sz="2200" dirty="0">
                <a:solidFill>
                  <a:srgbClr val="6F2F9F"/>
                </a:solidFill>
                <a:latin typeface="Palatino Linotype" panose="02040502050505030304"/>
                <a:cs typeface="Palatino Linotype" panose="02040502050505030304"/>
              </a:rPr>
              <a:t>Initially,</a:t>
            </a:r>
            <a:r>
              <a:rPr sz="2200" spc="18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service</a:t>
            </a:r>
            <a:r>
              <a:rPr sz="2200" spc="18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providers</a:t>
            </a:r>
            <a:r>
              <a:rPr sz="2200" spc="19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at</a:t>
            </a:r>
            <a:r>
              <a:rPr sz="2200" spc="185" dirty="0">
                <a:solidFill>
                  <a:srgbClr val="6F2F9F"/>
                </a:solidFill>
                <a:latin typeface="Palatino Linotype" panose="02040502050505030304"/>
                <a:cs typeface="Palatino Linotype" panose="02040502050505030304"/>
              </a:rPr>
              <a:t>   </a:t>
            </a:r>
            <a:r>
              <a:rPr sz="2200" spc="-10" dirty="0">
                <a:solidFill>
                  <a:srgbClr val="6F2F9F"/>
                </a:solidFill>
                <a:latin typeface="Palatino Linotype" panose="02040502050505030304"/>
                <a:cs typeface="Palatino Linotype" panose="02040502050505030304"/>
              </a:rPr>
              <a:t>inner-</a:t>
            </a:r>
            <a:r>
              <a:rPr sz="2200" dirty="0">
                <a:solidFill>
                  <a:srgbClr val="6F2F9F"/>
                </a:solidFill>
                <a:latin typeface="Palatino Linotype" panose="02040502050505030304"/>
                <a:cs typeface="Palatino Linotype" panose="02040502050505030304"/>
              </a:rPr>
              <a:t>edge</a:t>
            </a:r>
            <a:r>
              <a:rPr sz="2200" spc="19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only</a:t>
            </a:r>
            <a:r>
              <a:rPr sz="2200" spc="18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offer</a:t>
            </a:r>
            <a:r>
              <a:rPr sz="2200" spc="19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the</a:t>
            </a:r>
            <a:r>
              <a:rPr sz="2200" spc="180" dirty="0">
                <a:solidFill>
                  <a:srgbClr val="6F2F9F"/>
                </a:solidFill>
                <a:latin typeface="Palatino Linotype" panose="02040502050505030304"/>
                <a:cs typeface="Palatino Linotype" panose="02040502050505030304"/>
              </a:rPr>
              <a:t>   </a:t>
            </a:r>
            <a:r>
              <a:rPr sz="2200" spc="-10" dirty="0">
                <a:solidFill>
                  <a:srgbClr val="6F2F9F"/>
                </a:solidFill>
                <a:latin typeface="Palatino Linotype" panose="02040502050505030304"/>
                <a:cs typeface="Palatino Linotype" panose="02040502050505030304"/>
              </a:rPr>
              <a:t>fundamental 	infrastructures</a:t>
            </a:r>
            <a:r>
              <a:rPr sz="2200" dirty="0">
                <a:solidFill>
                  <a:srgbClr val="6F2F9F"/>
                </a:solidFill>
                <a:latin typeface="Palatino Linotype" panose="02040502050505030304"/>
                <a:cs typeface="Palatino Linotype" panose="02040502050505030304"/>
              </a:rPr>
              <a:t> for</a:t>
            </a:r>
            <a:r>
              <a:rPr sz="2200" spc="-15" dirty="0">
                <a:solidFill>
                  <a:srgbClr val="6F2F9F"/>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connecting</a:t>
            </a:r>
            <a:r>
              <a:rPr sz="2200" spc="-50"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local</a:t>
            </a:r>
            <a:r>
              <a:rPr sz="2200" spc="-25"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networks</a:t>
            </a:r>
            <a:r>
              <a:rPr sz="2200" spc="-35"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to</a:t>
            </a:r>
            <a:r>
              <a:rPr sz="2200" spc="-35"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the</a:t>
            </a:r>
            <a:r>
              <a:rPr sz="2200" spc="-45"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global</a:t>
            </a:r>
            <a:r>
              <a:rPr sz="2200" spc="-25" dirty="0">
                <a:solidFill>
                  <a:srgbClr val="E88A33"/>
                </a:solidFill>
                <a:latin typeface="Palatino Linotype" panose="02040502050505030304"/>
                <a:cs typeface="Palatino Linotype" panose="02040502050505030304"/>
              </a:rPr>
              <a:t> </a:t>
            </a:r>
            <a:r>
              <a:rPr sz="2200" spc="-10" dirty="0">
                <a:solidFill>
                  <a:srgbClr val="E88A33"/>
                </a:solidFill>
                <a:latin typeface="Palatino Linotype" panose="02040502050505030304"/>
                <a:cs typeface="Palatino Linotype" panose="02040502050505030304"/>
              </a:rPr>
              <a:t>Internet.</a:t>
            </a:r>
            <a:endParaRPr sz="2200">
              <a:latin typeface="Palatino Linotype" panose="02040502050505030304"/>
              <a:cs typeface="Palatino Linotype" panose="02040502050505030304"/>
            </a:endParaRPr>
          </a:p>
          <a:p>
            <a:pPr marL="374015" marR="7620" indent="-361950" algn="just">
              <a:lnSpc>
                <a:spcPct val="107000"/>
              </a:lnSpc>
              <a:spcBef>
                <a:spcPts val="1995"/>
              </a:spcBef>
              <a:buClr>
                <a:srgbClr val="E88A33"/>
              </a:buClr>
              <a:buFont typeface="Wingdings" panose="05000000000000000000"/>
              <a:buChar char=""/>
              <a:tabLst>
                <a:tab pos="375285" algn="l"/>
              </a:tabLst>
            </a:pPr>
            <a:r>
              <a:rPr sz="2200" dirty="0">
                <a:solidFill>
                  <a:srgbClr val="6F2F9F"/>
                </a:solidFill>
                <a:latin typeface="Palatino Linotype" panose="02040502050505030304"/>
                <a:cs typeface="Palatino Linotype" panose="02040502050505030304"/>
              </a:rPr>
              <a:t>However,</a:t>
            </a:r>
            <a:r>
              <a:rPr sz="2200" spc="2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the</a:t>
            </a:r>
            <a:r>
              <a:rPr sz="2200" spc="2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recent</a:t>
            </a:r>
            <a:r>
              <a:rPr sz="2200" spc="2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needs</a:t>
            </a:r>
            <a:r>
              <a:rPr sz="2200" spc="2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in</a:t>
            </a:r>
            <a:r>
              <a:rPr sz="2200" spc="2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improving</a:t>
            </a:r>
            <a:r>
              <a:rPr sz="2200" spc="3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the</a:t>
            </a:r>
            <a:r>
              <a:rPr sz="2200" spc="3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Quality</a:t>
            </a:r>
            <a:r>
              <a:rPr sz="2200" spc="2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of</a:t>
            </a:r>
            <a:r>
              <a:rPr sz="2200" spc="2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Experience</a:t>
            </a:r>
            <a:r>
              <a:rPr sz="2200" spc="3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(QoE)</a:t>
            </a:r>
            <a:r>
              <a:rPr sz="2200" spc="2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of</a:t>
            </a:r>
            <a:r>
              <a:rPr sz="2200" spc="20" dirty="0">
                <a:solidFill>
                  <a:srgbClr val="6F2F9F"/>
                </a:solidFill>
                <a:latin typeface="Palatino Linotype" panose="02040502050505030304"/>
                <a:cs typeface="Palatino Linotype" panose="02040502050505030304"/>
              </a:rPr>
              <a:t> </a:t>
            </a:r>
            <a:r>
              <a:rPr sz="2200" spc="-25" dirty="0">
                <a:solidFill>
                  <a:srgbClr val="6F2F9F"/>
                </a:solidFill>
                <a:latin typeface="Palatino Linotype" panose="02040502050505030304"/>
                <a:cs typeface="Palatino Linotype" panose="02040502050505030304"/>
              </a:rPr>
              <a:t>Web 	</a:t>
            </a:r>
            <a:r>
              <a:rPr sz="2200" dirty="0">
                <a:solidFill>
                  <a:srgbClr val="6F2F9F"/>
                </a:solidFill>
                <a:latin typeface="Palatino Linotype" panose="02040502050505030304"/>
                <a:cs typeface="Palatino Linotype" panose="02040502050505030304"/>
              </a:rPr>
              <a:t>services</a:t>
            </a:r>
            <a:r>
              <a:rPr sz="2200" spc="16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have</a:t>
            </a:r>
            <a:r>
              <a:rPr sz="2200" spc="15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motivated</a:t>
            </a:r>
            <a:r>
              <a:rPr sz="2200" spc="14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the</a:t>
            </a:r>
            <a:r>
              <a:rPr sz="2200" spc="155" dirty="0">
                <a:solidFill>
                  <a:srgbClr val="6F2F9F"/>
                </a:solidFill>
                <a:latin typeface="Palatino Linotype" panose="02040502050505030304"/>
                <a:cs typeface="Palatino Linotype" panose="02040502050505030304"/>
              </a:rPr>
              <a:t> </a:t>
            </a:r>
            <a:r>
              <a:rPr sz="2200" spc="-10" dirty="0">
                <a:solidFill>
                  <a:srgbClr val="E88A33"/>
                </a:solidFill>
                <a:latin typeface="Palatino Linotype" panose="02040502050505030304"/>
                <a:cs typeface="Palatino Linotype" panose="02040502050505030304"/>
              </a:rPr>
              <a:t>geo-</a:t>
            </a:r>
            <a:r>
              <a:rPr sz="2200" dirty="0">
                <a:solidFill>
                  <a:srgbClr val="E88A33"/>
                </a:solidFill>
                <a:latin typeface="Palatino Linotype" panose="02040502050505030304"/>
                <a:cs typeface="Palatino Linotype" panose="02040502050505030304"/>
              </a:rPr>
              <a:t>distributed</a:t>
            </a:r>
            <a:r>
              <a:rPr sz="2200" spc="160"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caching</a:t>
            </a:r>
            <a:r>
              <a:rPr sz="2200" spc="140"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and</a:t>
            </a:r>
            <a:r>
              <a:rPr sz="2200" spc="155" dirty="0">
                <a:solidFill>
                  <a:srgbClr val="E88A33"/>
                </a:solidFill>
                <a:latin typeface="Palatino Linotype" panose="02040502050505030304"/>
                <a:cs typeface="Palatino Linotype" panose="02040502050505030304"/>
              </a:rPr>
              <a:t> </a:t>
            </a:r>
            <a:r>
              <a:rPr sz="2200" dirty="0">
                <a:solidFill>
                  <a:srgbClr val="E88A33"/>
                </a:solidFill>
                <a:latin typeface="Palatino Linotype" panose="02040502050505030304"/>
                <a:cs typeface="Palatino Linotype" panose="02040502050505030304"/>
              </a:rPr>
              <a:t>processing</a:t>
            </a:r>
            <a:r>
              <a:rPr sz="2200" spc="160" dirty="0">
                <a:solidFill>
                  <a:srgbClr val="E88A33"/>
                </a:solidFill>
                <a:latin typeface="Palatino Linotype" panose="02040502050505030304"/>
                <a:cs typeface="Palatino Linotype" panose="02040502050505030304"/>
              </a:rPr>
              <a:t> </a:t>
            </a:r>
            <a:r>
              <a:rPr sz="2200" spc="-10" dirty="0">
                <a:solidFill>
                  <a:srgbClr val="E88A33"/>
                </a:solidFill>
                <a:latin typeface="Palatino Linotype" panose="02040502050505030304"/>
                <a:cs typeface="Palatino Linotype" panose="02040502050505030304"/>
              </a:rPr>
              <a:t>mechanism 	</a:t>
            </a:r>
            <a:r>
              <a:rPr sz="2200" dirty="0">
                <a:solidFill>
                  <a:srgbClr val="6F2F9F"/>
                </a:solidFill>
                <a:latin typeface="Palatino Linotype" panose="02040502050505030304"/>
                <a:cs typeface="Palatino Linotype" panose="02040502050505030304"/>
              </a:rPr>
              <a:t>at</a:t>
            </a:r>
            <a:r>
              <a:rPr sz="2200" spc="-3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the</a:t>
            </a:r>
            <a:r>
              <a:rPr sz="2200" spc="-4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network</a:t>
            </a:r>
            <a:r>
              <a:rPr sz="2200" spc="-2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data</a:t>
            </a:r>
            <a:r>
              <a:rPr sz="2200" spc="-20"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centers</a:t>
            </a:r>
            <a:r>
              <a:rPr sz="2200" spc="-25" dirty="0">
                <a:solidFill>
                  <a:srgbClr val="6F2F9F"/>
                </a:solidFill>
                <a:latin typeface="Palatino Linotype" panose="02040502050505030304"/>
                <a:cs typeface="Palatino Linotype" panose="02040502050505030304"/>
              </a:rPr>
              <a:t> </a:t>
            </a:r>
            <a:r>
              <a:rPr sz="2200" dirty="0">
                <a:solidFill>
                  <a:srgbClr val="6F2F9F"/>
                </a:solidFill>
                <a:latin typeface="Palatino Linotype" panose="02040502050505030304"/>
                <a:cs typeface="Palatino Linotype" panose="02040502050505030304"/>
              </a:rPr>
              <a:t>of</a:t>
            </a:r>
            <a:r>
              <a:rPr sz="2200" spc="-20" dirty="0">
                <a:solidFill>
                  <a:srgbClr val="6F2F9F"/>
                </a:solidFill>
                <a:latin typeface="Palatino Linotype" panose="02040502050505030304"/>
                <a:cs typeface="Palatino Linotype" panose="02040502050505030304"/>
              </a:rPr>
              <a:t> </a:t>
            </a:r>
            <a:r>
              <a:rPr sz="2200" spc="-25" dirty="0">
                <a:solidFill>
                  <a:srgbClr val="6F2F9F"/>
                </a:solidFill>
                <a:latin typeface="Palatino Linotype" panose="02040502050505030304"/>
                <a:cs typeface="Palatino Linotype" panose="02040502050505030304"/>
              </a:rPr>
              <a:t>WAN</a:t>
            </a:r>
            <a:endParaRPr sz="2200">
              <a:latin typeface="Palatino Linotype" panose="02040502050505030304"/>
              <a:cs typeface="Palatino Linotype" panose="020405020505050303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prstGeom prst="rect">
            <a:avLst/>
          </a:prstGeom>
        </p:spPr>
        <p:txBody>
          <a:bodyPr vert="horz" wrap="square" lIns="0" tIns="684149" rIns="0" bIns="0" rtlCol="0">
            <a:spAutoFit/>
          </a:bodyPr>
          <a:lstStyle/>
          <a:p>
            <a:pPr marL="610235">
              <a:lnSpc>
                <a:spcPct val="100000"/>
              </a:lnSpc>
              <a:spcBef>
                <a:spcPts val="95"/>
              </a:spcBef>
            </a:pPr>
            <a:r>
              <a:rPr sz="4900" spc="-85" dirty="0"/>
              <a:t>Hierarchy</a:t>
            </a:r>
            <a:r>
              <a:rPr sz="4900" spc="-195" dirty="0"/>
              <a:t> </a:t>
            </a:r>
            <a:r>
              <a:rPr sz="4900" dirty="0"/>
              <a:t>of</a:t>
            </a:r>
            <a:r>
              <a:rPr sz="4900" spc="-225" dirty="0"/>
              <a:t> </a:t>
            </a:r>
            <a:r>
              <a:rPr sz="4900" spc="-25" dirty="0"/>
              <a:t>Fog</a:t>
            </a:r>
            <a:r>
              <a:rPr sz="4900" spc="-204" dirty="0"/>
              <a:t> </a:t>
            </a:r>
            <a:r>
              <a:rPr sz="4900" dirty="0"/>
              <a:t>and</a:t>
            </a:r>
            <a:r>
              <a:rPr sz="4900" spc="-204" dirty="0"/>
              <a:t> </a:t>
            </a:r>
            <a:r>
              <a:rPr sz="4900" spc="-55" dirty="0"/>
              <a:t>Edge</a:t>
            </a:r>
            <a:r>
              <a:rPr sz="4900" spc="-215" dirty="0"/>
              <a:t> </a:t>
            </a:r>
            <a:r>
              <a:rPr sz="4900" spc="-10" dirty="0"/>
              <a:t>Computing</a:t>
            </a:r>
            <a:endParaRPr sz="4900"/>
          </a:p>
        </p:txBody>
      </p:sp>
      <p:sp>
        <p:nvSpPr>
          <p:cNvPr id="4" name="object 4"/>
          <p:cNvSpPr txBox="1">
            <a:spLocks noGrp="1"/>
          </p:cNvSpPr>
          <p:nvPr>
            <p:ph type="body" idx="1"/>
          </p:nvPr>
        </p:nvSpPr>
        <p:spPr>
          <a:prstGeom prst="rect">
            <a:avLst/>
          </a:prstGeom>
        </p:spPr>
        <p:txBody>
          <a:bodyPr vert="horz" wrap="square" lIns="0" tIns="12065" rIns="0" bIns="0" rtlCol="0">
            <a:spAutoFit/>
          </a:bodyPr>
          <a:lstStyle/>
          <a:p>
            <a:pPr marL="12700">
              <a:lnSpc>
                <a:spcPct val="100000"/>
              </a:lnSpc>
              <a:spcBef>
                <a:spcPts val="95"/>
              </a:spcBef>
            </a:pPr>
            <a:r>
              <a:rPr sz="2200" b="1" spc="-20" dirty="0">
                <a:solidFill>
                  <a:srgbClr val="001F5F"/>
                </a:solidFill>
                <a:latin typeface="Palatino Linotype" panose="02040502050505030304"/>
                <a:cs typeface="Palatino Linotype" panose="02040502050505030304"/>
              </a:rPr>
              <a:t>Middle-edge:</a:t>
            </a:r>
            <a:endParaRPr sz="2200">
              <a:latin typeface="Palatino Linotype" panose="02040502050505030304"/>
              <a:cs typeface="Palatino Linotype" panose="02040502050505030304"/>
            </a:endParaRPr>
          </a:p>
          <a:p>
            <a:pPr marL="375285" marR="5080" indent="-363220">
              <a:lnSpc>
                <a:spcPct val="107000"/>
              </a:lnSpc>
              <a:spcBef>
                <a:spcPts val="2025"/>
              </a:spcBef>
              <a:buClr>
                <a:srgbClr val="E88A33"/>
              </a:buClr>
              <a:buFont typeface="Wingdings" panose="05000000000000000000"/>
              <a:buChar char=""/>
              <a:tabLst>
                <a:tab pos="375285" algn="l"/>
              </a:tabLst>
            </a:pPr>
            <a:r>
              <a:rPr sz="2000" spc="-10" dirty="0"/>
              <a:t>Middle-</a:t>
            </a:r>
            <a:r>
              <a:rPr sz="2000" dirty="0"/>
              <a:t>edge</a:t>
            </a:r>
            <a:r>
              <a:rPr sz="2000" spc="50" dirty="0"/>
              <a:t> </a:t>
            </a:r>
            <a:r>
              <a:rPr sz="2000" dirty="0"/>
              <a:t>corresponds</a:t>
            </a:r>
            <a:r>
              <a:rPr sz="2000" spc="70" dirty="0"/>
              <a:t> </a:t>
            </a:r>
            <a:r>
              <a:rPr sz="2000" dirty="0"/>
              <a:t>to</a:t>
            </a:r>
            <a:r>
              <a:rPr sz="2000" spc="65" dirty="0"/>
              <a:t> </a:t>
            </a:r>
            <a:r>
              <a:rPr sz="2000" dirty="0"/>
              <a:t>the</a:t>
            </a:r>
            <a:r>
              <a:rPr sz="2000" spc="70" dirty="0"/>
              <a:t> </a:t>
            </a:r>
            <a:r>
              <a:rPr sz="2000" dirty="0"/>
              <a:t>environment</a:t>
            </a:r>
            <a:r>
              <a:rPr sz="2000" spc="60" dirty="0"/>
              <a:t> </a:t>
            </a:r>
            <a:r>
              <a:rPr sz="2000" dirty="0"/>
              <a:t>which</a:t>
            </a:r>
            <a:r>
              <a:rPr sz="2000" spc="65" dirty="0"/>
              <a:t> </a:t>
            </a:r>
            <a:r>
              <a:rPr sz="2000" dirty="0"/>
              <a:t>consists</a:t>
            </a:r>
            <a:r>
              <a:rPr sz="2000" spc="70" dirty="0"/>
              <a:t> </a:t>
            </a:r>
            <a:r>
              <a:rPr sz="2000" dirty="0"/>
              <a:t>of</a:t>
            </a:r>
            <a:r>
              <a:rPr sz="2000" spc="70" dirty="0"/>
              <a:t> </a:t>
            </a:r>
            <a:r>
              <a:rPr sz="2000" dirty="0"/>
              <a:t>two</a:t>
            </a:r>
            <a:r>
              <a:rPr sz="2000" spc="65" dirty="0"/>
              <a:t> </a:t>
            </a:r>
            <a:r>
              <a:rPr sz="2000" dirty="0"/>
              <a:t>types</a:t>
            </a:r>
            <a:r>
              <a:rPr sz="2000" spc="70" dirty="0"/>
              <a:t> </a:t>
            </a:r>
            <a:r>
              <a:rPr sz="2000" dirty="0"/>
              <a:t>of</a:t>
            </a:r>
            <a:r>
              <a:rPr sz="2000" spc="70" dirty="0"/>
              <a:t> </a:t>
            </a:r>
            <a:r>
              <a:rPr sz="2000" spc="-10" dirty="0"/>
              <a:t>networks— </a:t>
            </a:r>
            <a:r>
              <a:rPr sz="2000" dirty="0"/>
              <a:t>Local</a:t>
            </a:r>
            <a:r>
              <a:rPr sz="2000" spc="-10" dirty="0"/>
              <a:t> </a:t>
            </a:r>
            <a:r>
              <a:rPr sz="2000" dirty="0"/>
              <a:t>Area</a:t>
            </a:r>
            <a:r>
              <a:rPr sz="2000" spc="-25" dirty="0"/>
              <a:t> </a:t>
            </a:r>
            <a:r>
              <a:rPr sz="2000" dirty="0"/>
              <a:t>Network</a:t>
            </a:r>
            <a:r>
              <a:rPr sz="2000" spc="-25" dirty="0"/>
              <a:t> </a:t>
            </a:r>
            <a:r>
              <a:rPr sz="2000" dirty="0"/>
              <a:t>(LAN)</a:t>
            </a:r>
            <a:r>
              <a:rPr sz="2000" spc="-35" dirty="0"/>
              <a:t> </a:t>
            </a:r>
            <a:r>
              <a:rPr sz="2000" dirty="0"/>
              <a:t>and</a:t>
            </a:r>
            <a:r>
              <a:rPr sz="2000" spc="-15" dirty="0"/>
              <a:t> </a:t>
            </a:r>
            <a:r>
              <a:rPr sz="2000" dirty="0"/>
              <a:t>cellular</a:t>
            </a:r>
            <a:r>
              <a:rPr sz="2000" spc="-35" dirty="0"/>
              <a:t> </a:t>
            </a:r>
            <a:r>
              <a:rPr sz="2000" spc="-10" dirty="0"/>
              <a:t>network.</a:t>
            </a:r>
            <a:endParaRPr sz="2000"/>
          </a:p>
          <a:p>
            <a:pPr marL="469265" indent="-456565">
              <a:lnSpc>
                <a:spcPct val="100000"/>
              </a:lnSpc>
              <a:spcBef>
                <a:spcPts val="2160"/>
              </a:spcBef>
              <a:buClr>
                <a:srgbClr val="E88A33"/>
              </a:buClr>
              <a:buAutoNum type="arabicPeriod"/>
              <a:tabLst>
                <a:tab pos="469265" algn="l"/>
              </a:tabLst>
            </a:pPr>
            <a:r>
              <a:rPr sz="2000" dirty="0">
                <a:solidFill>
                  <a:srgbClr val="FF0000"/>
                </a:solidFill>
              </a:rPr>
              <a:t>LAN</a:t>
            </a:r>
            <a:r>
              <a:rPr sz="2000" spc="-40" dirty="0">
                <a:solidFill>
                  <a:srgbClr val="FF0000"/>
                </a:solidFill>
              </a:rPr>
              <a:t> </a:t>
            </a:r>
            <a:r>
              <a:rPr sz="2000" dirty="0"/>
              <a:t>includes</a:t>
            </a:r>
            <a:r>
              <a:rPr sz="2000" spc="-30" dirty="0"/>
              <a:t> </a:t>
            </a:r>
            <a:r>
              <a:rPr sz="2000" dirty="0"/>
              <a:t>ethernet,</a:t>
            </a:r>
            <a:r>
              <a:rPr sz="2000" spc="-15" dirty="0"/>
              <a:t> </a:t>
            </a:r>
            <a:r>
              <a:rPr sz="2000" dirty="0"/>
              <a:t>Wireless</a:t>
            </a:r>
            <a:r>
              <a:rPr sz="2000" spc="-30" dirty="0"/>
              <a:t> </a:t>
            </a:r>
            <a:r>
              <a:rPr sz="2000" dirty="0"/>
              <a:t>LAN</a:t>
            </a:r>
            <a:r>
              <a:rPr sz="2000" spc="-45" dirty="0"/>
              <a:t> </a:t>
            </a:r>
            <a:r>
              <a:rPr sz="2000" dirty="0"/>
              <a:t>(WLAN)</a:t>
            </a:r>
            <a:r>
              <a:rPr sz="2000" spc="-50" dirty="0"/>
              <a:t> </a:t>
            </a:r>
            <a:r>
              <a:rPr sz="2000" dirty="0"/>
              <a:t>and</a:t>
            </a:r>
            <a:r>
              <a:rPr sz="2000" spc="-35" dirty="0"/>
              <a:t> </a:t>
            </a:r>
            <a:r>
              <a:rPr sz="2000" dirty="0"/>
              <a:t>Campus</a:t>
            </a:r>
            <a:r>
              <a:rPr sz="2000" spc="-50" dirty="0"/>
              <a:t> </a:t>
            </a:r>
            <a:r>
              <a:rPr sz="2000" dirty="0"/>
              <a:t>Area</a:t>
            </a:r>
            <a:r>
              <a:rPr sz="2000" spc="-40" dirty="0"/>
              <a:t> </a:t>
            </a:r>
            <a:r>
              <a:rPr sz="2000" dirty="0"/>
              <a:t>Network</a:t>
            </a:r>
            <a:r>
              <a:rPr sz="2000" spc="-45" dirty="0"/>
              <a:t> </a:t>
            </a:r>
            <a:r>
              <a:rPr sz="2000" spc="-10" dirty="0"/>
              <a:t>(CAN).</a:t>
            </a:r>
            <a:endParaRPr sz="2000"/>
          </a:p>
          <a:p>
            <a:pPr marL="469265" indent="-456565">
              <a:lnSpc>
                <a:spcPct val="100000"/>
              </a:lnSpc>
              <a:spcBef>
                <a:spcPts val="2175"/>
              </a:spcBef>
              <a:buClr>
                <a:srgbClr val="E88A33"/>
              </a:buClr>
              <a:buAutoNum type="arabicPeriod"/>
              <a:tabLst>
                <a:tab pos="469265" algn="l"/>
                <a:tab pos="8009890" algn="l"/>
              </a:tabLst>
            </a:pPr>
            <a:r>
              <a:rPr sz="2000" dirty="0">
                <a:solidFill>
                  <a:srgbClr val="FF0000"/>
                </a:solidFill>
              </a:rPr>
              <a:t>Cellular</a:t>
            </a:r>
            <a:r>
              <a:rPr sz="2000" spc="-40" dirty="0">
                <a:solidFill>
                  <a:srgbClr val="FF0000"/>
                </a:solidFill>
              </a:rPr>
              <a:t> </a:t>
            </a:r>
            <a:r>
              <a:rPr sz="2000" dirty="0">
                <a:solidFill>
                  <a:srgbClr val="FF0000"/>
                </a:solidFill>
              </a:rPr>
              <a:t>network</a:t>
            </a:r>
            <a:r>
              <a:rPr sz="2000" spc="-25" dirty="0">
                <a:solidFill>
                  <a:srgbClr val="FF0000"/>
                </a:solidFill>
              </a:rPr>
              <a:t> </a:t>
            </a:r>
            <a:r>
              <a:rPr sz="2000" dirty="0"/>
              <a:t>consists</a:t>
            </a:r>
            <a:r>
              <a:rPr sz="2000" spc="-20" dirty="0"/>
              <a:t> </a:t>
            </a:r>
            <a:r>
              <a:rPr sz="2000" dirty="0"/>
              <a:t>of</a:t>
            </a:r>
            <a:r>
              <a:rPr sz="2000" spc="-35" dirty="0"/>
              <a:t> </a:t>
            </a:r>
            <a:r>
              <a:rPr sz="2000" dirty="0"/>
              <a:t>the</a:t>
            </a:r>
            <a:r>
              <a:rPr sz="2000" spc="-10" dirty="0"/>
              <a:t> </a:t>
            </a:r>
            <a:r>
              <a:rPr sz="2000" dirty="0"/>
              <a:t>macrocell,</a:t>
            </a:r>
            <a:r>
              <a:rPr sz="2000" spc="-30" dirty="0"/>
              <a:t> </a:t>
            </a:r>
            <a:r>
              <a:rPr sz="2000" dirty="0"/>
              <a:t>microcell,</a:t>
            </a:r>
            <a:r>
              <a:rPr sz="2000" spc="-45" dirty="0"/>
              <a:t> </a:t>
            </a:r>
            <a:r>
              <a:rPr sz="2000" dirty="0"/>
              <a:t>picocell,</a:t>
            </a:r>
            <a:r>
              <a:rPr sz="2000" spc="-15" dirty="0"/>
              <a:t> </a:t>
            </a:r>
            <a:r>
              <a:rPr sz="2000" spc="-25" dirty="0"/>
              <a:t>and</a:t>
            </a:r>
            <a:r>
              <a:rPr sz="2000" dirty="0"/>
              <a:t>	-</a:t>
            </a:r>
            <a:r>
              <a:rPr sz="2000" spc="-10" dirty="0"/>
              <a:t>femtocell.</a:t>
            </a:r>
            <a:endParaRPr sz="2000"/>
          </a:p>
          <a:p>
            <a:pPr marL="906145" lvl="1" indent="-266065">
              <a:lnSpc>
                <a:spcPct val="100000"/>
              </a:lnSpc>
              <a:spcBef>
                <a:spcPts val="2175"/>
              </a:spcBef>
              <a:buClr>
                <a:srgbClr val="E88A33"/>
              </a:buClr>
              <a:buFont typeface="Wingdings" panose="05000000000000000000"/>
              <a:buChar char=""/>
              <a:tabLst>
                <a:tab pos="905510" algn="l"/>
              </a:tabLst>
            </a:pPr>
            <a:r>
              <a:rPr sz="1900" spc="-10" dirty="0">
                <a:solidFill>
                  <a:srgbClr val="33B67C"/>
                </a:solidFill>
                <a:latin typeface="Calibri" panose="020F0502020204030204"/>
                <a:cs typeface="Calibri" panose="020F0502020204030204"/>
              </a:rPr>
              <a:t>Macrocells</a:t>
            </a:r>
            <a:r>
              <a:rPr sz="1900" spc="-35" dirty="0">
                <a:solidFill>
                  <a:srgbClr val="33B67C"/>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typically</a:t>
            </a:r>
            <a:r>
              <a:rPr sz="1900" spc="-4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cover</a:t>
            </a:r>
            <a:r>
              <a:rPr sz="1900" spc="-30"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a:t>
            </a:r>
            <a:r>
              <a:rPr sz="1900" spc="-3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wide</a:t>
            </a:r>
            <a:r>
              <a:rPr sz="1900" spc="-3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area,</a:t>
            </a:r>
            <a:r>
              <a:rPr sz="1900" spc="-4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such</a:t>
            </a:r>
            <a:r>
              <a:rPr sz="1900" spc="-4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as</a:t>
            </a:r>
            <a:r>
              <a:rPr sz="1900" spc="-4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a:t>
            </a:r>
            <a:r>
              <a:rPr sz="1900" spc="-40"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city</a:t>
            </a:r>
            <a:r>
              <a:rPr sz="1900" spc="-50"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or</a:t>
            </a:r>
            <a:r>
              <a:rPr sz="1900" spc="-4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suburban</a:t>
            </a:r>
            <a:r>
              <a:rPr sz="1900" spc="-35" dirty="0">
                <a:solidFill>
                  <a:srgbClr val="374151"/>
                </a:solidFill>
                <a:latin typeface="Calibri" panose="020F0502020204030204"/>
                <a:cs typeface="Calibri" panose="020F0502020204030204"/>
              </a:rPr>
              <a:t> </a:t>
            </a:r>
            <a:r>
              <a:rPr sz="1900" spc="-10" dirty="0">
                <a:solidFill>
                  <a:srgbClr val="374151"/>
                </a:solidFill>
                <a:latin typeface="Calibri" panose="020F0502020204030204"/>
                <a:cs typeface="Calibri" panose="020F0502020204030204"/>
              </a:rPr>
              <a:t>region.</a:t>
            </a:r>
            <a:endParaRPr sz="1900">
              <a:latin typeface="Calibri" panose="020F0502020204030204"/>
              <a:cs typeface="Calibri" panose="020F0502020204030204"/>
            </a:endParaRPr>
          </a:p>
          <a:p>
            <a:pPr marL="906145" lvl="1" indent="-266065">
              <a:lnSpc>
                <a:spcPct val="100000"/>
              </a:lnSpc>
              <a:spcBef>
                <a:spcPts val="2160"/>
              </a:spcBef>
              <a:buClr>
                <a:srgbClr val="E88A33"/>
              </a:buClr>
              <a:buFont typeface="Wingdings" panose="05000000000000000000"/>
              <a:buChar char=""/>
              <a:tabLst>
                <a:tab pos="905510" algn="l"/>
              </a:tabLst>
            </a:pPr>
            <a:r>
              <a:rPr sz="1900" spc="-10" dirty="0">
                <a:solidFill>
                  <a:srgbClr val="33B67C"/>
                </a:solidFill>
                <a:latin typeface="Calibri" panose="020F0502020204030204"/>
                <a:cs typeface="Calibri" panose="020F0502020204030204"/>
              </a:rPr>
              <a:t>Microcells</a:t>
            </a:r>
            <a:r>
              <a:rPr sz="1900" spc="-55" dirty="0">
                <a:solidFill>
                  <a:srgbClr val="33B67C"/>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have</a:t>
            </a:r>
            <a:r>
              <a:rPr sz="1900" spc="-3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a:t>
            </a:r>
            <a:r>
              <a:rPr sz="1900" spc="-6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smaller</a:t>
            </a:r>
            <a:r>
              <a:rPr sz="1900" spc="-55" dirty="0">
                <a:solidFill>
                  <a:srgbClr val="374151"/>
                </a:solidFill>
                <a:latin typeface="Calibri" panose="020F0502020204030204"/>
                <a:cs typeface="Calibri" panose="020F0502020204030204"/>
              </a:rPr>
              <a:t> </a:t>
            </a:r>
            <a:r>
              <a:rPr sz="1900" spc="-10" dirty="0">
                <a:solidFill>
                  <a:srgbClr val="374151"/>
                </a:solidFill>
                <a:latin typeface="Calibri" panose="020F0502020204030204"/>
                <a:cs typeface="Calibri" panose="020F0502020204030204"/>
              </a:rPr>
              <a:t>coverage</a:t>
            </a:r>
            <a:r>
              <a:rPr sz="1900" spc="-45" dirty="0">
                <a:solidFill>
                  <a:srgbClr val="374151"/>
                </a:solidFill>
                <a:latin typeface="Calibri" panose="020F0502020204030204"/>
                <a:cs typeface="Calibri" panose="020F0502020204030204"/>
              </a:rPr>
              <a:t> </a:t>
            </a:r>
            <a:r>
              <a:rPr sz="1900" spc="-20" dirty="0">
                <a:solidFill>
                  <a:srgbClr val="374151"/>
                </a:solidFill>
                <a:latin typeface="Calibri" panose="020F0502020204030204"/>
                <a:cs typeface="Calibri" panose="020F0502020204030204"/>
              </a:rPr>
              <a:t>area</a:t>
            </a:r>
            <a:endParaRPr sz="1900">
              <a:latin typeface="Calibri" panose="020F0502020204030204"/>
              <a:cs typeface="Calibri" panose="020F0502020204030204"/>
            </a:endParaRPr>
          </a:p>
          <a:p>
            <a:pPr marL="906145" lvl="1" indent="-266065">
              <a:lnSpc>
                <a:spcPct val="100000"/>
              </a:lnSpc>
              <a:spcBef>
                <a:spcPts val="2165"/>
              </a:spcBef>
              <a:buClr>
                <a:srgbClr val="E88A33"/>
              </a:buClr>
              <a:buFont typeface="Wingdings" panose="05000000000000000000"/>
              <a:buChar char=""/>
              <a:tabLst>
                <a:tab pos="905510" algn="l"/>
              </a:tabLst>
            </a:pPr>
            <a:r>
              <a:rPr sz="1900" dirty="0">
                <a:solidFill>
                  <a:srgbClr val="33B67C"/>
                </a:solidFill>
                <a:latin typeface="Calibri" panose="020F0502020204030204"/>
                <a:cs typeface="Calibri" panose="020F0502020204030204"/>
              </a:rPr>
              <a:t>Picocells</a:t>
            </a:r>
            <a:r>
              <a:rPr sz="1900" spc="-60" dirty="0">
                <a:solidFill>
                  <a:srgbClr val="33B67C"/>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have</a:t>
            </a:r>
            <a:r>
              <a:rPr sz="1900" spc="-3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an</a:t>
            </a:r>
            <a:r>
              <a:rPr sz="1900" spc="-5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even</a:t>
            </a:r>
            <a:r>
              <a:rPr sz="1900" spc="-40"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smaller</a:t>
            </a:r>
            <a:r>
              <a:rPr sz="1900" spc="-65" dirty="0">
                <a:solidFill>
                  <a:srgbClr val="374151"/>
                </a:solidFill>
                <a:latin typeface="Calibri" panose="020F0502020204030204"/>
                <a:cs typeface="Calibri" panose="020F0502020204030204"/>
              </a:rPr>
              <a:t> </a:t>
            </a:r>
            <a:r>
              <a:rPr sz="1900" spc="-10" dirty="0">
                <a:solidFill>
                  <a:srgbClr val="374151"/>
                </a:solidFill>
                <a:latin typeface="Calibri" panose="020F0502020204030204"/>
                <a:cs typeface="Calibri" panose="020F0502020204030204"/>
              </a:rPr>
              <a:t>coverage</a:t>
            </a:r>
            <a:r>
              <a:rPr sz="1900" spc="-3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area</a:t>
            </a:r>
            <a:r>
              <a:rPr sz="1900" spc="-50"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than</a:t>
            </a:r>
            <a:r>
              <a:rPr sz="1900" spc="-60" dirty="0">
                <a:solidFill>
                  <a:srgbClr val="374151"/>
                </a:solidFill>
                <a:latin typeface="Calibri" panose="020F0502020204030204"/>
                <a:cs typeface="Calibri" panose="020F0502020204030204"/>
              </a:rPr>
              <a:t> </a:t>
            </a:r>
            <a:r>
              <a:rPr sz="1900" spc="-10" dirty="0">
                <a:solidFill>
                  <a:srgbClr val="374151"/>
                </a:solidFill>
                <a:latin typeface="Calibri" panose="020F0502020204030204"/>
                <a:cs typeface="Calibri" panose="020F0502020204030204"/>
              </a:rPr>
              <a:t>microcells</a:t>
            </a:r>
            <a:r>
              <a:rPr sz="1900" spc="-50"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a:t>
            </a:r>
            <a:r>
              <a:rPr sz="1900" spc="-55" dirty="0">
                <a:solidFill>
                  <a:srgbClr val="374151"/>
                </a:solidFill>
                <a:latin typeface="Calibri" panose="020F0502020204030204"/>
                <a:cs typeface="Calibri" panose="020F0502020204030204"/>
              </a:rPr>
              <a:t> </a:t>
            </a:r>
            <a:r>
              <a:rPr sz="1900" dirty="0">
                <a:solidFill>
                  <a:srgbClr val="374151"/>
                </a:solidFill>
                <a:latin typeface="Calibri" panose="020F0502020204030204"/>
                <a:cs typeface="Calibri" panose="020F0502020204030204"/>
              </a:rPr>
              <a:t>Indoor</a:t>
            </a:r>
            <a:r>
              <a:rPr sz="1900" spc="-65" dirty="0">
                <a:solidFill>
                  <a:srgbClr val="374151"/>
                </a:solidFill>
                <a:latin typeface="Calibri" panose="020F0502020204030204"/>
                <a:cs typeface="Calibri" panose="020F0502020204030204"/>
              </a:rPr>
              <a:t> </a:t>
            </a:r>
            <a:r>
              <a:rPr sz="1900" spc="-10" dirty="0">
                <a:solidFill>
                  <a:srgbClr val="374151"/>
                </a:solidFill>
                <a:latin typeface="Calibri" panose="020F0502020204030204"/>
                <a:cs typeface="Calibri" panose="020F0502020204030204"/>
              </a:rPr>
              <a:t>Location</a:t>
            </a:r>
            <a:endParaRPr sz="1900">
              <a:latin typeface="Calibri" panose="020F0502020204030204"/>
              <a:cs typeface="Calibri" panose="020F0502020204030204"/>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prstGeom prst="rect">
            <a:avLst/>
          </a:prstGeom>
        </p:spPr>
        <p:txBody>
          <a:bodyPr vert="horz" wrap="square" lIns="0" tIns="684149" rIns="0" bIns="0" rtlCol="0">
            <a:spAutoFit/>
          </a:bodyPr>
          <a:lstStyle/>
          <a:p>
            <a:pPr marL="610235">
              <a:lnSpc>
                <a:spcPct val="100000"/>
              </a:lnSpc>
              <a:spcBef>
                <a:spcPts val="95"/>
              </a:spcBef>
            </a:pPr>
            <a:r>
              <a:rPr sz="4900" spc="-85" dirty="0"/>
              <a:t>Hierarchy</a:t>
            </a:r>
            <a:r>
              <a:rPr sz="4900" spc="-195" dirty="0"/>
              <a:t> </a:t>
            </a:r>
            <a:r>
              <a:rPr sz="4900" dirty="0"/>
              <a:t>of</a:t>
            </a:r>
            <a:r>
              <a:rPr sz="4900" spc="-225" dirty="0"/>
              <a:t> </a:t>
            </a:r>
            <a:r>
              <a:rPr sz="4900" spc="-25" dirty="0"/>
              <a:t>Fog</a:t>
            </a:r>
            <a:r>
              <a:rPr sz="4900" spc="-204" dirty="0"/>
              <a:t> </a:t>
            </a:r>
            <a:r>
              <a:rPr sz="4900" dirty="0"/>
              <a:t>and</a:t>
            </a:r>
            <a:r>
              <a:rPr sz="4900" spc="-204" dirty="0"/>
              <a:t> </a:t>
            </a:r>
            <a:r>
              <a:rPr sz="4900" spc="-55" dirty="0"/>
              <a:t>Edge</a:t>
            </a:r>
            <a:r>
              <a:rPr sz="4900" spc="-215" dirty="0"/>
              <a:t> </a:t>
            </a:r>
            <a:r>
              <a:rPr sz="4900" spc="-10" dirty="0"/>
              <a:t>Computing</a:t>
            </a:r>
            <a:endParaRPr sz="4900"/>
          </a:p>
        </p:txBody>
      </p:sp>
      <p:sp>
        <p:nvSpPr>
          <p:cNvPr id="4" name="object 4"/>
          <p:cNvSpPr txBox="1">
            <a:spLocks noGrp="1"/>
          </p:cNvSpPr>
          <p:nvPr>
            <p:ph type="body" idx="1"/>
          </p:nvPr>
        </p:nvSpPr>
        <p:spPr>
          <a:xfrm>
            <a:off x="327761" y="1897507"/>
            <a:ext cx="10824845" cy="4226560"/>
          </a:xfrm>
          <a:prstGeom prst="rect">
            <a:avLst/>
          </a:prstGeom>
        </p:spPr>
        <p:txBody>
          <a:bodyPr vert="horz" wrap="square" lIns="0" tIns="12065" rIns="0" bIns="0" rtlCol="0">
            <a:spAutoFit/>
          </a:bodyPr>
          <a:lstStyle/>
          <a:p>
            <a:pPr marL="12700">
              <a:lnSpc>
                <a:spcPct val="100000"/>
              </a:lnSpc>
              <a:spcBef>
                <a:spcPts val="95"/>
              </a:spcBef>
            </a:pPr>
            <a:r>
              <a:rPr sz="2200" b="1" spc="-20" dirty="0">
                <a:solidFill>
                  <a:srgbClr val="001F5F"/>
                </a:solidFill>
                <a:latin typeface="Palatino Linotype" panose="02040502050505030304"/>
                <a:cs typeface="Palatino Linotype" panose="02040502050505030304"/>
              </a:rPr>
              <a:t>Outer-edge:</a:t>
            </a:r>
            <a:endParaRPr sz="2200">
              <a:latin typeface="Palatino Linotype" panose="02040502050505030304"/>
              <a:cs typeface="Palatino Linotype" panose="02040502050505030304"/>
            </a:endParaRPr>
          </a:p>
          <a:p>
            <a:pPr marL="375285" indent="-362585">
              <a:lnSpc>
                <a:spcPct val="100000"/>
              </a:lnSpc>
              <a:spcBef>
                <a:spcPts val="2195"/>
              </a:spcBef>
              <a:buClr>
                <a:srgbClr val="E88A33"/>
              </a:buClr>
              <a:buFont typeface="Wingdings" panose="05000000000000000000"/>
              <a:buChar char=""/>
              <a:tabLst>
                <a:tab pos="375285" algn="l"/>
              </a:tabLst>
            </a:pPr>
            <a:r>
              <a:rPr sz="2000" spc="-10" dirty="0"/>
              <a:t>Outer-</a:t>
            </a:r>
            <a:r>
              <a:rPr sz="2000" dirty="0"/>
              <a:t>edge,</a:t>
            </a:r>
            <a:r>
              <a:rPr sz="2000" spc="-35" dirty="0"/>
              <a:t> </a:t>
            </a:r>
            <a:r>
              <a:rPr sz="2000" dirty="0"/>
              <a:t>which</a:t>
            </a:r>
            <a:r>
              <a:rPr sz="2000" spc="-25" dirty="0"/>
              <a:t> </a:t>
            </a:r>
            <a:r>
              <a:rPr sz="2000" dirty="0"/>
              <a:t>is</a:t>
            </a:r>
            <a:r>
              <a:rPr sz="2000" spc="-20" dirty="0"/>
              <a:t> </a:t>
            </a:r>
            <a:r>
              <a:rPr sz="2000" dirty="0"/>
              <a:t>also</a:t>
            </a:r>
            <a:r>
              <a:rPr sz="2000" spc="-20" dirty="0"/>
              <a:t> </a:t>
            </a:r>
            <a:r>
              <a:rPr sz="2000" dirty="0"/>
              <a:t>known</a:t>
            </a:r>
            <a:r>
              <a:rPr sz="2000" spc="-35" dirty="0"/>
              <a:t> </a:t>
            </a:r>
            <a:r>
              <a:rPr sz="2000" dirty="0"/>
              <a:t>as</a:t>
            </a:r>
            <a:r>
              <a:rPr sz="2000" spc="-20" dirty="0"/>
              <a:t> </a:t>
            </a:r>
            <a:r>
              <a:rPr sz="2000" spc="-10" dirty="0"/>
              <a:t>extreme-</a:t>
            </a:r>
            <a:r>
              <a:rPr sz="2000" dirty="0"/>
              <a:t>edge,</a:t>
            </a:r>
            <a:r>
              <a:rPr sz="2000" spc="-25" dirty="0"/>
              <a:t> </a:t>
            </a:r>
            <a:r>
              <a:rPr sz="2000" dirty="0"/>
              <a:t>far-edge</a:t>
            </a:r>
            <a:r>
              <a:rPr sz="2000" spc="-30" dirty="0"/>
              <a:t> </a:t>
            </a:r>
            <a:r>
              <a:rPr sz="2000" dirty="0"/>
              <a:t>or</a:t>
            </a:r>
            <a:r>
              <a:rPr sz="2000" spc="-20" dirty="0"/>
              <a:t> mist</a:t>
            </a:r>
            <a:endParaRPr sz="2000"/>
          </a:p>
          <a:p>
            <a:pPr marL="375285" marR="6985" indent="-363220">
              <a:lnSpc>
                <a:spcPct val="107000"/>
              </a:lnSpc>
              <a:spcBef>
                <a:spcPts val="1990"/>
              </a:spcBef>
              <a:buClr>
                <a:srgbClr val="E88A33"/>
              </a:buClr>
              <a:buFont typeface="Wingdings" panose="05000000000000000000"/>
              <a:buChar char=""/>
              <a:tabLst>
                <a:tab pos="375285" algn="l"/>
              </a:tabLst>
            </a:pPr>
            <a:r>
              <a:rPr sz="2000" dirty="0"/>
              <a:t>It</a:t>
            </a:r>
            <a:r>
              <a:rPr sz="2000" spc="95" dirty="0"/>
              <a:t> </a:t>
            </a:r>
            <a:r>
              <a:rPr sz="2000" dirty="0"/>
              <a:t>represents</a:t>
            </a:r>
            <a:r>
              <a:rPr sz="2000" spc="90" dirty="0"/>
              <a:t> </a:t>
            </a:r>
            <a:r>
              <a:rPr sz="2000" dirty="0"/>
              <a:t>the</a:t>
            </a:r>
            <a:r>
              <a:rPr sz="2000" spc="100" dirty="0"/>
              <a:t> </a:t>
            </a:r>
            <a:r>
              <a:rPr sz="2000" spc="-10" dirty="0"/>
              <a:t>front-</a:t>
            </a:r>
            <a:r>
              <a:rPr sz="2000" dirty="0"/>
              <a:t>end</a:t>
            </a:r>
            <a:r>
              <a:rPr sz="2000" spc="95" dirty="0"/>
              <a:t> </a:t>
            </a:r>
            <a:r>
              <a:rPr sz="2000" dirty="0"/>
              <a:t>of</a:t>
            </a:r>
            <a:r>
              <a:rPr sz="2000" spc="105" dirty="0"/>
              <a:t> </a:t>
            </a:r>
            <a:r>
              <a:rPr sz="2000" dirty="0"/>
              <a:t>the</a:t>
            </a:r>
            <a:r>
              <a:rPr sz="2000" spc="105" dirty="0"/>
              <a:t> </a:t>
            </a:r>
            <a:r>
              <a:rPr sz="2000" dirty="0"/>
              <a:t>IoT</a:t>
            </a:r>
            <a:r>
              <a:rPr sz="2000" spc="90" dirty="0"/>
              <a:t> </a:t>
            </a:r>
            <a:r>
              <a:rPr sz="2000" dirty="0"/>
              <a:t>network</a:t>
            </a:r>
            <a:r>
              <a:rPr sz="2000" spc="95" dirty="0"/>
              <a:t> </a:t>
            </a:r>
            <a:r>
              <a:rPr sz="2000" dirty="0"/>
              <a:t>which</a:t>
            </a:r>
            <a:r>
              <a:rPr sz="2000" spc="90" dirty="0"/>
              <a:t> </a:t>
            </a:r>
            <a:r>
              <a:rPr sz="2000" dirty="0"/>
              <a:t>consists</a:t>
            </a:r>
            <a:r>
              <a:rPr sz="2000" spc="100" dirty="0"/>
              <a:t> </a:t>
            </a:r>
            <a:r>
              <a:rPr sz="2000" dirty="0"/>
              <a:t>of</a:t>
            </a:r>
            <a:r>
              <a:rPr sz="2000" spc="110" dirty="0"/>
              <a:t> </a:t>
            </a:r>
            <a:r>
              <a:rPr sz="2000" dirty="0"/>
              <a:t>three</a:t>
            </a:r>
            <a:r>
              <a:rPr sz="2000" spc="100" dirty="0"/>
              <a:t> </a:t>
            </a:r>
            <a:r>
              <a:rPr sz="2000" dirty="0"/>
              <a:t>types</a:t>
            </a:r>
            <a:r>
              <a:rPr sz="2000" spc="110" dirty="0"/>
              <a:t> </a:t>
            </a:r>
            <a:r>
              <a:rPr sz="2000" dirty="0"/>
              <a:t>of</a:t>
            </a:r>
            <a:r>
              <a:rPr sz="2000" spc="95" dirty="0"/>
              <a:t> </a:t>
            </a:r>
            <a:r>
              <a:rPr sz="2000" spc="-10" dirty="0"/>
              <a:t>devices— </a:t>
            </a:r>
            <a:r>
              <a:rPr sz="2000" dirty="0"/>
              <a:t>constraint</a:t>
            </a:r>
            <a:r>
              <a:rPr sz="2000" spc="-55" dirty="0"/>
              <a:t> </a:t>
            </a:r>
            <a:r>
              <a:rPr sz="2000" dirty="0"/>
              <a:t>devices,</a:t>
            </a:r>
            <a:r>
              <a:rPr sz="2000" spc="-30" dirty="0"/>
              <a:t> </a:t>
            </a:r>
            <a:r>
              <a:rPr sz="2000" dirty="0"/>
              <a:t>integrated</a:t>
            </a:r>
            <a:r>
              <a:rPr sz="2000" spc="-40" dirty="0"/>
              <a:t> </a:t>
            </a:r>
            <a:r>
              <a:rPr sz="2000" dirty="0"/>
              <a:t>devices</a:t>
            </a:r>
            <a:r>
              <a:rPr sz="2000" spc="-25" dirty="0"/>
              <a:t> </a:t>
            </a:r>
            <a:r>
              <a:rPr sz="2000" dirty="0"/>
              <a:t>and</a:t>
            </a:r>
            <a:r>
              <a:rPr sz="2000" spc="-40" dirty="0"/>
              <a:t> </a:t>
            </a:r>
            <a:r>
              <a:rPr sz="2000" dirty="0"/>
              <a:t>IP</a:t>
            </a:r>
            <a:r>
              <a:rPr sz="2000" spc="-20" dirty="0"/>
              <a:t> </a:t>
            </a:r>
            <a:r>
              <a:rPr sz="2000" dirty="0"/>
              <a:t>gateway</a:t>
            </a:r>
            <a:r>
              <a:rPr sz="2000" spc="-45" dirty="0"/>
              <a:t> </a:t>
            </a:r>
            <a:r>
              <a:rPr sz="2000" spc="-10" dirty="0"/>
              <a:t>devices.</a:t>
            </a:r>
            <a:endParaRPr sz="2000"/>
          </a:p>
          <a:p>
            <a:pPr marL="375285" indent="-362585">
              <a:lnSpc>
                <a:spcPct val="100000"/>
              </a:lnSpc>
              <a:spcBef>
                <a:spcPts val="2175"/>
              </a:spcBef>
              <a:buClr>
                <a:srgbClr val="E88A33"/>
              </a:buClr>
              <a:buFont typeface="Wingdings" panose="05000000000000000000"/>
              <a:buChar char=""/>
              <a:tabLst>
                <a:tab pos="375285" algn="l"/>
              </a:tabLst>
            </a:pPr>
            <a:r>
              <a:rPr sz="2000" dirty="0">
                <a:solidFill>
                  <a:srgbClr val="C00000"/>
                </a:solidFill>
              </a:rPr>
              <a:t>Constraint</a:t>
            </a:r>
            <a:r>
              <a:rPr sz="2000" spc="-40" dirty="0">
                <a:solidFill>
                  <a:srgbClr val="C00000"/>
                </a:solidFill>
              </a:rPr>
              <a:t> </a:t>
            </a:r>
            <a:r>
              <a:rPr sz="2000" dirty="0">
                <a:solidFill>
                  <a:srgbClr val="C00000"/>
                </a:solidFill>
              </a:rPr>
              <a:t>devices</a:t>
            </a:r>
            <a:r>
              <a:rPr sz="2000" spc="-25" dirty="0">
                <a:solidFill>
                  <a:srgbClr val="C00000"/>
                </a:solidFill>
              </a:rPr>
              <a:t> </a:t>
            </a:r>
            <a:r>
              <a:rPr sz="2000" dirty="0"/>
              <a:t>such</a:t>
            </a:r>
            <a:r>
              <a:rPr sz="2000" spc="-35" dirty="0"/>
              <a:t> </a:t>
            </a:r>
            <a:r>
              <a:rPr sz="2000" dirty="0"/>
              <a:t>as</a:t>
            </a:r>
            <a:r>
              <a:rPr sz="2000" spc="-30" dirty="0"/>
              <a:t> </a:t>
            </a:r>
            <a:r>
              <a:rPr sz="2000" dirty="0"/>
              <a:t>sensors</a:t>
            </a:r>
            <a:r>
              <a:rPr sz="2000" spc="-40" dirty="0"/>
              <a:t> </a:t>
            </a:r>
            <a:r>
              <a:rPr sz="2000" dirty="0"/>
              <a:t>or</a:t>
            </a:r>
            <a:r>
              <a:rPr sz="2000" spc="-30" dirty="0"/>
              <a:t> </a:t>
            </a:r>
            <a:r>
              <a:rPr sz="2000" dirty="0"/>
              <a:t>actuators</a:t>
            </a:r>
            <a:r>
              <a:rPr sz="2000" spc="-45" dirty="0"/>
              <a:t> </a:t>
            </a:r>
            <a:r>
              <a:rPr sz="2000" dirty="0"/>
              <a:t>are</a:t>
            </a:r>
            <a:r>
              <a:rPr sz="2000" spc="-30" dirty="0"/>
              <a:t> </a:t>
            </a:r>
            <a:r>
              <a:rPr sz="2000" dirty="0"/>
              <a:t>usually</a:t>
            </a:r>
            <a:r>
              <a:rPr sz="2000" spc="-50" dirty="0"/>
              <a:t> </a:t>
            </a:r>
            <a:r>
              <a:rPr sz="2000" dirty="0"/>
              <a:t>operated</a:t>
            </a:r>
            <a:r>
              <a:rPr sz="2000" spc="-35" dirty="0"/>
              <a:t> </a:t>
            </a:r>
            <a:r>
              <a:rPr sz="2000" dirty="0"/>
              <a:t>by</a:t>
            </a:r>
            <a:r>
              <a:rPr sz="2000" spc="-20" dirty="0"/>
              <a:t> </a:t>
            </a:r>
            <a:r>
              <a:rPr sz="2000" spc="-10" dirty="0"/>
              <a:t>microcontrollers,</a:t>
            </a:r>
            <a:endParaRPr sz="2000"/>
          </a:p>
          <a:p>
            <a:pPr marL="375285" indent="-362585">
              <a:lnSpc>
                <a:spcPct val="100000"/>
              </a:lnSpc>
              <a:spcBef>
                <a:spcPts val="2175"/>
              </a:spcBef>
              <a:buClr>
                <a:srgbClr val="E88A33"/>
              </a:buClr>
              <a:buFont typeface="Wingdings" panose="05000000000000000000"/>
              <a:buChar char=""/>
              <a:tabLst>
                <a:tab pos="375285" algn="l"/>
              </a:tabLst>
            </a:pPr>
            <a:r>
              <a:rPr sz="2000" dirty="0">
                <a:solidFill>
                  <a:srgbClr val="C00000"/>
                </a:solidFill>
              </a:rPr>
              <a:t>Integrated</a:t>
            </a:r>
            <a:r>
              <a:rPr sz="2000" spc="-50" dirty="0">
                <a:solidFill>
                  <a:srgbClr val="C00000"/>
                </a:solidFill>
              </a:rPr>
              <a:t> </a:t>
            </a:r>
            <a:r>
              <a:rPr sz="2000" dirty="0">
                <a:solidFill>
                  <a:srgbClr val="C00000"/>
                </a:solidFill>
              </a:rPr>
              <a:t>devices</a:t>
            </a:r>
            <a:r>
              <a:rPr sz="2000" spc="-30" dirty="0">
                <a:solidFill>
                  <a:srgbClr val="C00000"/>
                </a:solidFill>
              </a:rPr>
              <a:t> </a:t>
            </a:r>
            <a:r>
              <a:rPr sz="2000" dirty="0"/>
              <a:t>are</a:t>
            </a:r>
            <a:r>
              <a:rPr sz="2000" spc="-40" dirty="0"/>
              <a:t> </a:t>
            </a:r>
            <a:r>
              <a:rPr sz="2000" dirty="0"/>
              <a:t>the</a:t>
            </a:r>
            <a:r>
              <a:rPr sz="2000" spc="-30" dirty="0"/>
              <a:t> </a:t>
            </a:r>
            <a:r>
              <a:rPr sz="2000" dirty="0"/>
              <a:t>devices</a:t>
            </a:r>
            <a:r>
              <a:rPr sz="2000" spc="-40" dirty="0"/>
              <a:t> </a:t>
            </a:r>
            <a:r>
              <a:rPr sz="2000" dirty="0"/>
              <a:t>operated</a:t>
            </a:r>
            <a:r>
              <a:rPr sz="2000" spc="-45" dirty="0"/>
              <a:t> </a:t>
            </a:r>
            <a:r>
              <a:rPr sz="2000" dirty="0"/>
              <a:t>by</a:t>
            </a:r>
            <a:r>
              <a:rPr sz="2000" spc="-35" dirty="0"/>
              <a:t> </a:t>
            </a:r>
            <a:r>
              <a:rPr sz="2000" dirty="0"/>
              <a:t>the</a:t>
            </a:r>
            <a:r>
              <a:rPr sz="2000" spc="-30" dirty="0"/>
              <a:t> </a:t>
            </a:r>
            <a:r>
              <a:rPr sz="2000" spc="-10" dirty="0"/>
              <a:t>processors.</a:t>
            </a:r>
            <a:endParaRPr sz="2000"/>
          </a:p>
          <a:p>
            <a:pPr marL="375285" indent="-362585">
              <a:lnSpc>
                <a:spcPct val="100000"/>
              </a:lnSpc>
              <a:spcBef>
                <a:spcPts val="2160"/>
              </a:spcBef>
              <a:buClr>
                <a:srgbClr val="E88A33"/>
              </a:buClr>
              <a:buFont typeface="Wingdings" panose="05000000000000000000"/>
              <a:buChar char=""/>
              <a:tabLst>
                <a:tab pos="375285" algn="l"/>
              </a:tabLst>
            </a:pPr>
            <a:r>
              <a:rPr sz="2000" dirty="0">
                <a:solidFill>
                  <a:srgbClr val="C00000"/>
                </a:solidFill>
              </a:rPr>
              <a:t>IP</a:t>
            </a:r>
            <a:r>
              <a:rPr sz="2000" spc="415" dirty="0">
                <a:solidFill>
                  <a:srgbClr val="C00000"/>
                </a:solidFill>
              </a:rPr>
              <a:t> </a:t>
            </a:r>
            <a:r>
              <a:rPr sz="2000" dirty="0">
                <a:solidFill>
                  <a:srgbClr val="C00000"/>
                </a:solidFill>
              </a:rPr>
              <a:t>gateway</a:t>
            </a:r>
            <a:r>
              <a:rPr sz="2000" spc="405" dirty="0">
                <a:solidFill>
                  <a:srgbClr val="C00000"/>
                </a:solidFill>
              </a:rPr>
              <a:t> </a:t>
            </a:r>
            <a:r>
              <a:rPr sz="2000" dirty="0">
                <a:solidFill>
                  <a:srgbClr val="C00000"/>
                </a:solidFill>
              </a:rPr>
              <a:t>devices</a:t>
            </a:r>
            <a:r>
              <a:rPr sz="2000" spc="415" dirty="0">
                <a:solidFill>
                  <a:srgbClr val="C00000"/>
                </a:solidFill>
              </a:rPr>
              <a:t> </a:t>
            </a:r>
            <a:r>
              <a:rPr sz="2000" dirty="0"/>
              <a:t>are</a:t>
            </a:r>
            <a:r>
              <a:rPr sz="2000" spc="409" dirty="0"/>
              <a:t> </a:t>
            </a:r>
            <a:r>
              <a:rPr sz="2000" dirty="0"/>
              <a:t>also</a:t>
            </a:r>
            <a:r>
              <a:rPr sz="2000" spc="415" dirty="0"/>
              <a:t> </a:t>
            </a:r>
            <a:r>
              <a:rPr sz="2000" dirty="0"/>
              <a:t>known</a:t>
            </a:r>
            <a:r>
              <a:rPr sz="2000" spc="400" dirty="0"/>
              <a:t> </a:t>
            </a:r>
            <a:r>
              <a:rPr sz="2000" dirty="0"/>
              <a:t>as</a:t>
            </a:r>
            <a:r>
              <a:rPr sz="2000" spc="415" dirty="0"/>
              <a:t> </a:t>
            </a:r>
            <a:r>
              <a:rPr sz="2000" dirty="0"/>
              <a:t>hubs,</a:t>
            </a:r>
            <a:r>
              <a:rPr sz="2000" spc="415" dirty="0"/>
              <a:t> </a:t>
            </a:r>
            <a:r>
              <a:rPr sz="2000" dirty="0"/>
              <a:t>which</a:t>
            </a:r>
            <a:r>
              <a:rPr sz="2000" spc="409" dirty="0"/>
              <a:t> </a:t>
            </a:r>
            <a:r>
              <a:rPr sz="2000" dirty="0"/>
              <a:t>act</a:t>
            </a:r>
            <a:r>
              <a:rPr sz="2000" spc="400" dirty="0"/>
              <a:t> </a:t>
            </a:r>
            <a:r>
              <a:rPr sz="2000" dirty="0"/>
              <a:t>as</a:t>
            </a:r>
            <a:r>
              <a:rPr sz="2000" spc="415" dirty="0"/>
              <a:t> </a:t>
            </a:r>
            <a:r>
              <a:rPr sz="2000" dirty="0"/>
              <a:t>the</a:t>
            </a:r>
            <a:r>
              <a:rPr sz="2000" spc="405" dirty="0"/>
              <a:t> </a:t>
            </a:r>
            <a:r>
              <a:rPr sz="2000" dirty="0"/>
              <a:t>mediator</a:t>
            </a:r>
            <a:r>
              <a:rPr sz="2000" spc="409" dirty="0"/>
              <a:t> </a:t>
            </a:r>
            <a:r>
              <a:rPr sz="2000" dirty="0"/>
              <a:t>between</a:t>
            </a:r>
            <a:r>
              <a:rPr sz="2000" spc="405" dirty="0"/>
              <a:t> </a:t>
            </a:r>
            <a:r>
              <a:rPr sz="2000" spc="-25" dirty="0"/>
              <a:t>the</a:t>
            </a:r>
            <a:r>
              <a:rPr lang="en-US" sz="2000" spc="-25" dirty="0"/>
              <a:t> </a:t>
            </a:r>
            <a:r>
              <a:rPr sz="2000" dirty="0"/>
              <a:t>constrained</a:t>
            </a:r>
            <a:r>
              <a:rPr sz="2000" spc="-50" dirty="0"/>
              <a:t> </a:t>
            </a:r>
            <a:r>
              <a:rPr sz="2000" dirty="0"/>
              <a:t>devices</a:t>
            </a:r>
            <a:r>
              <a:rPr sz="2000" spc="-30" dirty="0"/>
              <a:t> </a:t>
            </a:r>
            <a:r>
              <a:rPr sz="2000" dirty="0"/>
              <a:t>and</a:t>
            </a:r>
            <a:r>
              <a:rPr sz="2000" spc="-30" dirty="0"/>
              <a:t> </a:t>
            </a:r>
            <a:r>
              <a:rPr sz="2000" dirty="0"/>
              <a:t>the</a:t>
            </a:r>
            <a:r>
              <a:rPr sz="2000" spc="-30" dirty="0"/>
              <a:t> </a:t>
            </a:r>
            <a:r>
              <a:rPr sz="2000" spc="-10" dirty="0"/>
              <a:t>middle-</a:t>
            </a:r>
            <a:r>
              <a:rPr sz="2000" dirty="0"/>
              <a:t>edge</a:t>
            </a:r>
            <a:r>
              <a:rPr sz="2000" spc="-40" dirty="0"/>
              <a:t> </a:t>
            </a:r>
            <a:r>
              <a:rPr sz="2000" spc="-10" dirty="0"/>
              <a:t>devices</a:t>
            </a:r>
            <a:endParaRPr sz="2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33400" y="2057400"/>
            <a:ext cx="10697210" cy="2954655"/>
          </a:xfrm>
        </p:spPr>
        <p:txBody>
          <a:bodyPr wrap="square"/>
          <a:p>
            <a:pPr algn="ctr"/>
            <a:r>
              <a:rPr lang="en-US"/>
              <a:t>Module 1-L9</a:t>
            </a:r>
            <a:endParaRPr lang="en-US"/>
          </a:p>
          <a:p>
            <a:r>
              <a:rPr lang="en-US" altLang="en-US" sz="2800"/>
              <a:t>CO1 Explain the concept of Edge-as-a-Service (EaaS).</a:t>
            </a:r>
            <a:endParaRPr lang="en-US" altLang="en-US" sz="2800"/>
          </a:p>
          <a:p>
            <a:endParaRPr lang="en-US" altLang="en-US" sz="2800"/>
          </a:p>
          <a:p>
            <a:r>
              <a:rPr lang="en-US" altLang="en-US" sz="2800"/>
              <a:t>CO2 Describe how EaaS platforms simplify edge resource usage</a:t>
            </a:r>
            <a:endParaRPr lang="en-US" altLang="en-US" sz="2800"/>
          </a:p>
          <a:p>
            <a:endParaRPr lang="en-US" altLang="en-US" sz="2800"/>
          </a:p>
          <a:p>
            <a:r>
              <a:rPr lang="en-US" altLang="en-US" sz="2800"/>
              <a:t>CO3 Describe different types of edge nodes with examples</a:t>
            </a:r>
            <a:endParaRPr lang="en-US" altLang="en-US" sz="28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pPr algn="ctr"/>
            <a:r>
              <a:rPr lang="en-US"/>
              <a:t>Eaas </a:t>
            </a:r>
            <a:endParaRPr lang="en-US"/>
          </a:p>
        </p:txBody>
      </p:sp>
      <p:sp>
        <p:nvSpPr>
          <p:cNvPr id="3" name="Content Placeholder 2"/>
          <p:cNvSpPr>
            <a:spLocks noGrp="1"/>
          </p:cNvSpPr>
          <p:nvPr>
            <p:ph idx="1"/>
          </p:nvPr>
        </p:nvSpPr>
        <p:spPr>
          <a:xfrm>
            <a:off x="304800" y="1447800"/>
            <a:ext cx="11871325" cy="2461895"/>
          </a:xfrm>
        </p:spPr>
        <p:txBody>
          <a:bodyPr wrap="square"/>
          <a:p>
            <a:r>
              <a:rPr lang="en-US" altLang="en-US"/>
              <a:t>Edge-as-a-Service (EaaS) is a cloud-based service model </a:t>
            </a:r>
            <a:endParaRPr lang="en-US" altLang="en-US"/>
          </a:p>
          <a:p>
            <a:r>
              <a:rPr lang="en-US" altLang="en-US"/>
              <a:t>--- that provides on-demand access to edge computing resources</a:t>
            </a:r>
            <a:endParaRPr lang="en-US" altLang="en-US"/>
          </a:p>
          <a:p>
            <a:r>
              <a:rPr lang="en-US" altLang="en-US"/>
              <a:t>— such as compute, storage, networking, and AI capabilities</a:t>
            </a:r>
            <a:endParaRPr lang="en-US" altLang="en-US"/>
          </a:p>
          <a:p>
            <a:r>
              <a:rPr lang="en-US" altLang="en-US"/>
              <a:t>— located close to end users and data sources.</a:t>
            </a:r>
            <a:endParaRPr lang="en-US" altLang="en-US"/>
          </a:p>
          <a:p>
            <a:r>
              <a:rPr lang="en-US" altLang="en-US"/>
              <a:t>  -- It allows organizations to deploy, manage, and scale edge applications without owning or maintaining edge infrastructure.</a:t>
            </a:r>
            <a:endParaRPr lang="en-US" altLang="en-US"/>
          </a:p>
          <a:p>
            <a:r>
              <a:rPr lang="en-US" altLang="en-US" sz="1600" b="1">
                <a:sym typeface="+mn-ea"/>
              </a:rPr>
              <a:t>                            </a:t>
            </a:r>
            <a:endParaRPr lang="en-US" altLang="en-US" sz="16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graphicFrame>
        <p:nvGraphicFramePr>
          <p:cNvPr id="6" name="Object 5"/>
          <p:cNvGraphicFramePr/>
          <p:nvPr/>
        </p:nvGraphicFramePr>
        <p:xfrm>
          <a:off x="2514600" y="3810000"/>
          <a:ext cx="6734175" cy="2559050"/>
        </p:xfrm>
        <a:graphic>
          <a:graphicData uri="http://schemas.openxmlformats.org/presentationml/2006/ole">
            <mc:AlternateContent xmlns:mc="http://schemas.openxmlformats.org/markup-compatibility/2006">
              <mc:Choice xmlns:v="urn:schemas-microsoft-com:vml" Requires="v">
                <p:oleObj spid="_x0000_s7" name="" r:id="rId1" imgW="4838700" imgH="1247775" progId="Paint.Picture">
                  <p:embed/>
                </p:oleObj>
              </mc:Choice>
              <mc:Fallback>
                <p:oleObj name="" r:id="rId1" imgW="4838700" imgH="1247775" progId="Paint.Picture">
                  <p:embed/>
                  <p:pic>
                    <p:nvPicPr>
                      <p:cNvPr id="0" name="Picture 6"/>
                      <p:cNvPicPr/>
                      <p:nvPr/>
                    </p:nvPicPr>
                    <p:blipFill>
                      <a:blip r:embed="rId2"/>
                      <a:stretch>
                        <a:fillRect/>
                      </a:stretch>
                    </p:blipFill>
                    <p:spPr>
                      <a:xfrm>
                        <a:off x="2514600" y="3810000"/>
                        <a:ext cx="6734175" cy="2559050"/>
                      </a:xfrm>
                      <a:prstGeom prst="rect">
                        <a:avLst/>
                      </a:prstGeom>
                    </p:spPr>
                  </p:pic>
                </p:oleObj>
              </mc:Fallback>
            </mc:AlternateContent>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pPr algn="ctr"/>
            <a:r>
              <a:rPr>
                <a:latin typeface="+mn-ea"/>
                <a:ea typeface="Calibri" panose="020F0502020204030204"/>
                <a:cs typeface="+mn-ea"/>
                <a:sym typeface="+mn-ea"/>
              </a:rPr>
              <a:t>Edge Nodes</a:t>
            </a:r>
            <a:r>
              <a:rPr lang="en-US">
                <a:latin typeface="+mn-ea"/>
                <a:ea typeface="Calibri" panose="020F0502020204030204"/>
                <a:cs typeface="+mn-ea"/>
                <a:sym typeface="+mn-ea"/>
              </a:rPr>
              <a:t>:</a:t>
            </a:r>
            <a:endParaRPr lang="en-US"/>
          </a:p>
        </p:txBody>
      </p:sp>
      <p:sp>
        <p:nvSpPr>
          <p:cNvPr id="3" name="Content Placeholder 2"/>
          <p:cNvSpPr>
            <a:spLocks noGrp="1"/>
          </p:cNvSpPr>
          <p:nvPr>
            <p:ph idx="1"/>
          </p:nvPr>
        </p:nvSpPr>
        <p:spPr>
          <a:xfrm>
            <a:off x="327660" y="1905000"/>
            <a:ext cx="11176000" cy="4062730"/>
          </a:xfrm>
        </p:spPr>
        <p:txBody>
          <a:bodyPr wrap="square"/>
          <a:p>
            <a:pPr marL="342900" indent="-342900" algn="just">
              <a:buFont typeface="Wingdings" panose="05000000000000000000" charset="0"/>
              <a:buChar char="v"/>
            </a:pPr>
            <a:r>
              <a:rPr lang="en-US" altLang="en-US"/>
              <a:t>Edge Nodes are distributed computing units at the network edge that process data locally to enable low-latency, real-time, and intelligent applications</a:t>
            </a:r>
            <a:endParaRPr lang="en-US" altLang="en-US"/>
          </a:p>
          <a:p>
            <a:pPr marL="342900" indent="-342900" algn="just">
              <a:buFont typeface="Wingdings" panose="05000000000000000000" charset="0"/>
              <a:buChar char="v"/>
            </a:pPr>
            <a:r>
              <a:rPr lang="en-US" altLang="en-US"/>
              <a:t>Edge Nodes are computing units deployed close to data sources (users, sensors, IoT devices) to perform local processing, storage, and analytics, reducing dependency on centralized cloud servers.</a:t>
            </a:r>
            <a:endParaRPr lang="en-US" altLang="en-US"/>
          </a:p>
          <a:p>
            <a:pPr marL="342900" indent="-342900" algn="just">
              <a:buFont typeface="Wingdings" panose="05000000000000000000" charset="0"/>
              <a:buChar char="v"/>
            </a:pPr>
            <a:endParaRPr lang="en-US" altLang="en-US"/>
          </a:p>
          <a:p>
            <a:pPr algn="just"/>
            <a:r>
              <a:rPr lang="en-US" altLang="en-US"/>
              <a:t>Located at the network edge (base stations, gateways, routers)</a:t>
            </a:r>
            <a:endParaRPr lang="en-US" altLang="en-US"/>
          </a:p>
          <a:p>
            <a:pPr algn="just"/>
            <a:r>
              <a:rPr lang="en-US" altLang="en-US"/>
              <a:t>Support low-latency and real-time processing</a:t>
            </a:r>
            <a:endParaRPr lang="en-US" altLang="en-US"/>
          </a:p>
          <a:p>
            <a:pPr algn="just"/>
            <a:r>
              <a:rPr lang="en-US" altLang="en-US"/>
              <a:t>Handle data filtering, aggregation, and AI inference</a:t>
            </a:r>
            <a:endParaRPr lang="en-US" altLang="en-US"/>
          </a:p>
          <a:p>
            <a:pPr algn="just"/>
            <a:r>
              <a:rPr lang="en-US" altLang="en-US"/>
              <a:t>Reduce bandwidth usage and cloud load</a:t>
            </a:r>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Module 1-L10</a:t>
            </a:r>
            <a:endParaRPr lang="en-US"/>
          </a:p>
        </p:txBody>
      </p:sp>
      <p:sp>
        <p:nvSpPr>
          <p:cNvPr id="3" name="Content Placeholder 2"/>
          <p:cNvSpPr>
            <a:spLocks noGrp="1"/>
          </p:cNvSpPr>
          <p:nvPr>
            <p:ph idx="1"/>
          </p:nvPr>
        </p:nvSpPr>
        <p:spPr>
          <a:xfrm>
            <a:off x="327761" y="2023237"/>
            <a:ext cx="10824845" cy="1107440"/>
          </a:xfrm>
        </p:spPr>
        <p:txBody>
          <a:bodyPr/>
          <a:p>
            <a:r>
              <a:rPr lang="en-US" altLang="en-US"/>
              <a:t>CO1 Explain the concept of network slicing in edge systems.</a:t>
            </a:r>
            <a:endParaRPr lang="en-US" altLang="en-US"/>
          </a:p>
          <a:p>
            <a:endParaRPr lang="en-US" altLang="en-US"/>
          </a:p>
          <a:p>
            <a:r>
              <a:rPr lang="en-US" altLang="en-US"/>
              <a:t>CO2 Describe how network slices support with application requirement</a:t>
            </a:r>
            <a:endParaRPr lang="en-US" altLang="en-US"/>
          </a:p>
        </p:txBody>
      </p:sp>
      <p:sp>
        <p:nvSpPr>
          <p:cNvPr id="4" name="Footer Placeholder 3"/>
          <p:cNvSpPr>
            <a:spLocks noGrp="1"/>
          </p:cNvSpPr>
          <p:nvPr>
            <p:ph type="ftr" sz="quarter" idx="11"/>
          </p:nvPr>
        </p:nvSpPr>
        <p:spPr>
          <a:xfrm>
            <a:off x="4145280" y="6377940"/>
            <a:ext cx="3901440" cy="276860"/>
          </a:xfrm>
        </p:spPr>
        <p:txBody>
          <a:bodyPr/>
          <a:p>
            <a:r>
              <a:rPr lang="en-US"/>
              <a:t>CSE-367 Data Visualization</a:t>
            </a:r>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1415415"/>
          </a:xfrm>
        </p:spPr>
        <p:txBody>
          <a:bodyPr/>
          <a:p>
            <a:r>
              <a:rPr>
                <a:latin typeface="+mn-ea"/>
                <a:ea typeface="Calibri" panose="020F0502020204030204"/>
                <a:cs typeface="+mn-ea"/>
                <a:sym typeface="+mn-ea"/>
              </a:rPr>
              <a:t>Network Slices for Edge Systems, </a:t>
            </a:r>
            <a:br>
              <a:rPr>
                <a:latin typeface="+mn-ea"/>
                <a:ea typeface="Calibri" panose="020F0502020204030204"/>
                <a:cs typeface="+mn-ea"/>
                <a:sym typeface="+mn-ea"/>
              </a:rPr>
            </a:br>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8" name="Text Box 7"/>
          <p:cNvSpPr txBox="1"/>
          <p:nvPr/>
        </p:nvSpPr>
        <p:spPr>
          <a:xfrm>
            <a:off x="2286000" y="3429000"/>
            <a:ext cx="8451850" cy="2399665"/>
          </a:xfrm>
          <a:prstGeom prst="rect">
            <a:avLst/>
          </a:prstGeom>
        </p:spPr>
        <p:txBody>
          <a:bodyPr wrap="square">
            <a:noAutofit/>
          </a:bodyPr>
          <a:p>
            <a:pPr marL="457200" indent="-228600" defTabSz="457200">
              <a:tabLst>
                <a:tab pos="457200" algn="l"/>
              </a:tabLst>
            </a:pPr>
            <a:r>
              <a:rPr lang="en-US" sz="2000">
                <a:latin typeface="Times New Roman" panose="02020603050405020304"/>
                <a:ea typeface="Times New Roman" panose="02020603050405020304"/>
              </a:rPr>
              <a:t>1.eMBB (Enhanced Mobile Broadband)</a:t>
            </a:r>
            <a:endParaRPr lang="en-US" sz="2000">
              <a:latin typeface="Times New Roman" panose="02020603050405020304"/>
              <a:ea typeface="Times New Roman" panose="02020603050405020304"/>
            </a:endParaRPr>
          </a:p>
          <a:p>
            <a:pPr marL="914400" lvl="1" indent="-228600" defTabSz="457200">
              <a:buSzPct val="91000"/>
              <a:buFont typeface="Courier New" panose="02070309020205020404"/>
              <a:buChar char="o"/>
              <a:tabLst>
                <a:tab pos="914400" algn="l"/>
              </a:tabLst>
            </a:pPr>
            <a:r>
              <a:rPr lang="en-US" sz="2000">
                <a:latin typeface="Times New Roman" panose="02020603050405020304"/>
                <a:ea typeface="Times New Roman" panose="02020603050405020304"/>
              </a:rPr>
              <a:t>High bandwidth</a:t>
            </a:r>
            <a:endParaRPr lang="en-US" sz="2000">
              <a:latin typeface="Times New Roman" panose="02020603050405020304"/>
              <a:ea typeface="Times New Roman" panose="02020603050405020304"/>
            </a:endParaRPr>
          </a:p>
          <a:p>
            <a:pPr marL="914400" lvl="1" indent="-228600" defTabSz="457200">
              <a:buSzPct val="91000"/>
              <a:buFont typeface="Courier New" panose="02070309020205020404"/>
              <a:buChar char="o"/>
              <a:tabLst>
                <a:tab pos="914400" algn="l"/>
              </a:tabLst>
            </a:pPr>
            <a:r>
              <a:rPr lang="en-US" sz="2000">
                <a:latin typeface="Times New Roman" panose="02020603050405020304"/>
                <a:ea typeface="Times New Roman" panose="02020603050405020304"/>
              </a:rPr>
              <a:t>AR/VR, video streaming at the edge</a:t>
            </a:r>
            <a:endParaRPr lang="en-US" sz="2000">
              <a:latin typeface="Times New Roman" panose="02020603050405020304"/>
              <a:ea typeface="Times New Roman" panose="02020603050405020304"/>
            </a:endParaRPr>
          </a:p>
          <a:p>
            <a:pPr marL="457200" indent="-228600" defTabSz="457200">
              <a:tabLst>
                <a:tab pos="457200" algn="l"/>
              </a:tabLst>
            </a:pPr>
            <a:r>
              <a:rPr lang="en-US" sz="2000">
                <a:latin typeface="Times New Roman" panose="02020603050405020304"/>
                <a:ea typeface="Times New Roman" panose="02020603050405020304"/>
              </a:rPr>
              <a:t>2.URLLC (Ultra-Reliable Low Latency Communications)</a:t>
            </a:r>
            <a:endParaRPr lang="en-US" sz="2000">
              <a:latin typeface="Times New Roman" panose="02020603050405020304"/>
              <a:ea typeface="Times New Roman" panose="02020603050405020304"/>
            </a:endParaRPr>
          </a:p>
          <a:p>
            <a:pPr marL="914400" lvl="1" indent="-228600" defTabSz="457200">
              <a:buSzPct val="91000"/>
              <a:buFont typeface="Courier New" panose="02070309020205020404"/>
              <a:buChar char="o"/>
              <a:tabLst>
                <a:tab pos="914400" algn="l"/>
              </a:tabLst>
            </a:pPr>
            <a:r>
              <a:rPr lang="en-US" sz="2000">
                <a:latin typeface="Times New Roman" panose="02020603050405020304"/>
                <a:ea typeface="Times New Roman" panose="02020603050405020304"/>
              </a:rPr>
              <a:t>Ultra-low latency, high reliability</a:t>
            </a:r>
            <a:endParaRPr lang="en-US" sz="2000">
              <a:latin typeface="Times New Roman" panose="02020603050405020304"/>
              <a:ea typeface="Times New Roman" panose="02020603050405020304"/>
            </a:endParaRPr>
          </a:p>
          <a:p>
            <a:pPr marL="914400" lvl="1" indent="-228600" defTabSz="457200">
              <a:buSzPct val="91000"/>
              <a:buFont typeface="Courier New" panose="02070309020205020404"/>
              <a:buChar char="o"/>
              <a:tabLst>
                <a:tab pos="914400" algn="l"/>
              </a:tabLst>
            </a:pPr>
            <a:r>
              <a:rPr lang="en-US" sz="2000">
                <a:latin typeface="Times New Roman" panose="02020603050405020304"/>
                <a:ea typeface="Times New Roman" panose="02020603050405020304"/>
              </a:rPr>
              <a:t>Autonomous vehicles, industrial automation</a:t>
            </a:r>
            <a:endParaRPr lang="en-US" sz="2000">
              <a:latin typeface="Times New Roman" panose="02020603050405020304"/>
              <a:ea typeface="Times New Roman" panose="02020603050405020304"/>
            </a:endParaRPr>
          </a:p>
          <a:p>
            <a:pPr marL="457200" indent="-228600" defTabSz="457200">
              <a:tabLst>
                <a:tab pos="457200" algn="l"/>
              </a:tabLst>
            </a:pPr>
            <a:r>
              <a:rPr lang="en-US" sz="2000">
                <a:latin typeface="Times New Roman" panose="02020603050405020304"/>
                <a:ea typeface="Times New Roman" panose="02020603050405020304"/>
              </a:rPr>
              <a:t>3.mMTC (Massive Machine-Type Communications)</a:t>
            </a:r>
            <a:endParaRPr lang="en-US" sz="2000">
              <a:latin typeface="Times New Roman" panose="02020603050405020304"/>
              <a:ea typeface="Times New Roman" panose="02020603050405020304"/>
            </a:endParaRPr>
          </a:p>
          <a:p>
            <a:pPr marL="914400" lvl="1" indent="-228600" defTabSz="457200">
              <a:buSzPct val="91000"/>
              <a:buFont typeface="Courier New" panose="02070309020205020404"/>
              <a:buChar char="o"/>
              <a:tabLst>
                <a:tab pos="914400" algn="l"/>
              </a:tabLst>
            </a:pPr>
            <a:r>
              <a:rPr lang="en-US" sz="2000">
                <a:latin typeface="Times New Roman" panose="02020603050405020304"/>
                <a:ea typeface="Times New Roman" panose="02020603050405020304"/>
              </a:rPr>
              <a:t>Supports large number of devices</a:t>
            </a:r>
            <a:endParaRPr lang="en-US" sz="2000">
              <a:latin typeface="Times New Roman" panose="02020603050405020304"/>
              <a:ea typeface="Times New Roman" panose="02020603050405020304"/>
            </a:endParaRPr>
          </a:p>
          <a:p>
            <a:pPr marL="914400" lvl="1" indent="-228600" defTabSz="457200">
              <a:buSzPct val="91000"/>
              <a:buFont typeface="Courier New" panose="02070309020205020404"/>
              <a:buChar char="o"/>
              <a:tabLst>
                <a:tab pos="914400" algn="l"/>
              </a:tabLst>
            </a:pPr>
            <a:r>
              <a:rPr lang="en-US" sz="2000">
                <a:latin typeface="Times New Roman" panose="02020603050405020304"/>
                <a:ea typeface="Times New Roman" panose="02020603050405020304"/>
              </a:rPr>
              <a:t>Smart cities, IoT sensor networks</a:t>
            </a:r>
            <a:endParaRPr lang="en-US" sz="2000">
              <a:latin typeface="Times New Roman" panose="02020603050405020304"/>
              <a:ea typeface="Times New Roman" panose="02020603050405020304"/>
            </a:endParaRPr>
          </a:p>
        </p:txBody>
      </p:sp>
      <p:sp>
        <p:nvSpPr>
          <p:cNvPr id="10" name="Text Box 9"/>
          <p:cNvSpPr txBox="1"/>
          <p:nvPr/>
        </p:nvSpPr>
        <p:spPr>
          <a:xfrm>
            <a:off x="1027430" y="1905000"/>
            <a:ext cx="10640695" cy="1568450"/>
          </a:xfrm>
          <a:prstGeom prst="rect">
            <a:avLst/>
          </a:prstGeom>
        </p:spPr>
        <p:txBody>
          <a:bodyPr wrap="square">
            <a:spAutoFit/>
          </a:bodyPr>
          <a:p>
            <a:pPr marL="0" indent="0" algn="just" defTabSz="457200"/>
            <a:r>
              <a:rPr lang="en-US" sz="2400">
                <a:latin typeface="Times New Roman" panose="02020603050405020304"/>
                <a:ea typeface="Times New Roman" panose="02020603050405020304"/>
              </a:rPr>
              <a:t>Network Slicing for Edge Systems refers to creating customized virtual networks that support diverse edge applications with guaranteed Quality of Service (QoS) and Quality of Experience (QoE).</a:t>
            </a:r>
            <a:r>
              <a:rPr lang="en-US" altLang="en-US" sz="2400">
                <a:latin typeface="Times New Roman" panose="02020603050405020304"/>
                <a:ea typeface="Times New Roman" panose="02020603050405020304"/>
              </a:rPr>
              <a:t>Network slicing enables multiple logical edge networks over shared infrastructure, each tailored to specific application requirements.</a:t>
            </a:r>
            <a:endParaRPr lang="en-US" altLang="en-US" sz="2400">
              <a:latin typeface="Times New Roman" panose="02020603050405020304"/>
              <a:ea typeface="Times New Roman" panose="02020603050405020304"/>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conti...</a:t>
            </a:r>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graphicFrame>
        <p:nvGraphicFramePr>
          <p:cNvPr id="6" name="Object 5"/>
          <p:cNvGraphicFramePr>
            <a:graphicFrameLocks noChangeAspect="1"/>
          </p:cNvGraphicFramePr>
          <p:nvPr/>
        </p:nvGraphicFramePr>
        <p:xfrm>
          <a:off x="1251585" y="1283335"/>
          <a:ext cx="9813290" cy="4855210"/>
        </p:xfrm>
        <a:graphic>
          <a:graphicData uri="http://schemas.openxmlformats.org/presentationml/2006/ole">
            <mc:AlternateContent xmlns:mc="http://schemas.openxmlformats.org/markup-compatibility/2006">
              <mc:Choice xmlns:v="urn:schemas-microsoft-com:vml" Requires="v">
                <p:oleObj spid="_x0000_s7" name="" r:id="rId1" imgW="5581650" imgH="3000375" progId="Paint.Picture">
                  <p:embed/>
                </p:oleObj>
              </mc:Choice>
              <mc:Fallback>
                <p:oleObj name="" r:id="rId1" imgW="5581650" imgH="3000375" progId="Paint.Picture">
                  <p:embed/>
                  <p:pic>
                    <p:nvPicPr>
                      <p:cNvPr id="0" name="Picture 6"/>
                      <p:cNvPicPr/>
                      <p:nvPr/>
                    </p:nvPicPr>
                    <p:blipFill>
                      <a:blip r:embed="rId2"/>
                      <a:stretch>
                        <a:fillRect/>
                      </a:stretch>
                    </p:blipFill>
                    <p:spPr>
                      <a:xfrm>
                        <a:off x="1251585" y="1283335"/>
                        <a:ext cx="9813290" cy="4855210"/>
                      </a:xfrm>
                      <a:prstGeom prst="rect">
                        <a:avLst/>
                      </a:prstGeom>
                    </p:spPr>
                  </p:pic>
                </p:oleObj>
              </mc:Fallback>
            </mc:AlternateContent>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Module-1- L11</a:t>
            </a:r>
            <a:endParaRPr lang="en-US"/>
          </a:p>
        </p:txBody>
      </p:sp>
      <p:sp>
        <p:nvSpPr>
          <p:cNvPr id="3" name="Content Placeholder 2"/>
          <p:cNvSpPr>
            <a:spLocks noGrp="1"/>
          </p:cNvSpPr>
          <p:nvPr>
            <p:ph idx="1"/>
          </p:nvPr>
        </p:nvSpPr>
        <p:spPr>
          <a:xfrm>
            <a:off x="327761" y="2023237"/>
            <a:ext cx="10824845" cy="1107440"/>
          </a:xfrm>
        </p:spPr>
        <p:txBody>
          <a:bodyPr/>
          <a:p>
            <a:r>
              <a:rPr lang="en-US" altLang="en-US"/>
              <a:t>Explain the role of Mobile Edge Computing (MEC).</a:t>
            </a:r>
            <a:endParaRPr lang="en-US" altLang="en-US"/>
          </a:p>
          <a:p>
            <a:endParaRPr lang="en-US" altLang="en-US"/>
          </a:p>
          <a:p>
            <a:r>
              <a:rPr lang="en-US" altLang="en-US"/>
              <a:t>Describe edge and fog computing enhance mobile services.</a:t>
            </a:r>
            <a:endParaRPr lang="en-US" alt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1415415"/>
          </a:xfrm>
        </p:spPr>
        <p:txBody>
          <a:bodyPr/>
          <a:p>
            <a:r>
              <a:rPr>
                <a:latin typeface="+mn-ea"/>
                <a:ea typeface="Calibri" panose="020F0502020204030204"/>
                <a:cs typeface="+mn-ea"/>
                <a:sym typeface="+mn-ea"/>
              </a:rPr>
              <a:t>Edge Computing</a:t>
            </a:r>
            <a:r>
              <a:rPr lang="en-US">
                <a:latin typeface="+mn-ea"/>
                <a:ea typeface="Calibri" panose="020F0502020204030204"/>
                <a:cs typeface="+mn-ea"/>
                <a:sym typeface="+mn-ea"/>
              </a:rPr>
              <a:t>:</a:t>
            </a:r>
            <a:r>
              <a:rPr>
                <a:latin typeface="+mn-ea"/>
                <a:ea typeface="Calibri" panose="020F0502020204030204"/>
                <a:cs typeface="+mn-ea"/>
                <a:sym typeface="+mn-ea"/>
              </a:rPr>
              <a:t> Mobile Edge Computing (MEC)</a:t>
            </a:r>
            <a:endParaRPr lang="en-US"/>
          </a:p>
        </p:txBody>
      </p:sp>
      <p:sp>
        <p:nvSpPr>
          <p:cNvPr id="3" name="Content Placeholder 2"/>
          <p:cNvSpPr>
            <a:spLocks noGrp="1"/>
          </p:cNvSpPr>
          <p:nvPr>
            <p:ph idx="1"/>
          </p:nvPr>
        </p:nvSpPr>
        <p:spPr>
          <a:xfrm>
            <a:off x="49530" y="1905000"/>
            <a:ext cx="12038330" cy="4570095"/>
          </a:xfrm>
        </p:spPr>
        <p:txBody>
          <a:bodyPr>
            <a:noAutofit/>
          </a:bodyPr>
          <a:p>
            <a:pPr marL="342900" indent="-342900" algn="just">
              <a:buFont typeface="Wingdings" panose="05000000000000000000" charset="0"/>
              <a:buChar char="v"/>
            </a:pPr>
            <a:r>
              <a:rPr lang="en-US" altLang="en-US"/>
              <a:t>Mobile Edge Computing (MEC) Model:MEC is a specific Edge deployment model focused on mobile networks.</a:t>
            </a:r>
            <a:endParaRPr lang="en-US" altLang="en-US"/>
          </a:p>
          <a:p>
            <a:pPr marL="342900" indent="-342900" algn="just">
              <a:buFont typeface="Wingdings" panose="05000000000000000000" charset="0"/>
              <a:buChar char="v"/>
            </a:pPr>
            <a:r>
              <a:rPr lang="en-US" altLang="en-US">
                <a:sym typeface="+mn-ea"/>
              </a:rPr>
              <a:t>Definition of MEC:Mobile Edge Computing (MEC) provides IT and cloud computing capabilities within the Radio Access Network (RAN), close to mobile users.</a:t>
            </a:r>
            <a:endParaRPr lang="en-US" altLang="en-US"/>
          </a:p>
          <a:p>
            <a:pPr marL="342900" indent="-342900" algn="just">
              <a:buFont typeface="Wingdings" panose="05000000000000000000" charset="0"/>
              <a:buChar char="v"/>
            </a:pPr>
            <a:r>
              <a:rPr lang="en-US" altLang="en-US"/>
              <a:t>Fog nodes are deployed at the edge of cellular networks, providing services to mobile users with reduced latency.</a:t>
            </a:r>
            <a:endParaRPr lang="en-US" altLang="en-US"/>
          </a:p>
          <a:p>
            <a:pPr marL="342900" indent="-342900" algn="just">
              <a:buFont typeface="Wingdings" panose="05000000000000000000" charset="0"/>
              <a:buChar char="v"/>
            </a:pPr>
            <a:r>
              <a:rPr lang="en-US" altLang="en-US"/>
              <a:t>This model enhances mobile applications with real-time capabilities and enables network operators to offer services at the edge</a:t>
            </a:r>
            <a:endParaRPr lang="en-US" altLang="en-US"/>
          </a:p>
          <a:p>
            <a:pPr algn="just"/>
            <a:r>
              <a:rPr lang="en-US" altLang="en-US" sz="2000">
                <a:sym typeface="+mn-ea"/>
              </a:rPr>
              <a:t>Objective of MEC:</a:t>
            </a:r>
            <a:endParaRPr lang="en-US" altLang="en-US" sz="2000"/>
          </a:p>
          <a:p>
            <a:pPr marL="0" indent="0" algn="just">
              <a:buNone/>
            </a:pPr>
            <a:r>
              <a:rPr lang="en-US" altLang="en-US" sz="2000">
                <a:sym typeface="+mn-ea"/>
              </a:rPr>
              <a:t>Bring cloud services closer to mobile subscribers</a:t>
            </a:r>
            <a:endParaRPr lang="en-US" altLang="en-US" sz="2000"/>
          </a:p>
          <a:p>
            <a:pPr marL="0" indent="0" algn="just">
              <a:buNone/>
            </a:pPr>
            <a:r>
              <a:rPr lang="en-US" altLang="en-US" sz="2000">
                <a:sym typeface="+mn-ea"/>
              </a:rPr>
              <a:t>Reduce latency and improve service quality</a:t>
            </a:r>
            <a:endParaRPr lang="en-US" altLang="en-US" sz="2000"/>
          </a:p>
          <a:p>
            <a:pPr marL="0" indent="0" algn="just">
              <a:buNone/>
            </a:pPr>
            <a:r>
              <a:rPr lang="en-US" altLang="en-US" sz="2000">
                <a:sym typeface="+mn-ea"/>
              </a:rPr>
              <a:t>Similar goal to other edge computing paradigms</a:t>
            </a:r>
            <a:endParaRPr lang="en-US" altLang="en-US" sz="2000"/>
          </a:p>
          <a:p>
            <a:pPr algn="just"/>
            <a:endParaRPr lang="en-US" altLang="en-US" sz="20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1415415"/>
          </a:xfrm>
        </p:spPr>
        <p:txBody>
          <a:bodyPr/>
          <a:p>
            <a:r>
              <a:rPr>
                <a:latin typeface="+mn-ea"/>
                <a:ea typeface="Calibri" panose="020F0502020204030204"/>
                <a:cs typeface="+mn-ea"/>
                <a:sym typeface="+mn-ea"/>
              </a:rPr>
              <a:t>Edge Computing</a:t>
            </a:r>
            <a:r>
              <a:rPr lang="en-US">
                <a:latin typeface="+mn-ea"/>
                <a:ea typeface="Calibri" panose="020F0502020204030204"/>
                <a:cs typeface="+mn-ea"/>
                <a:sym typeface="+mn-ea"/>
              </a:rPr>
              <a:t>:</a:t>
            </a:r>
            <a:r>
              <a:rPr>
                <a:latin typeface="+mn-ea"/>
                <a:ea typeface="Calibri" panose="020F0502020204030204"/>
                <a:cs typeface="+mn-ea"/>
                <a:sym typeface="+mn-ea"/>
              </a:rPr>
              <a:t> Mobile Edge Computing (MEC)</a:t>
            </a:r>
            <a:endParaRPr lang="en-US"/>
          </a:p>
        </p:txBody>
      </p:sp>
      <p:sp>
        <p:nvSpPr>
          <p:cNvPr id="3" name="Content Placeholder 2"/>
          <p:cNvSpPr>
            <a:spLocks noGrp="1"/>
          </p:cNvSpPr>
          <p:nvPr>
            <p:ph idx="1"/>
          </p:nvPr>
        </p:nvSpPr>
        <p:spPr>
          <a:xfrm>
            <a:off x="327660" y="1946910"/>
            <a:ext cx="11085830" cy="4318635"/>
          </a:xfrm>
        </p:spPr>
        <p:txBody>
          <a:bodyPr wrap="square">
            <a:noAutofit/>
          </a:bodyPr>
          <a:p>
            <a:pPr marL="0" indent="0" algn="just">
              <a:buNone/>
            </a:pPr>
            <a:r>
              <a:rPr lang="en-US" altLang="en-US" b="1"/>
              <a:t>“Mobile Edge Computing”</a:t>
            </a:r>
            <a:r>
              <a:rPr lang="en-US" altLang="en-US"/>
              <a:t> and “Mobile Edge Cloud Computing” are used interchangeably Both refer to cloud capabilities at the edge of radio </a:t>
            </a:r>
            <a:r>
              <a:rPr lang="en-US" altLang="en-US">
                <a:latin typeface="Cambria" panose="02040503050406030204" charset="0"/>
                <a:cs typeface="Cambria" panose="02040503050406030204" charset="0"/>
              </a:rPr>
              <a:t>access </a:t>
            </a:r>
            <a:r>
              <a:rPr lang="en-US" altLang="en-US"/>
              <a:t>networks</a:t>
            </a:r>
            <a:endParaRPr lang="en-US" altLang="en-US"/>
          </a:p>
          <a:p>
            <a:pPr marL="0" indent="0" algn="just">
              <a:buNone/>
            </a:pPr>
            <a:r>
              <a:rPr lang="en-US" altLang="en-US" b="1">
                <a:sym typeface="+mn-ea"/>
              </a:rPr>
              <a:t>Core MEC Concept:</a:t>
            </a:r>
            <a:endParaRPr lang="en-US" altLang="en-US" b="1"/>
          </a:p>
          <a:p>
            <a:pPr marL="0" indent="0" algn="just">
              <a:buNone/>
            </a:pPr>
            <a:r>
              <a:rPr lang="en-US" altLang="en-US">
                <a:sym typeface="+mn-ea"/>
              </a:rPr>
              <a:t>Reuse existing mobile edge equipment (base stations, access points)</a:t>
            </a:r>
            <a:endParaRPr lang="en-US" altLang="en-US"/>
          </a:p>
          <a:p>
            <a:pPr marL="0" indent="0" algn="just">
              <a:buNone/>
            </a:pPr>
            <a:r>
              <a:rPr lang="en-US" altLang="en-US">
                <a:sym typeface="+mn-ea"/>
              </a:rPr>
              <a:t>Equipment performs routing, storage, and data processing</a:t>
            </a:r>
            <a:endParaRPr lang="en-US" altLang="en-US">
              <a:sym typeface="+mn-ea"/>
            </a:endParaRPr>
          </a:p>
          <a:p>
            <a:pPr marL="0" indent="0" algn="just">
              <a:buNone/>
            </a:pPr>
            <a:r>
              <a:rPr lang="en-US" altLang="en-US" b="1">
                <a:sym typeface="+mn-ea"/>
              </a:rPr>
              <a:t> MEC Components:</a:t>
            </a:r>
            <a:endParaRPr lang="en-US" altLang="en-US" b="1"/>
          </a:p>
          <a:p>
            <a:pPr marL="0" indent="0" algn="just">
              <a:buNone/>
            </a:pPr>
            <a:r>
              <a:rPr lang="en-US" altLang="en-US">
                <a:sym typeface="+mn-ea"/>
              </a:rPr>
              <a:t>Mobile users</a:t>
            </a:r>
            <a:endParaRPr lang="en-US" altLang="en-US"/>
          </a:p>
          <a:p>
            <a:pPr marL="0" indent="0" algn="just">
              <a:buNone/>
            </a:pPr>
            <a:r>
              <a:rPr lang="en-US" altLang="en-US">
                <a:sym typeface="+mn-ea"/>
              </a:rPr>
              <a:t>Base stations / access points</a:t>
            </a:r>
            <a:endParaRPr lang="en-US" altLang="en-US"/>
          </a:p>
          <a:p>
            <a:pPr marL="0" indent="0" algn="just">
              <a:buNone/>
            </a:pPr>
            <a:r>
              <a:rPr lang="en-US" altLang="en-US">
                <a:sym typeface="+mn-ea"/>
              </a:rPr>
              <a:t>MEC servers</a:t>
            </a:r>
            <a:endParaRPr lang="en-US" altLang="en-US"/>
          </a:p>
          <a:p>
            <a:pPr marL="0" indent="0" algn="just">
              <a:buNone/>
            </a:pPr>
            <a:r>
              <a:rPr lang="en-US" altLang="en-US">
                <a:sym typeface="+mn-ea"/>
              </a:rPr>
              <a:t>Network operator–owned infrastructure</a:t>
            </a:r>
            <a:endParaRPr lang="en-US" altLang="en-US"/>
          </a:p>
          <a:p>
            <a:pPr marL="0" indent="0">
              <a:buNone/>
            </a:pPr>
            <a:endParaRPr lang="en-US" altLang="en-US" sz="2000"/>
          </a:p>
          <a:p>
            <a:pPr marL="0" indent="0">
              <a:buNone/>
            </a:pPr>
            <a:r>
              <a:rPr lang="en-US" altLang="en-US" sz="1200"/>
              <a:t>	</a:t>
            </a:r>
            <a:endParaRPr lang="en-US" altLang="en-US" sz="1200"/>
          </a:p>
          <a:p>
            <a:pPr marL="0" indent="0">
              <a:buNone/>
            </a:pPr>
            <a:endParaRPr lang="en-US" altLang="en-US" sz="1200"/>
          </a:p>
          <a:p>
            <a:pPr marL="0" indent="0">
              <a:buNone/>
            </a:pPr>
            <a:endParaRPr lang="en-US" altLang="en-US" sz="12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1415415"/>
          </a:xfrm>
        </p:spPr>
        <p:txBody>
          <a:bodyPr/>
          <a:p>
            <a:r>
              <a:rPr>
                <a:latin typeface="+mn-ea"/>
                <a:ea typeface="Calibri" panose="020F0502020204030204"/>
                <a:cs typeface="+mn-ea"/>
                <a:sym typeface="+mn-ea"/>
              </a:rPr>
              <a:t>Edge Computing</a:t>
            </a:r>
            <a:r>
              <a:rPr lang="en-US">
                <a:latin typeface="+mn-ea"/>
                <a:ea typeface="Calibri" panose="020F0502020204030204"/>
                <a:cs typeface="+mn-ea"/>
                <a:sym typeface="+mn-ea"/>
              </a:rPr>
              <a:t>:</a:t>
            </a:r>
            <a:r>
              <a:rPr>
                <a:latin typeface="+mn-ea"/>
                <a:ea typeface="Calibri" panose="020F0502020204030204"/>
                <a:cs typeface="+mn-ea"/>
                <a:sym typeface="+mn-ea"/>
              </a:rPr>
              <a:t> Mobile Edge Computing (MEC)</a:t>
            </a:r>
            <a:endParaRPr lang="en-US"/>
          </a:p>
        </p:txBody>
      </p:sp>
      <p:sp>
        <p:nvSpPr>
          <p:cNvPr id="3" name="Content Placeholder 2"/>
          <p:cNvSpPr>
            <a:spLocks noGrp="1"/>
          </p:cNvSpPr>
          <p:nvPr>
            <p:ph idx="1"/>
          </p:nvPr>
        </p:nvSpPr>
        <p:spPr>
          <a:xfrm>
            <a:off x="0" y="1905000"/>
            <a:ext cx="12192000" cy="4308475"/>
          </a:xfrm>
        </p:spPr>
        <p:txBody>
          <a:bodyPr wrap="square"/>
          <a:p>
            <a:pPr marL="0" indent="0">
              <a:buNone/>
            </a:pPr>
            <a:r>
              <a:rPr lang="en-US" altLang="en-US" sz="2800">
                <a:sym typeface="+mn-ea"/>
              </a:rPr>
              <a:t>Role of Application Service Providers</a:t>
            </a:r>
            <a:r>
              <a:rPr lang="en-US" altLang="en-US" sz="2800" b="0">
                <a:sym typeface="+mn-ea"/>
              </a:rPr>
              <a:t>:</a:t>
            </a:r>
            <a:endParaRPr lang="en-US" altLang="en-US" sz="2800" b="0"/>
          </a:p>
          <a:p>
            <a:r>
              <a:rPr lang="en-US" altLang="en-US" sz="2800" b="0">
                <a:sym typeface="+mn-ea"/>
              </a:rPr>
              <a:t>Applications hosted in data centers or CDNs</a:t>
            </a:r>
            <a:endParaRPr lang="en-US" altLang="en-US" sz="2800" b="0"/>
          </a:p>
          <a:p>
            <a:r>
              <a:rPr lang="en-US" altLang="en-US" sz="2800" b="0">
                <a:sym typeface="+mn-ea"/>
              </a:rPr>
              <a:t>Connected via ISPs</a:t>
            </a:r>
            <a:endParaRPr lang="en-US" altLang="en-US" sz="2800" b="0"/>
          </a:p>
          <a:p>
            <a:r>
              <a:rPr lang="en-US" altLang="en-US" sz="2800" b="0">
                <a:sym typeface="+mn-ea"/>
              </a:rPr>
              <a:t>Enables faster, scalable, and reliable mobile services</a:t>
            </a:r>
            <a:endParaRPr lang="en-US" altLang="en-US" sz="2800" b="0"/>
          </a:p>
          <a:p>
            <a:pPr marL="0" indent="0">
              <a:buNone/>
            </a:pPr>
            <a:endParaRPr lang="en-US" altLang="en-US" sz="2800" b="0">
              <a:sym typeface="+mn-ea"/>
            </a:endParaRPr>
          </a:p>
          <a:p>
            <a:pPr marL="0" indent="0">
              <a:buNone/>
            </a:pPr>
            <a:r>
              <a:rPr lang="en-US" altLang="en-US" sz="2800">
                <a:sym typeface="+mn-ea"/>
              </a:rPr>
              <a:t>Benefits of MEC Architecture:</a:t>
            </a:r>
            <a:endParaRPr lang="en-US" altLang="en-US" sz="2800"/>
          </a:p>
          <a:p>
            <a:r>
              <a:rPr lang="en-US" altLang="en-US" sz="2800" b="0">
                <a:sym typeface="+mn-ea"/>
              </a:rPr>
              <a:t>Faster service deployment</a:t>
            </a:r>
            <a:endParaRPr lang="en-US" altLang="en-US" sz="2800" b="0"/>
          </a:p>
          <a:p>
            <a:r>
              <a:rPr lang="en-US" altLang="en-US" sz="2800" b="0">
                <a:sym typeface="+mn-ea"/>
              </a:rPr>
              <a:t>Improved reliability and scalability</a:t>
            </a:r>
            <a:endParaRPr lang="en-US" altLang="en-US" sz="2800" b="0"/>
          </a:p>
          <a:p>
            <a:r>
              <a:rPr lang="en-US" altLang="en-US" sz="2800" b="0">
                <a:sym typeface="+mn-ea"/>
              </a:rPr>
              <a:t>Reduced sensitivity to latency variations</a:t>
            </a:r>
            <a:endParaRPr lang="en-US" altLang="en-US" sz="2800" b="0">
              <a:sym typeface="+mn-ea"/>
            </a:endParaRPr>
          </a:p>
          <a:p>
            <a:endParaRPr lang="en-US" sz="2800" b="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1415415"/>
          </a:xfrm>
        </p:spPr>
        <p:txBody>
          <a:bodyPr/>
          <a:p>
            <a:r>
              <a:rPr>
                <a:latin typeface="+mn-ea"/>
                <a:ea typeface="Calibri" panose="020F0502020204030204"/>
                <a:cs typeface="+mn-ea"/>
                <a:sym typeface="+mn-ea"/>
              </a:rPr>
              <a:t>Edge Computing</a:t>
            </a:r>
            <a:r>
              <a:rPr lang="en-US">
                <a:latin typeface="+mn-ea"/>
                <a:ea typeface="Calibri" panose="020F0502020204030204"/>
                <a:cs typeface="+mn-ea"/>
                <a:sym typeface="+mn-ea"/>
              </a:rPr>
              <a:t>:</a:t>
            </a:r>
            <a:r>
              <a:rPr>
                <a:latin typeface="+mn-ea"/>
                <a:ea typeface="Calibri" panose="020F0502020204030204"/>
                <a:cs typeface="+mn-ea"/>
                <a:sym typeface="+mn-ea"/>
              </a:rPr>
              <a:t> Mobile Edge Computing (MEC)</a:t>
            </a:r>
            <a:endParaRPr lang="en-US"/>
          </a:p>
        </p:txBody>
      </p:sp>
      <p:sp>
        <p:nvSpPr>
          <p:cNvPr id="3" name="Content Placeholder 2"/>
          <p:cNvSpPr>
            <a:spLocks noGrp="1"/>
          </p:cNvSpPr>
          <p:nvPr>
            <p:ph idx="1"/>
          </p:nvPr>
        </p:nvSpPr>
        <p:spPr>
          <a:xfrm>
            <a:off x="75565" y="4343400"/>
            <a:ext cx="12032615" cy="2025650"/>
          </a:xfrm>
        </p:spPr>
        <p:txBody>
          <a:bodyPr wrap="square">
            <a:noAutofit/>
          </a:bodyPr>
          <a:p>
            <a:endParaRPr lang="en-US" altLang="en-US" sz="1400"/>
          </a:p>
          <a:p>
            <a:endParaRPr lang="en-US" sz="1400"/>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sp>
        <p:nvSpPr>
          <p:cNvPr id="4" name="Text Box 3"/>
          <p:cNvSpPr txBox="1"/>
          <p:nvPr/>
        </p:nvSpPr>
        <p:spPr>
          <a:xfrm>
            <a:off x="76200" y="1905000"/>
            <a:ext cx="11063605" cy="2306955"/>
          </a:xfrm>
          <a:prstGeom prst="rect">
            <a:avLst/>
          </a:prstGeom>
          <a:noFill/>
        </p:spPr>
        <p:txBody>
          <a:bodyPr wrap="square" rtlCol="0" anchor="t">
            <a:spAutoFit/>
          </a:bodyPr>
          <a:p>
            <a:pPr marL="0" indent="0">
              <a:buNone/>
            </a:pPr>
            <a:r>
              <a:rPr lang="en-US" altLang="en-US" sz="2400" b="1">
                <a:sym typeface="+mn-ea"/>
              </a:rPr>
              <a:t>Examples:</a:t>
            </a:r>
            <a:endParaRPr lang="en-US" altLang="en-US" sz="2400" b="1"/>
          </a:p>
          <a:p>
            <a:pPr marL="0" indent="0">
              <a:buNone/>
            </a:pPr>
            <a:r>
              <a:rPr lang="en-US" altLang="en-US" sz="2400">
                <a:sym typeface="+mn-ea"/>
              </a:rPr>
              <a:t>	Low-latency MEC for connected vehicles</a:t>
            </a:r>
            <a:endParaRPr lang="en-US" altLang="en-US" sz="2400"/>
          </a:p>
          <a:p>
            <a:pPr marL="0" indent="0">
              <a:buNone/>
            </a:pPr>
            <a:r>
              <a:rPr lang="en-US" altLang="en-US" sz="2400">
                <a:sym typeface="+mn-ea"/>
              </a:rPr>
              <a:t>	Video analytics</a:t>
            </a:r>
            <a:endParaRPr lang="en-US" altLang="en-US" sz="2400"/>
          </a:p>
          <a:p>
            <a:pPr marL="0" indent="0">
              <a:buNone/>
            </a:pPr>
            <a:r>
              <a:rPr lang="en-US" altLang="en-US" sz="2400">
                <a:sym typeface="+mn-ea"/>
              </a:rPr>
              <a:t>	E-commerce transaction management</a:t>
            </a:r>
            <a:endParaRPr lang="en-US" altLang="en-US" sz="2400"/>
          </a:p>
          <a:p>
            <a:pPr marL="0" indent="0">
              <a:buNone/>
            </a:pPr>
            <a:r>
              <a:rPr lang="en-US" altLang="en-US" sz="2400">
                <a:sym typeface="+mn-ea"/>
              </a:rPr>
              <a:t>	Road safety and traffic control</a:t>
            </a:r>
            <a:endParaRPr lang="en-US" altLang="en-US" sz="2400"/>
          </a:p>
          <a:p>
            <a:pPr marL="0" indent="0">
              <a:buNone/>
            </a:pPr>
            <a:r>
              <a:rPr lang="en-US" altLang="en-US" sz="2400">
                <a:sym typeface="+mn-ea"/>
              </a:rPr>
              <a:t>	High-traffic area customer experience enhancemen</a:t>
            </a:r>
            <a:endParaRPr lang="en-US" altLang="en-US" sz="2400">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ltLang="en-US" b="1">
                <a:latin typeface="Cambria" panose="02040503050406030204" charset="0"/>
                <a:cs typeface="Cambria" panose="02040503050406030204" charset="0"/>
                <a:sym typeface="+mn-ea"/>
              </a:rPr>
              <a:t>Evolution of MEC:</a:t>
            </a:r>
            <a:endParaRPr lang="en-US" b="1">
              <a:latin typeface="Cambria" panose="02040503050406030204" charset="0"/>
              <a:cs typeface="Cambria" panose="02040503050406030204" charset="0"/>
            </a:endParaRPr>
          </a:p>
        </p:txBody>
      </p:sp>
      <p:sp>
        <p:nvSpPr>
          <p:cNvPr id="3" name="Text Placeholder 2"/>
          <p:cNvSpPr>
            <a:spLocks noGrp="1"/>
          </p:cNvSpPr>
          <p:nvPr>
            <p:ph type="body" idx="1"/>
          </p:nvPr>
        </p:nvSpPr>
        <p:spPr>
          <a:xfrm>
            <a:off x="327761" y="2023237"/>
            <a:ext cx="10824845" cy="2954655"/>
          </a:xfrm>
        </p:spPr>
        <p:txBody>
          <a:bodyPr/>
          <a:p>
            <a:r>
              <a:rPr lang="en-US" altLang="en-US" b="0">
                <a:sym typeface="+mn-ea"/>
              </a:rPr>
              <a:t>Integration with Network Functions Virtualization (NFV)</a:t>
            </a:r>
            <a:endParaRPr lang="en-US" altLang="en-US" b="0">
              <a:sym typeface="+mn-ea"/>
            </a:endParaRPr>
          </a:p>
          <a:p>
            <a:endParaRPr lang="en-US" altLang="en-US" b="0"/>
          </a:p>
          <a:p>
            <a:r>
              <a:rPr lang="en-US" altLang="en-US" b="0">
                <a:sym typeface="+mn-ea"/>
              </a:rPr>
              <a:t>Deployment beyond base stations to cost-effective IP network locations</a:t>
            </a:r>
            <a:endParaRPr lang="en-US" altLang="en-US" b="0">
              <a:sym typeface="+mn-ea"/>
            </a:endParaRPr>
          </a:p>
          <a:p>
            <a:endParaRPr lang="en-US" altLang="en-US" b="0"/>
          </a:p>
          <a:p>
            <a:r>
              <a:rPr lang="en-US" altLang="en-US" b="0">
                <a:sym typeface="+mn-ea"/>
              </a:rPr>
              <a:t>Increasing integration with IoT scenarios</a:t>
            </a:r>
            <a:endParaRPr lang="en-US" altLang="en-US" b="0">
              <a:sym typeface="+mn-ea"/>
            </a:endParaRPr>
          </a:p>
          <a:p>
            <a:endParaRPr lang="en-US" altLang="en-US" b="0"/>
          </a:p>
          <a:p>
            <a:r>
              <a:rPr lang="en-US" altLang="en-US" b="0">
                <a:sym typeface="+mn-ea"/>
              </a:rPr>
              <a:t> Initial MEC concepts included machine-to-machine (M2M) communicatio</a:t>
            </a:r>
            <a:endParaRPr lang="en-US" altLang="en-US" b="0">
              <a:sym typeface="+mn-ea"/>
            </a:endParaRPr>
          </a:p>
          <a:p>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193291" y="1897379"/>
            <a:ext cx="9966960" cy="0"/>
          </a:xfrm>
          <a:custGeom>
            <a:avLst/>
            <a:gdLst/>
            <a:ahLst/>
            <a:cxnLst/>
            <a:rect l="l" t="t" r="r" b="b"/>
            <a:pathLst>
              <a:path w="9966960">
                <a:moveTo>
                  <a:pt x="0" y="0"/>
                </a:moveTo>
                <a:lnTo>
                  <a:pt x="9966960" y="0"/>
                </a:lnTo>
              </a:path>
            </a:pathLst>
          </a:custGeom>
          <a:ln w="12700">
            <a:solidFill>
              <a:srgbClr val="404040"/>
            </a:solidFill>
          </a:ln>
        </p:spPr>
        <p:txBody>
          <a:bodyPr wrap="square" lIns="0" tIns="0" rIns="0" bIns="0" rtlCol="0"/>
          <a:lstStyle/>
          <a:p/>
        </p:txBody>
      </p:sp>
      <p:sp>
        <p:nvSpPr>
          <p:cNvPr id="3" name="object 3"/>
          <p:cNvSpPr txBox="1">
            <a:spLocks noGrp="1"/>
          </p:cNvSpPr>
          <p:nvPr>
            <p:ph type="title"/>
          </p:nvPr>
        </p:nvSpPr>
        <p:spPr>
          <a:xfrm>
            <a:off x="263525" y="393700"/>
            <a:ext cx="11038205" cy="1280795"/>
          </a:xfrm>
          <a:prstGeom prst="rect">
            <a:avLst/>
          </a:prstGeom>
        </p:spPr>
        <p:txBody>
          <a:bodyPr vert="horz" wrap="square" lIns="0" tIns="604012" rIns="0" bIns="0" rtlCol="0">
            <a:spAutoFit/>
          </a:bodyPr>
          <a:lstStyle/>
          <a:p>
            <a:pPr marL="610235">
              <a:lnSpc>
                <a:spcPct val="100000"/>
              </a:lnSpc>
              <a:spcBef>
                <a:spcPts val="100"/>
              </a:spcBef>
            </a:pPr>
            <a:r>
              <a:rPr sz="4400" b="1" dirty="0">
                <a:latin typeface="Arial" panose="020B0604020202020204"/>
                <a:cs typeface="Arial" panose="020B0604020202020204"/>
                <a:sym typeface="+mn-ea"/>
              </a:rPr>
              <a:t>Mobile</a:t>
            </a:r>
            <a:r>
              <a:rPr sz="4400" b="1" spc="-35" dirty="0">
                <a:latin typeface="Arial" panose="020B0604020202020204"/>
                <a:cs typeface="Arial" panose="020B0604020202020204"/>
                <a:sym typeface="+mn-ea"/>
              </a:rPr>
              <a:t> </a:t>
            </a:r>
            <a:r>
              <a:rPr sz="4400" b="1" dirty="0">
                <a:latin typeface="Arial" panose="020B0604020202020204"/>
                <a:cs typeface="Arial" panose="020B0604020202020204"/>
                <a:sym typeface="+mn-ea"/>
              </a:rPr>
              <a:t>Edge</a:t>
            </a:r>
            <a:r>
              <a:rPr sz="4400" b="1" spc="-20" dirty="0">
                <a:latin typeface="Arial" panose="020B0604020202020204"/>
                <a:cs typeface="Arial" panose="020B0604020202020204"/>
                <a:sym typeface="+mn-ea"/>
              </a:rPr>
              <a:t> </a:t>
            </a:r>
            <a:r>
              <a:rPr sz="4400" b="1" dirty="0">
                <a:latin typeface="Arial" panose="020B0604020202020204"/>
                <a:cs typeface="Arial" panose="020B0604020202020204"/>
                <a:sym typeface="+mn-ea"/>
              </a:rPr>
              <a:t>Computing</a:t>
            </a:r>
            <a:r>
              <a:rPr sz="4400" b="1" spc="-5" dirty="0">
                <a:latin typeface="Arial" panose="020B0604020202020204"/>
                <a:cs typeface="Arial" panose="020B0604020202020204"/>
                <a:sym typeface="+mn-ea"/>
              </a:rPr>
              <a:t> </a:t>
            </a:r>
            <a:r>
              <a:rPr sz="4400" b="1" dirty="0">
                <a:latin typeface="Arial" panose="020B0604020202020204"/>
                <a:cs typeface="Arial" panose="020B0604020202020204"/>
                <a:sym typeface="+mn-ea"/>
              </a:rPr>
              <a:t>(MEC)</a:t>
            </a:r>
            <a:r>
              <a:rPr sz="4400" b="1" spc="-25" dirty="0">
                <a:latin typeface="Arial" panose="020B0604020202020204"/>
                <a:cs typeface="Arial" panose="020B0604020202020204"/>
                <a:sym typeface="+mn-ea"/>
              </a:rPr>
              <a:t> </a:t>
            </a:r>
            <a:r>
              <a:rPr sz="4400" b="1" spc="-10" dirty="0">
                <a:latin typeface="Arial" panose="020B0604020202020204"/>
                <a:cs typeface="Arial" panose="020B0604020202020204"/>
                <a:sym typeface="+mn-ea"/>
              </a:rPr>
              <a:t>Model:</a:t>
            </a:r>
            <a:endParaRPr sz="4400"/>
          </a:p>
        </p:txBody>
      </p:sp>
      <p:sp>
        <p:nvSpPr>
          <p:cNvPr id="4" name="object 4"/>
          <p:cNvSpPr txBox="1"/>
          <p:nvPr/>
        </p:nvSpPr>
        <p:spPr>
          <a:xfrm>
            <a:off x="168046" y="2895549"/>
            <a:ext cx="6568440" cy="636905"/>
          </a:xfrm>
          <a:prstGeom prst="rect">
            <a:avLst/>
          </a:prstGeom>
        </p:spPr>
        <p:txBody>
          <a:bodyPr vert="horz" wrap="square" lIns="0" tIns="12700" rIns="0" bIns="0" rtlCol="0">
            <a:spAutoFit/>
          </a:bodyPr>
          <a:lstStyle/>
          <a:p>
            <a:pPr marL="277495" marR="5080" indent="-265430">
              <a:lnSpc>
                <a:spcPct val="107000"/>
              </a:lnSpc>
              <a:spcBef>
                <a:spcPts val="2100"/>
              </a:spcBef>
              <a:buClr>
                <a:srgbClr val="E88A33"/>
              </a:buClr>
              <a:buFont typeface="Wingdings" panose="05000000000000000000"/>
              <a:buChar char=""/>
              <a:tabLst>
                <a:tab pos="277495" algn="l"/>
                <a:tab pos="977265" algn="l"/>
                <a:tab pos="1303655" algn="l"/>
                <a:tab pos="1577975" algn="l"/>
                <a:tab pos="2527300" algn="l"/>
                <a:tab pos="3027045" algn="l"/>
                <a:tab pos="4470400" algn="l"/>
                <a:tab pos="5302885" algn="l"/>
                <a:tab pos="6284595" algn="l"/>
              </a:tabLst>
            </a:pPr>
            <a:r>
              <a:rPr sz="1900" spc="-25" dirty="0">
                <a:solidFill>
                  <a:srgbClr val="6F2F9F"/>
                </a:solidFill>
                <a:latin typeface="Palatino Linotype" panose="02040502050505030304"/>
                <a:cs typeface="Palatino Linotype" panose="02040502050505030304"/>
              </a:rPr>
              <a:t>MEC</a:t>
            </a:r>
            <a:r>
              <a:rPr sz="190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is</a:t>
            </a:r>
            <a:r>
              <a:rPr sz="1900" dirty="0">
                <a:solidFill>
                  <a:srgbClr val="6F2F9F"/>
                </a:solidFill>
                <a:latin typeface="Palatino Linotype" panose="02040502050505030304"/>
                <a:cs typeface="Palatino Linotype" panose="02040502050505030304"/>
              </a:rPr>
              <a:t>	</a:t>
            </a:r>
            <a:r>
              <a:rPr sz="1900" spc="-50" dirty="0">
                <a:solidFill>
                  <a:srgbClr val="6F2F9F"/>
                </a:solidFill>
                <a:latin typeface="Palatino Linotype" panose="02040502050505030304"/>
                <a:cs typeface="Palatino Linotype" panose="02040502050505030304"/>
              </a:rPr>
              <a:t>a</a:t>
            </a:r>
            <a:r>
              <a:rPr sz="1900" dirty="0">
                <a:solidFill>
                  <a:srgbClr val="6F2F9F"/>
                </a:solidFill>
                <a:latin typeface="Palatino Linotype" panose="02040502050505030304"/>
                <a:cs typeface="Palatino Linotype" panose="02040502050505030304"/>
              </a:rPr>
              <a:t>	</a:t>
            </a:r>
            <a:r>
              <a:rPr sz="1900" spc="-10" dirty="0">
                <a:solidFill>
                  <a:srgbClr val="6F2F9F"/>
                </a:solidFill>
                <a:latin typeface="Palatino Linotype" panose="02040502050505030304"/>
                <a:cs typeface="Palatino Linotype" panose="02040502050505030304"/>
              </a:rPr>
              <a:t>specific</a:t>
            </a:r>
            <a:r>
              <a:rPr sz="1900" dirty="0">
                <a:solidFill>
                  <a:srgbClr val="6F2F9F"/>
                </a:solidFill>
                <a:latin typeface="Palatino Linotype" panose="02040502050505030304"/>
                <a:cs typeface="Palatino Linotype" panose="02040502050505030304"/>
              </a:rPr>
              <a:t>	</a:t>
            </a:r>
            <a:r>
              <a:rPr lang="en-US" altLang="" sz="1900" dirty="0">
                <a:solidFill>
                  <a:srgbClr val="6F2F9F"/>
                </a:solidFill>
                <a:latin typeface="Palatino Linotype" panose="02040502050505030304"/>
                <a:cs typeface="Palatino Linotype" panose="02040502050505030304"/>
              </a:rPr>
              <a:t>edge </a:t>
            </a:r>
            <a:r>
              <a:rPr sz="1900" spc="-10" dirty="0">
                <a:solidFill>
                  <a:srgbClr val="6F2F9F"/>
                </a:solidFill>
                <a:latin typeface="Palatino Linotype" panose="02040502050505030304"/>
                <a:cs typeface="Palatino Linotype" panose="02040502050505030304"/>
              </a:rPr>
              <a:t>deployment</a:t>
            </a:r>
            <a:r>
              <a:rPr sz="1900" dirty="0">
                <a:solidFill>
                  <a:srgbClr val="6F2F9F"/>
                </a:solidFill>
                <a:latin typeface="Palatino Linotype" panose="02040502050505030304"/>
                <a:cs typeface="Palatino Linotype" panose="02040502050505030304"/>
              </a:rPr>
              <a:t>	</a:t>
            </a:r>
            <a:r>
              <a:rPr sz="1900" spc="-10" dirty="0">
                <a:solidFill>
                  <a:srgbClr val="6F2F9F"/>
                </a:solidFill>
                <a:latin typeface="Palatino Linotype" panose="02040502050505030304"/>
                <a:cs typeface="Palatino Linotype" panose="02040502050505030304"/>
              </a:rPr>
              <a:t>model</a:t>
            </a:r>
            <a:r>
              <a:rPr sz="1900" dirty="0">
                <a:solidFill>
                  <a:srgbClr val="6F2F9F"/>
                </a:solidFill>
                <a:latin typeface="Palatino Linotype" panose="02040502050505030304"/>
                <a:cs typeface="Palatino Linotype" panose="02040502050505030304"/>
              </a:rPr>
              <a:t>	</a:t>
            </a:r>
            <a:r>
              <a:rPr sz="1900" spc="-10" dirty="0">
                <a:solidFill>
                  <a:srgbClr val="6F2F9F"/>
                </a:solidFill>
                <a:latin typeface="Palatino Linotype" panose="02040502050505030304"/>
                <a:cs typeface="Palatino Linotype" panose="02040502050505030304"/>
              </a:rPr>
              <a:t>focused</a:t>
            </a:r>
            <a:r>
              <a:rPr sz="190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on</a:t>
            </a:r>
            <a:r>
              <a:rPr lang="en-US" altLang="en-US" sz="1900" spc="-25" dirty="0">
                <a:solidFill>
                  <a:srgbClr val="6F2F9F"/>
                </a:solidFill>
                <a:latin typeface="Palatino Linotype" panose="02040502050505030304"/>
                <a:cs typeface="Palatino Linotype" panose="02040502050505030304"/>
              </a:rPr>
              <a:t> </a:t>
            </a:r>
            <a:r>
              <a:rPr sz="1900" spc="-10" dirty="0">
                <a:solidFill>
                  <a:srgbClr val="FF0000"/>
                </a:solidFill>
                <a:latin typeface="Palatino Linotype" panose="02040502050505030304"/>
                <a:cs typeface="Palatino Linotype" panose="02040502050505030304"/>
                <a:sym typeface="+mn-ea"/>
              </a:rPr>
              <a:t>mobile</a:t>
            </a:r>
            <a:r>
              <a:rPr lang="en-US" altLang="en-US" sz="1900" spc="-10" dirty="0">
                <a:solidFill>
                  <a:srgbClr val="FF0000"/>
                </a:solidFill>
                <a:latin typeface="Palatino Linotype" panose="02040502050505030304"/>
                <a:cs typeface="Palatino Linotype" panose="02040502050505030304"/>
                <a:sym typeface="+mn-ea"/>
              </a:rPr>
              <a:t> </a:t>
            </a:r>
            <a:r>
              <a:rPr sz="1900" spc="-25" dirty="0">
                <a:solidFill>
                  <a:srgbClr val="6F2F9F"/>
                </a:solidFill>
                <a:latin typeface="Palatino Linotype" panose="02040502050505030304"/>
                <a:cs typeface="Palatino Linotype" panose="02040502050505030304"/>
              </a:rPr>
              <a:t> </a:t>
            </a:r>
            <a:r>
              <a:rPr sz="1900" spc="-10" dirty="0">
                <a:solidFill>
                  <a:srgbClr val="FF0000"/>
                </a:solidFill>
                <a:latin typeface="Palatino Linotype" panose="02040502050505030304"/>
                <a:cs typeface="Palatino Linotype" panose="02040502050505030304"/>
              </a:rPr>
              <a:t>networks.</a:t>
            </a:r>
            <a:endParaRPr sz="1900" dirty="0">
              <a:latin typeface="Palatino Linotype" panose="02040502050505030304"/>
              <a:cs typeface="Palatino Linotype" panose="02040502050505030304"/>
            </a:endParaRPr>
          </a:p>
        </p:txBody>
      </p:sp>
      <p:sp>
        <p:nvSpPr>
          <p:cNvPr id="6" name="object 6"/>
          <p:cNvSpPr txBox="1"/>
          <p:nvPr/>
        </p:nvSpPr>
        <p:spPr>
          <a:xfrm>
            <a:off x="168046" y="3679420"/>
            <a:ext cx="7456805" cy="1830070"/>
          </a:xfrm>
          <a:prstGeom prst="rect">
            <a:avLst/>
          </a:prstGeom>
        </p:spPr>
        <p:txBody>
          <a:bodyPr vert="horz" wrap="square" lIns="0" tIns="33655" rIns="0" bIns="0" rtlCol="0">
            <a:spAutoFit/>
          </a:bodyPr>
          <a:lstStyle/>
          <a:p>
            <a:pPr marL="277495" indent="-264795">
              <a:lnSpc>
                <a:spcPct val="100000"/>
              </a:lnSpc>
              <a:spcBef>
                <a:spcPts val="265"/>
              </a:spcBef>
              <a:buClr>
                <a:srgbClr val="E88A33"/>
              </a:buClr>
              <a:buFont typeface="Wingdings" panose="05000000000000000000"/>
              <a:buChar char=""/>
              <a:tabLst>
                <a:tab pos="277495" algn="l"/>
                <a:tab pos="864235" algn="l"/>
                <a:tab pos="1687830" algn="l"/>
                <a:tab pos="2204085" algn="l"/>
                <a:tab pos="3398520" algn="l"/>
                <a:tab pos="3784600" algn="l"/>
                <a:tab pos="4305935" algn="l"/>
                <a:tab pos="5005705" algn="l"/>
                <a:tab pos="5403215" algn="l"/>
                <a:tab pos="6383655" algn="l"/>
              </a:tabLst>
            </a:pPr>
            <a:r>
              <a:rPr sz="1900" spc="-25" dirty="0">
                <a:solidFill>
                  <a:srgbClr val="6F2F9F"/>
                </a:solidFill>
                <a:latin typeface="Palatino Linotype" panose="02040502050505030304"/>
                <a:cs typeface="Palatino Linotype" panose="02040502050505030304"/>
              </a:rPr>
              <a:t>Fog</a:t>
            </a:r>
            <a:r>
              <a:rPr sz="1900" dirty="0">
                <a:solidFill>
                  <a:srgbClr val="6F2F9F"/>
                </a:solidFill>
                <a:latin typeface="Palatino Linotype" panose="02040502050505030304"/>
                <a:cs typeface="Palatino Linotype" panose="02040502050505030304"/>
              </a:rPr>
              <a:t>	</a:t>
            </a:r>
            <a:r>
              <a:rPr sz="1900" spc="-20" dirty="0">
                <a:solidFill>
                  <a:srgbClr val="6F2F9F"/>
                </a:solidFill>
                <a:latin typeface="Palatino Linotype" panose="02040502050505030304"/>
                <a:cs typeface="Palatino Linotype" panose="02040502050505030304"/>
              </a:rPr>
              <a:t>nodes</a:t>
            </a:r>
            <a:r>
              <a:rPr sz="190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are</a:t>
            </a:r>
            <a:r>
              <a:rPr sz="1900" dirty="0">
                <a:solidFill>
                  <a:srgbClr val="6F2F9F"/>
                </a:solidFill>
                <a:latin typeface="Palatino Linotype" panose="02040502050505030304"/>
                <a:cs typeface="Palatino Linotype" panose="02040502050505030304"/>
              </a:rPr>
              <a:t>	</a:t>
            </a:r>
            <a:r>
              <a:rPr sz="1900" spc="-10" dirty="0">
                <a:solidFill>
                  <a:srgbClr val="6F2F9F"/>
                </a:solidFill>
                <a:latin typeface="Palatino Linotype" panose="02040502050505030304"/>
                <a:cs typeface="Palatino Linotype" panose="02040502050505030304"/>
              </a:rPr>
              <a:t>deployed</a:t>
            </a:r>
            <a:r>
              <a:rPr sz="190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at</a:t>
            </a:r>
            <a:r>
              <a:rPr sz="190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the</a:t>
            </a:r>
            <a:r>
              <a:rPr sz="1900" dirty="0">
                <a:solidFill>
                  <a:srgbClr val="6F2F9F"/>
                </a:solidFill>
                <a:latin typeface="Palatino Linotype" panose="02040502050505030304"/>
                <a:cs typeface="Palatino Linotype" panose="02040502050505030304"/>
              </a:rPr>
              <a:t>	</a:t>
            </a:r>
            <a:r>
              <a:rPr sz="1900" spc="-20" dirty="0">
                <a:solidFill>
                  <a:srgbClr val="6F2F9F"/>
                </a:solidFill>
                <a:latin typeface="Palatino Linotype" panose="02040502050505030304"/>
                <a:cs typeface="Palatino Linotype" panose="02040502050505030304"/>
              </a:rPr>
              <a:t>edge</a:t>
            </a:r>
            <a:r>
              <a:rPr sz="190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of</a:t>
            </a:r>
            <a:r>
              <a:rPr sz="1900" dirty="0">
                <a:solidFill>
                  <a:srgbClr val="6F2F9F"/>
                </a:solidFill>
                <a:latin typeface="Palatino Linotype" panose="02040502050505030304"/>
                <a:cs typeface="Palatino Linotype" panose="02040502050505030304"/>
              </a:rPr>
              <a:t>	</a:t>
            </a:r>
            <a:r>
              <a:rPr sz="1900" spc="-10" dirty="0">
                <a:solidFill>
                  <a:srgbClr val="6F2F9F"/>
                </a:solidFill>
                <a:latin typeface="Palatino Linotype" panose="02040502050505030304"/>
                <a:cs typeface="Palatino Linotype" panose="02040502050505030304"/>
              </a:rPr>
              <a:t>cellular</a:t>
            </a:r>
            <a:r>
              <a:rPr sz="1900" dirty="0">
                <a:solidFill>
                  <a:srgbClr val="6F2F9F"/>
                </a:solidFill>
                <a:latin typeface="Palatino Linotype" panose="02040502050505030304"/>
                <a:cs typeface="Palatino Linotype" panose="02040502050505030304"/>
              </a:rPr>
              <a:t>	</a:t>
            </a:r>
            <a:r>
              <a:rPr sz="1900" spc="-10" dirty="0">
                <a:solidFill>
                  <a:srgbClr val="6F2F9F"/>
                </a:solidFill>
                <a:latin typeface="Palatino Linotype" panose="02040502050505030304"/>
                <a:cs typeface="Palatino Linotype" panose="02040502050505030304"/>
              </a:rPr>
              <a:t>networks,</a:t>
            </a:r>
            <a:endParaRPr sz="1900" dirty="0">
              <a:latin typeface="Palatino Linotype" panose="02040502050505030304"/>
              <a:cs typeface="Palatino Linotype" panose="02040502050505030304"/>
            </a:endParaRPr>
          </a:p>
          <a:p>
            <a:pPr marL="277495">
              <a:lnSpc>
                <a:spcPct val="100000"/>
              </a:lnSpc>
              <a:spcBef>
                <a:spcPts val="170"/>
              </a:spcBef>
            </a:pPr>
            <a:r>
              <a:rPr sz="1900" dirty="0">
                <a:solidFill>
                  <a:srgbClr val="FF0000"/>
                </a:solidFill>
                <a:latin typeface="Palatino Linotype" panose="02040502050505030304"/>
                <a:cs typeface="Palatino Linotype" panose="02040502050505030304"/>
              </a:rPr>
              <a:t>providing</a:t>
            </a:r>
            <a:r>
              <a:rPr sz="1900" spc="-35"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services</a:t>
            </a:r>
            <a:r>
              <a:rPr sz="1900" spc="-55"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to</a:t>
            </a:r>
            <a:r>
              <a:rPr sz="1900" spc="-40"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mobile</a:t>
            </a:r>
            <a:r>
              <a:rPr sz="1900" spc="-45"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users</a:t>
            </a:r>
            <a:r>
              <a:rPr sz="1900" spc="-35" dirty="0">
                <a:solidFill>
                  <a:srgbClr val="FF0000"/>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with</a:t>
            </a:r>
            <a:r>
              <a:rPr sz="1900" spc="-55" dirty="0">
                <a:solidFill>
                  <a:srgbClr val="6F2F9F"/>
                </a:solidFill>
                <a:latin typeface="Palatino Linotype" panose="02040502050505030304"/>
                <a:cs typeface="Palatino Linotype" panose="02040502050505030304"/>
              </a:rPr>
              <a:t> </a:t>
            </a:r>
            <a:r>
              <a:rPr sz="1900" dirty="0">
                <a:solidFill>
                  <a:srgbClr val="00AF50"/>
                </a:solidFill>
                <a:latin typeface="Palatino Linotype" panose="02040502050505030304"/>
                <a:cs typeface="Palatino Linotype" panose="02040502050505030304"/>
              </a:rPr>
              <a:t>reduced</a:t>
            </a:r>
            <a:r>
              <a:rPr sz="1900" spc="-30" dirty="0">
                <a:solidFill>
                  <a:srgbClr val="00AF50"/>
                </a:solidFill>
                <a:latin typeface="Palatino Linotype" panose="02040502050505030304"/>
                <a:cs typeface="Palatino Linotype" panose="02040502050505030304"/>
              </a:rPr>
              <a:t> </a:t>
            </a:r>
            <a:r>
              <a:rPr sz="1900" spc="-10" dirty="0">
                <a:solidFill>
                  <a:srgbClr val="00AF50"/>
                </a:solidFill>
                <a:latin typeface="Palatino Linotype" panose="02040502050505030304"/>
                <a:cs typeface="Palatino Linotype" panose="02040502050505030304"/>
              </a:rPr>
              <a:t>latency.</a:t>
            </a:r>
            <a:endParaRPr sz="1900" dirty="0">
              <a:latin typeface="Palatino Linotype" panose="02040502050505030304"/>
              <a:cs typeface="Palatino Linotype" panose="02040502050505030304"/>
            </a:endParaRPr>
          </a:p>
          <a:p>
            <a:pPr marL="277495" marR="5080" indent="-265430" algn="just">
              <a:lnSpc>
                <a:spcPct val="107000"/>
              </a:lnSpc>
              <a:spcBef>
                <a:spcPts val="2005"/>
              </a:spcBef>
              <a:buClr>
                <a:srgbClr val="E88A33"/>
              </a:buClr>
              <a:buFont typeface="Wingdings" panose="05000000000000000000"/>
              <a:buChar char=""/>
              <a:tabLst>
                <a:tab pos="277495" algn="l"/>
              </a:tabLst>
            </a:pPr>
            <a:r>
              <a:rPr sz="1900" dirty="0">
                <a:solidFill>
                  <a:srgbClr val="6F2F9F"/>
                </a:solidFill>
                <a:latin typeface="Palatino Linotype" panose="02040502050505030304"/>
                <a:cs typeface="Palatino Linotype" panose="02040502050505030304"/>
              </a:rPr>
              <a:t>This</a:t>
            </a:r>
            <a:r>
              <a:rPr sz="1900" spc="195"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model</a:t>
            </a:r>
            <a:r>
              <a:rPr sz="1900" spc="204"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enhances</a:t>
            </a:r>
            <a:r>
              <a:rPr sz="1900" spc="195"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mobile</a:t>
            </a:r>
            <a:r>
              <a:rPr sz="1900" spc="200"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applications</a:t>
            </a:r>
            <a:r>
              <a:rPr sz="1900" spc="204"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with</a:t>
            </a:r>
            <a:r>
              <a:rPr sz="1900" spc="200" dirty="0">
                <a:solidFill>
                  <a:srgbClr val="6F2F9F"/>
                </a:solidFill>
                <a:latin typeface="Palatino Linotype" panose="02040502050505030304"/>
                <a:cs typeface="Palatino Linotype" panose="02040502050505030304"/>
              </a:rPr>
              <a:t>   </a:t>
            </a:r>
            <a:r>
              <a:rPr sz="1900" spc="-10" dirty="0">
                <a:solidFill>
                  <a:srgbClr val="FF0000"/>
                </a:solidFill>
                <a:latin typeface="Palatino Linotype" panose="02040502050505030304"/>
                <a:cs typeface="Palatino Linotype" panose="02040502050505030304"/>
              </a:rPr>
              <a:t>real-</a:t>
            </a:r>
            <a:r>
              <a:rPr sz="1900" spc="-20" dirty="0">
                <a:solidFill>
                  <a:srgbClr val="FF0000"/>
                </a:solidFill>
                <a:latin typeface="Palatino Linotype" panose="02040502050505030304"/>
                <a:cs typeface="Palatino Linotype" panose="02040502050505030304"/>
              </a:rPr>
              <a:t>time </a:t>
            </a:r>
            <a:r>
              <a:rPr sz="1900" dirty="0">
                <a:solidFill>
                  <a:srgbClr val="FF0000"/>
                </a:solidFill>
                <a:latin typeface="Palatino Linotype" panose="02040502050505030304"/>
                <a:cs typeface="Palatino Linotype" panose="02040502050505030304"/>
              </a:rPr>
              <a:t>capabilities</a:t>
            </a:r>
            <a:r>
              <a:rPr sz="1900" spc="145"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and</a:t>
            </a:r>
            <a:r>
              <a:rPr sz="1900" spc="145"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enables</a:t>
            </a:r>
            <a:r>
              <a:rPr sz="1900" spc="140" dirty="0">
                <a:solidFill>
                  <a:srgbClr val="FF0000"/>
                </a:solidFill>
                <a:latin typeface="Palatino Linotype" panose="02040502050505030304"/>
                <a:cs typeface="Palatino Linotype" panose="02040502050505030304"/>
              </a:rPr>
              <a:t> </a:t>
            </a:r>
            <a:r>
              <a:rPr sz="1900" dirty="0">
                <a:solidFill>
                  <a:srgbClr val="FF0000"/>
                </a:solidFill>
                <a:latin typeface="Palatino Linotype" panose="02040502050505030304"/>
                <a:cs typeface="Palatino Linotype" panose="02040502050505030304"/>
              </a:rPr>
              <a:t>network</a:t>
            </a:r>
            <a:r>
              <a:rPr sz="1900" spc="145" dirty="0">
                <a:solidFill>
                  <a:srgbClr val="FF0000"/>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operators</a:t>
            </a:r>
            <a:r>
              <a:rPr sz="1900" spc="140"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to</a:t>
            </a:r>
            <a:r>
              <a:rPr sz="1900" spc="135"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offer</a:t>
            </a:r>
            <a:r>
              <a:rPr sz="1900" spc="140"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services</a:t>
            </a:r>
            <a:r>
              <a:rPr sz="1900" spc="140" dirty="0">
                <a:solidFill>
                  <a:srgbClr val="6F2F9F"/>
                </a:solidFill>
                <a:latin typeface="Palatino Linotype" panose="02040502050505030304"/>
                <a:cs typeface="Palatino Linotype" panose="02040502050505030304"/>
              </a:rPr>
              <a:t> </a:t>
            </a:r>
            <a:r>
              <a:rPr sz="1900" dirty="0">
                <a:solidFill>
                  <a:srgbClr val="6F2F9F"/>
                </a:solidFill>
                <a:latin typeface="Palatino Linotype" panose="02040502050505030304"/>
                <a:cs typeface="Palatino Linotype" panose="02040502050505030304"/>
              </a:rPr>
              <a:t>at</a:t>
            </a:r>
            <a:r>
              <a:rPr sz="1900" spc="140" dirty="0">
                <a:solidFill>
                  <a:srgbClr val="6F2F9F"/>
                </a:solidFill>
                <a:latin typeface="Palatino Linotype" panose="02040502050505030304"/>
                <a:cs typeface="Palatino Linotype" panose="02040502050505030304"/>
              </a:rPr>
              <a:t> </a:t>
            </a:r>
            <a:r>
              <a:rPr sz="1900" spc="-25" dirty="0">
                <a:solidFill>
                  <a:srgbClr val="6F2F9F"/>
                </a:solidFill>
                <a:latin typeface="Palatino Linotype" panose="02040502050505030304"/>
                <a:cs typeface="Palatino Linotype" panose="02040502050505030304"/>
              </a:rPr>
              <a:t>the </a:t>
            </a:r>
            <a:r>
              <a:rPr sz="1900" spc="-10" dirty="0">
                <a:solidFill>
                  <a:srgbClr val="6F2F9F"/>
                </a:solidFill>
                <a:latin typeface="Palatino Linotype" panose="02040502050505030304"/>
                <a:cs typeface="Palatino Linotype" panose="02040502050505030304"/>
              </a:rPr>
              <a:t>edge.</a:t>
            </a:r>
            <a:endParaRPr sz="1900" dirty="0">
              <a:latin typeface="Palatino Linotype" panose="02040502050505030304"/>
              <a:cs typeface="Palatino Linotype" panose="02040502050505030304"/>
            </a:endParaRPr>
          </a:p>
        </p:txBody>
      </p:sp>
      <p:pic>
        <p:nvPicPr>
          <p:cNvPr id="7" name="object 7"/>
          <p:cNvPicPr/>
          <p:nvPr/>
        </p:nvPicPr>
        <p:blipFill>
          <a:blip r:embed="rId1" cstate="print"/>
          <a:stretch>
            <a:fillRect/>
          </a:stretch>
        </p:blipFill>
        <p:spPr>
          <a:xfrm>
            <a:off x="8363392" y="2877668"/>
            <a:ext cx="3345015" cy="2419098"/>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782" y="228600"/>
            <a:ext cx="4526788" cy="615553"/>
          </a:xfrm>
        </p:spPr>
        <p:txBody>
          <a:bodyPr/>
          <a:lstStyle/>
          <a:p>
            <a:r>
              <a:rPr lang="en-US" sz="4000" b="1" dirty="0" smtClean="0">
                <a:latin typeface="Arial" panose="020B0604020202020204"/>
                <a:cs typeface="Arial" panose="020B0604020202020204"/>
              </a:rPr>
              <a:t>MEC-</a:t>
            </a:r>
            <a:r>
              <a:rPr lang="en-US" sz="4000" b="1" spc="-25" dirty="0" smtClean="0">
                <a:latin typeface="Arial" panose="020B0604020202020204"/>
                <a:cs typeface="Arial" panose="020B0604020202020204"/>
              </a:rPr>
              <a:t> </a:t>
            </a:r>
            <a:r>
              <a:rPr lang="en-US" sz="4000" b="1" spc="-10" dirty="0" smtClean="0">
                <a:latin typeface="Arial" panose="020B0604020202020204"/>
                <a:cs typeface="Arial" panose="020B0604020202020204"/>
              </a:rPr>
              <a:t>Model-cloud</a:t>
            </a:r>
            <a:endParaRPr lang="en-US" sz="4000" dirty="0"/>
          </a:p>
        </p:txBody>
      </p:sp>
      <p:pic>
        <p:nvPicPr>
          <p:cNvPr id="5" name="Picture 4"/>
          <p:cNvPicPr>
            <a:picLocks noChangeAspect="1"/>
          </p:cNvPicPr>
          <p:nvPr/>
        </p:nvPicPr>
        <p:blipFill>
          <a:blip r:embed="rId1"/>
          <a:stretch>
            <a:fillRect/>
          </a:stretch>
        </p:blipFill>
        <p:spPr>
          <a:xfrm>
            <a:off x="195580" y="990600"/>
            <a:ext cx="4572000" cy="2621280"/>
          </a:xfrm>
          <a:prstGeom prst="rect">
            <a:avLst/>
          </a:prstGeom>
        </p:spPr>
      </p:pic>
      <p:sp>
        <p:nvSpPr>
          <p:cNvPr id="6" name="Rectangle 5"/>
          <p:cNvSpPr/>
          <p:nvPr/>
        </p:nvSpPr>
        <p:spPr>
          <a:xfrm>
            <a:off x="7315200" y="351710"/>
            <a:ext cx="4485005" cy="706755"/>
          </a:xfrm>
          <a:prstGeom prst="rect">
            <a:avLst/>
          </a:prstGeom>
        </p:spPr>
        <p:txBody>
          <a:bodyPr wrap="none">
            <a:spAutoFit/>
          </a:bodyPr>
          <a:lstStyle/>
          <a:p>
            <a:r>
              <a:rPr lang="en-US" sz="4000" b="1" dirty="0" smtClean="0">
                <a:latin typeface="Arial" panose="020B0604020202020204"/>
                <a:cs typeface="Arial" panose="020B0604020202020204"/>
              </a:rPr>
              <a:t>MEC-</a:t>
            </a:r>
            <a:r>
              <a:rPr lang="en-US" sz="4000" b="1" spc="-25" dirty="0" smtClean="0">
                <a:latin typeface="Arial" panose="020B0604020202020204"/>
                <a:cs typeface="Arial" panose="020B0604020202020204"/>
              </a:rPr>
              <a:t> </a:t>
            </a:r>
            <a:r>
              <a:rPr lang="en-US" sz="4000" b="1" spc="-10" dirty="0" smtClean="0">
                <a:latin typeface="Arial" panose="020B0604020202020204"/>
                <a:cs typeface="Arial" panose="020B0604020202020204"/>
              </a:rPr>
              <a:t>Model-Edge</a:t>
            </a:r>
            <a:endParaRPr lang="en-US" sz="4000" dirty="0"/>
          </a:p>
        </p:txBody>
      </p:sp>
      <p:pic>
        <p:nvPicPr>
          <p:cNvPr id="7" name="Picture 6"/>
          <p:cNvPicPr>
            <a:picLocks noChangeAspect="1"/>
          </p:cNvPicPr>
          <p:nvPr/>
        </p:nvPicPr>
        <p:blipFill>
          <a:blip r:embed="rId2"/>
          <a:stretch>
            <a:fillRect/>
          </a:stretch>
        </p:blipFill>
        <p:spPr>
          <a:xfrm>
            <a:off x="7239000" y="1040765"/>
            <a:ext cx="4539615" cy="2604135"/>
          </a:xfrm>
          <a:prstGeom prst="rect">
            <a:avLst/>
          </a:prstGeom>
        </p:spPr>
      </p:pic>
      <p:graphicFrame>
        <p:nvGraphicFramePr>
          <p:cNvPr id="3" name="Object 2"/>
          <p:cNvGraphicFramePr/>
          <p:nvPr/>
        </p:nvGraphicFramePr>
        <p:xfrm>
          <a:off x="3352800" y="3645535"/>
          <a:ext cx="5309235" cy="2670175"/>
        </p:xfrm>
        <a:graphic>
          <a:graphicData uri="http://schemas.openxmlformats.org/presentationml/2006/ole">
            <mc:AlternateContent xmlns:mc="http://schemas.openxmlformats.org/markup-compatibility/2006">
              <mc:Choice xmlns:v="urn:schemas-microsoft-com:vml" Requires="v">
                <p:oleObj spid="_x0000_s4" name="" r:id="rId3" imgW="5305425" imgH="2381250" progId="Paint.Picture">
                  <p:embed/>
                </p:oleObj>
              </mc:Choice>
              <mc:Fallback>
                <p:oleObj name="" r:id="rId3" imgW="5305425" imgH="2381250" progId="Paint.Picture">
                  <p:embed/>
                  <p:pic>
                    <p:nvPicPr>
                      <p:cNvPr id="0" name="Picture 3"/>
                      <p:cNvPicPr/>
                      <p:nvPr/>
                    </p:nvPicPr>
                    <p:blipFill>
                      <a:blip r:embed="rId4"/>
                      <a:stretch>
                        <a:fillRect/>
                      </a:stretch>
                    </p:blipFill>
                    <p:spPr>
                      <a:xfrm>
                        <a:off x="3352800" y="3645535"/>
                        <a:ext cx="5309235" cy="2670175"/>
                      </a:xfrm>
                      <a:prstGeom prst="rect">
                        <a:avLst/>
                      </a:prstGeom>
                    </p:spPr>
                  </p:pic>
                </p:oleObj>
              </mc:Fallback>
            </mc:AlternateContent>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905" y="393700"/>
            <a:ext cx="10702925" cy="707390"/>
          </a:xfrm>
        </p:spPr>
        <p:txBody>
          <a:bodyPr wrap="square"/>
          <a:p>
            <a:pPr algn="ctr"/>
            <a:r>
              <a:rPr lang="en-US" b="1">
                <a:latin typeface="Arial" panose="020B0604020202020204" pitchFamily="34" charset="0"/>
                <a:cs typeface="Arial" panose="020B0604020202020204" pitchFamily="34" charset="0"/>
              </a:rPr>
              <a:t>MEC</a:t>
            </a:r>
            <a:r>
              <a:rPr lang="en-US"/>
              <a:t>-</a:t>
            </a:r>
            <a:r>
              <a:rPr b="1" spc="-10" dirty="0">
                <a:latin typeface="Arial" panose="020B0604020202020204"/>
                <a:cs typeface="Arial" panose="020B0604020202020204"/>
                <a:sym typeface="+mn-ea"/>
              </a:rPr>
              <a:t>Model</a:t>
            </a:r>
            <a:r>
              <a:rPr>
                <a:sym typeface="+mn-ea"/>
              </a:rPr>
              <a:t>(Conceptual Diagram)</a:t>
            </a:r>
            <a:endParaRPr lang="en-US"/>
          </a:p>
        </p:txBody>
      </p:sp>
      <p:pic>
        <p:nvPicPr>
          <p:cNvPr id="7" name="Content Placeholder 6"/>
          <p:cNvPicPr>
            <a:picLocks noGr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55930" y="2011045"/>
            <a:ext cx="11291570" cy="4153535"/>
          </a:xfrm>
          <a:prstGeom prst="rect">
            <a:avLst/>
          </a:prstGeom>
          <a:noFill/>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lstStyle/>
          <a:p>
            <a:r>
              <a:rPr lang="en-US"/>
              <a:t>M</a:t>
            </a:r>
            <a:r>
              <a:t>EC System Model</a:t>
            </a:r>
          </a:p>
        </p:txBody>
      </p:sp>
      <p:sp>
        <p:nvSpPr>
          <p:cNvPr id="3" name="Content Placeholder 2"/>
          <p:cNvSpPr>
            <a:spLocks noGrp="1"/>
          </p:cNvSpPr>
          <p:nvPr>
            <p:ph idx="1"/>
          </p:nvPr>
        </p:nvSpPr>
        <p:spPr>
          <a:xfrm>
            <a:off x="327761" y="2023237"/>
            <a:ext cx="10824845" cy="2585085"/>
          </a:xfrm>
        </p:spPr>
        <p:txBody>
          <a:bodyPr/>
          <a:lstStyle/>
          <a:p>
            <a:r>
              <a:t>MEC brings computation closer to users to reduce latency</a:t>
            </a:r>
          </a:p>
          <a:p/>
          <a:p>
            <a:r>
              <a:t>Users/IoT devices generate tasks with data size Di and CPU cycles Ci</a:t>
            </a:r>
          </a:p>
          <a:p/>
          <a:p>
            <a:r>
              <a:t>Tasks can be processed locally or offloaded to MEC servers</a:t>
            </a:r>
          </a:p>
          <a:p/>
          <a:p>
            <a:r>
              <a:t>Decision variable xij decides offloading to MEC server j</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lstStyle/>
          <a:p>
            <a:r>
              <a:t> MEC Architecture </a:t>
            </a:r>
          </a:p>
        </p:txBody>
      </p:sp>
      <p:sp>
        <p:nvSpPr>
          <p:cNvPr id="3" name="Content Placeholder 2"/>
          <p:cNvSpPr>
            <a:spLocks noGrp="1"/>
          </p:cNvSpPr>
          <p:nvPr>
            <p:ph idx="1"/>
          </p:nvPr>
        </p:nvSpPr>
        <p:spPr>
          <a:xfrm>
            <a:off x="327660" y="2023110"/>
            <a:ext cx="10824845" cy="4107815"/>
          </a:xfrm>
        </p:spPr>
        <p:txBody>
          <a:bodyPr>
            <a:noAutofit/>
          </a:bodyPr>
          <a:lstStyle/>
          <a:p>
            <a:r>
              <a:rPr sz="3200"/>
              <a:t>IoT Devices / UEs → Base Station / AP</a:t>
            </a:r>
            <a:endParaRPr sz="3200"/>
          </a:p>
          <a:p>
            <a:endParaRPr sz="3200"/>
          </a:p>
          <a:p>
            <a:r>
              <a:rPr sz="3200"/>
              <a:t>Base Station connected to MEC Server</a:t>
            </a:r>
            <a:endParaRPr sz="3200"/>
          </a:p>
          <a:p>
            <a:endParaRPr sz="3200"/>
          </a:p>
          <a:p>
            <a:r>
              <a:rPr sz="3200"/>
              <a:t>MEC Server connected to Central Cloud</a:t>
            </a:r>
            <a:endParaRPr sz="3200"/>
          </a:p>
          <a:p>
            <a:endParaRPr sz="3200"/>
          </a:p>
          <a:p>
            <a:r>
              <a:rPr sz="3200"/>
              <a:t>Computation happens at Edge instead of Cloud</a:t>
            </a:r>
            <a:endParaRPr sz="32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90727" y="393649"/>
            <a:ext cx="10410545" cy="707390"/>
          </a:xfrm>
        </p:spPr>
        <p:txBody>
          <a:bodyPr/>
          <a:p>
            <a:r>
              <a:rPr lang="en-US"/>
              <a:t>Sample questions(2M)</a:t>
            </a:r>
            <a:endParaRPr lang="en-US"/>
          </a:p>
        </p:txBody>
      </p:sp>
      <p:sp>
        <p:nvSpPr>
          <p:cNvPr id="4" name="Footer Placeholder 3"/>
          <p:cNvSpPr>
            <a:spLocks noGrp="1"/>
          </p:cNvSpPr>
          <p:nvPr>
            <p:ph type="ftr" sz="quarter" idx="11"/>
          </p:nvPr>
        </p:nvSpPr>
        <p:spPr>
          <a:xfrm>
            <a:off x="4145280" y="6377940"/>
            <a:ext cx="3901440" cy="276860"/>
          </a:xfrm>
        </p:spPr>
        <p:txBody>
          <a:bodyPr/>
          <a:p>
            <a:r>
              <a:rPr lang="en-US"/>
              <a:t>CSE-367 Data Visualization</a:t>
            </a:r>
            <a:endParaRPr lang="en-US"/>
          </a:p>
        </p:txBody>
      </p:sp>
      <p:sp>
        <p:nvSpPr>
          <p:cNvPr id="5" name="Slide Number Placeholder 4"/>
          <p:cNvSpPr>
            <a:spLocks noGrp="1"/>
          </p:cNvSpPr>
          <p:nvPr>
            <p:ph type="sldNum" sz="quarter" idx="12"/>
          </p:nvPr>
        </p:nvSpPr>
        <p:spPr>
          <a:xfrm>
            <a:off x="8778240" y="6377940"/>
            <a:ext cx="2804160" cy="276860"/>
          </a:xfrm>
        </p:spPr>
        <p:txBody>
          <a:bodyPr/>
          <a:p>
            <a:fld id="{B6F15528-21DE-4FAA-801E-634DDDAF4B2B}" type="slidenum">
              <a:rPr lang="en-US" smtClean="0"/>
            </a:fld>
            <a:endParaRPr lang="en-US"/>
          </a:p>
        </p:txBody>
      </p:sp>
      <p:graphicFrame>
        <p:nvGraphicFramePr>
          <p:cNvPr id="10" name="Table 9"/>
          <p:cNvGraphicFramePr/>
          <p:nvPr>
            <p:custDataLst>
              <p:tags r:id="rId1"/>
            </p:custDataLst>
          </p:nvPr>
        </p:nvGraphicFramePr>
        <p:xfrm>
          <a:off x="1000125" y="1022985"/>
          <a:ext cx="4815205" cy="4679315"/>
        </p:xfrm>
        <a:graphic>
          <a:graphicData uri="http://schemas.openxmlformats.org/drawingml/2006/table">
            <a:tbl>
              <a:tblPr/>
              <a:tblGrid>
                <a:gridCol w="4815205"/>
              </a:tblGrid>
              <a:tr h="42037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Define </a:t>
                      </a:r>
                      <a:r>
                        <a:rPr sz="1400" b="1">
                          <a:latin typeface="Cambria" panose="02040503050406030204"/>
                          <a:ea typeface="SimSun" panose="02010600030101010101" pitchFamily="2" charset="-122"/>
                        </a:rPr>
                        <a:t>Edge Computing</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19735">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meant by </a:t>
                      </a:r>
                      <a:r>
                        <a:rPr sz="1400" b="1">
                          <a:latin typeface="Cambria" panose="02040503050406030204"/>
                          <a:ea typeface="SimSun" panose="02010600030101010101" pitchFamily="2" charset="-122"/>
                        </a:rPr>
                        <a:t>Edge AI</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1005">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State any two characteristics of </a:t>
                      </a:r>
                      <a:r>
                        <a:rPr sz="1400" b="1">
                          <a:latin typeface="Cambria" panose="02040503050406030204"/>
                          <a:ea typeface="SimSun" panose="02010600030101010101" pitchFamily="2" charset="-122"/>
                        </a:rPr>
                        <a:t>Edge Computing</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16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a:t>
                      </a:r>
                      <a:r>
                        <a:rPr sz="1400" b="1">
                          <a:latin typeface="Cambria" panose="02040503050406030204"/>
                          <a:ea typeface="SimSun" panose="02010600030101010101" pitchFamily="2" charset="-122"/>
                        </a:rPr>
                        <a:t>real-time analytics</a:t>
                      </a:r>
                      <a:r>
                        <a:rPr sz="1400">
                          <a:latin typeface="Cambria" panose="02040503050406030204"/>
                          <a:ea typeface="SimSun" panose="02010600030101010101" pitchFamily="2" charset="-122"/>
                        </a:rPr>
                        <a:t> </a:t>
                      </a:r>
                      <a:r>
                        <a:rPr sz="1400">
                          <a:latin typeface="Cambria" panose="02040503050406030204"/>
                          <a:ea typeface="SimSun" panose="02010600030101010101" pitchFamily="2" charset="-122"/>
                        </a:rPr>
                        <a:t>in Edge AI?</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19735">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List two differences between </a:t>
                      </a:r>
                      <a:r>
                        <a:rPr sz="1400" b="1">
                          <a:latin typeface="Cambria" panose="02040503050406030204"/>
                          <a:ea typeface="SimSun" panose="02010600030101010101" pitchFamily="2" charset="-122"/>
                        </a:rPr>
                        <a:t>Cloud AI and Edge AI</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037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Mention two benefits of </a:t>
                      </a:r>
                      <a:r>
                        <a:rPr sz="1400" b="1">
                          <a:latin typeface="Cambria" panose="02040503050406030204"/>
                          <a:ea typeface="SimSun" panose="02010600030101010101" pitchFamily="2" charset="-122"/>
                        </a:rPr>
                        <a:t>Edge AI over Cloud AI</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037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meant by </a:t>
                      </a:r>
                      <a:r>
                        <a:rPr sz="1400" b="1">
                          <a:latin typeface="Cambria" panose="02040503050406030204"/>
                          <a:ea typeface="SimSun" panose="02010600030101010101" pitchFamily="2" charset="-122"/>
                        </a:rPr>
                        <a:t>on-device intelligence</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037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Give two examples of </a:t>
                      </a:r>
                      <a:r>
                        <a:rPr sz="1400" b="1">
                          <a:latin typeface="Cambria" panose="02040503050406030204"/>
                          <a:ea typeface="SimSun" panose="02010600030101010101" pitchFamily="2" charset="-122"/>
                        </a:rPr>
                        <a:t>Edge AI applications</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037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a:t>
                      </a:r>
                      <a:r>
                        <a:rPr sz="1400" b="1">
                          <a:latin typeface="Cambria" panose="02040503050406030204"/>
                          <a:ea typeface="SimSun" panose="02010600030101010101" pitchFamily="2" charset="-122"/>
                        </a:rPr>
                        <a:t>Fog Computing</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7498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Where does Fog Computing lie in the computing hierarchy?</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2037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Define </a:t>
                      </a:r>
                      <a:r>
                        <a:rPr sz="1400" b="1">
                          <a:latin typeface="Cambria" panose="02040503050406030204"/>
                          <a:ea typeface="SimSun" panose="02010600030101010101" pitchFamily="2" charset="-122"/>
                        </a:rPr>
                        <a:t>Edge Node</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bl>
          </a:graphicData>
        </a:graphic>
      </p:graphicFrame>
      <p:graphicFrame>
        <p:nvGraphicFramePr>
          <p:cNvPr id="12" name="Table 11"/>
          <p:cNvGraphicFramePr/>
          <p:nvPr>
            <p:custDataLst>
              <p:tags r:id="rId2"/>
            </p:custDataLst>
          </p:nvPr>
        </p:nvGraphicFramePr>
        <p:xfrm>
          <a:off x="5890895" y="1219200"/>
          <a:ext cx="4609465" cy="4480560"/>
        </p:xfrm>
        <a:graphic>
          <a:graphicData uri="http://schemas.openxmlformats.org/drawingml/2006/table">
            <a:tbl>
              <a:tblPr/>
              <a:tblGrid>
                <a:gridCol w="4609465"/>
              </a:tblGrid>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Give two examples of Edge Nodes.</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a:t>
                      </a:r>
                      <a:r>
                        <a:rPr sz="1400" b="1">
                          <a:latin typeface="Cambria" panose="02040503050406030204"/>
                          <a:ea typeface="SimSun" panose="02010600030101010101" pitchFamily="2" charset="-122"/>
                        </a:rPr>
                        <a:t>Edge-as-a-Service (EaaS)</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State two advantages of EaaS platforms.</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a:t>
                      </a:r>
                      <a:r>
                        <a:rPr sz="1400" b="1">
                          <a:latin typeface="Cambria" panose="02040503050406030204"/>
                          <a:ea typeface="SimSun" panose="02010600030101010101" pitchFamily="2" charset="-122"/>
                        </a:rPr>
                        <a:t>Network Slicing</a:t>
                      </a:r>
                      <a:r>
                        <a:rPr sz="1400">
                          <a:latin typeface="Cambria" panose="02040503050406030204"/>
                          <a:ea typeface="SimSun" panose="02010600030101010101" pitchFamily="2" charset="-122"/>
                        </a:rPr>
                        <a:t> </a:t>
                      </a:r>
                      <a:r>
                        <a:rPr sz="1400">
                          <a:latin typeface="Cambria" panose="02040503050406030204"/>
                          <a:ea typeface="SimSun" panose="02010600030101010101" pitchFamily="2" charset="-122"/>
                        </a:rPr>
                        <a:t>in Edge systems?</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Why is Network Slicing important for Edge Computing?</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Define </a:t>
                      </a:r>
                      <a:r>
                        <a:rPr sz="1400" b="1">
                          <a:latin typeface="Cambria" panose="02040503050406030204"/>
                          <a:ea typeface="SimSun" panose="02010600030101010101" pitchFamily="2" charset="-122"/>
                        </a:rPr>
                        <a:t>Mobile Edge Computing (MEC)</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Mention two use cases of MEC.</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What is the main goal of </a:t>
                      </a:r>
                      <a:r>
                        <a:rPr sz="1400" b="1">
                          <a:latin typeface="Cambria" panose="02040503050406030204"/>
                          <a:ea typeface="SimSun" panose="02010600030101010101" pitchFamily="2" charset="-122"/>
                        </a:rPr>
                        <a:t>Edge AI in future networks</a:t>
                      </a:r>
                      <a:r>
                        <a:rPr sz="1400">
                          <a:latin typeface="Cambria" panose="02040503050406030204"/>
                          <a:ea typeface="SimSun" panose="02010600030101010101" pitchFamily="2" charset="-122"/>
                        </a:rPr>
                        <a:t>?</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r h="497840">
                <a:tc>
                  <a:txBody>
                    <a:bodyPr/>
                    <a:p>
                      <a:pPr marL="40005" indent="0" algn="l">
                        <a:lnSpc>
                          <a:spcPct val="107000"/>
                        </a:lnSpc>
                        <a:spcBef>
                          <a:spcPct val="0"/>
                        </a:spcBef>
                        <a:spcAft>
                          <a:spcPts val="800"/>
                        </a:spcAft>
                      </a:pPr>
                      <a:r>
                        <a:rPr sz="1400">
                          <a:latin typeface="Cambria" panose="02040503050406030204"/>
                          <a:ea typeface="SimSun" panose="02010600030101010101" pitchFamily="2" charset="-122"/>
                        </a:rPr>
                        <a:t>List two challenges in deploying AI at the edge.</a:t>
                      </a:r>
                      <a:endParaRPr sz="1400">
                        <a:latin typeface="Cambria" panose="02040503050406030204"/>
                        <a:ea typeface="SimSun" panose="02010600030101010101" pitchFamily="2" charset="-122"/>
                      </a:endParaRPr>
                    </a:p>
                  </a:txBody>
                  <a:tcPr marL="9525" marR="9525" marT="9525" marB="9525" anchor="ctr" anchorCtr="0">
                    <a:lnL>
                      <a:noFill/>
                    </a:lnL>
                    <a:lnR>
                      <a:noFill/>
                    </a:lnR>
                    <a:lnT>
                      <a:noFill/>
                    </a:lnT>
                    <a:lnB>
                      <a:noFill/>
                    </a:lnB>
                    <a:noFill/>
                  </a:tcPr>
                </a:tc>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200" y="533400"/>
            <a:ext cx="12186285" cy="4828540"/>
          </a:xfrm>
        </p:spPr>
        <p:txBody>
          <a:bodyPr>
            <a:noAutofit/>
          </a:bodyPr>
          <a:lstStyle/>
          <a:p>
            <a:pPr algn="ctr"/>
            <a:endParaRPr lang="en-US" sz="3600" b="1" dirty="0" smtClean="0">
              <a:latin typeface="Times New Roman" panose="02020603050405020304" charset="0"/>
              <a:cs typeface="Times New Roman" panose="02020603050405020304" charset="0"/>
            </a:endParaRPr>
          </a:p>
          <a:p>
            <a:pPr algn="ctr"/>
            <a:r>
              <a:rPr lang="en-US" sz="3600" b="1" dirty="0" smtClean="0">
                <a:latin typeface="Times New Roman" panose="02020603050405020304" charset="0"/>
                <a:cs typeface="Times New Roman" panose="02020603050405020304" charset="0"/>
              </a:rPr>
              <a:t>Scenario based questions</a:t>
            </a:r>
            <a:endParaRPr lang="en-US" sz="3600" b="1" dirty="0">
              <a:latin typeface="Times New Roman" panose="02020603050405020304" charset="0"/>
              <a:cs typeface="Times New Roman" panose="02020603050405020304" charset="0"/>
            </a:endParaRPr>
          </a:p>
          <a:p>
            <a:pPr algn="just"/>
            <a:endParaRPr lang="en-US" sz="2000" dirty="0" smtClean="0"/>
          </a:p>
          <a:p>
            <a:pPr algn="just"/>
            <a:r>
              <a:rPr lang="en-US" b="0" dirty="0" smtClean="0"/>
              <a:t>A </a:t>
            </a:r>
            <a:r>
              <a:rPr lang="en-US" b="0" dirty="0"/>
              <a:t>city has deployed thousands of </a:t>
            </a:r>
            <a:r>
              <a:rPr lang="en-US" b="0" dirty="0" err="1"/>
              <a:t>IoT</a:t>
            </a:r>
            <a:r>
              <a:rPr lang="en-US" b="0" dirty="0"/>
              <a:t>-enabled traffic cameras and sensors at intersections. Instead of sending all raw data to the cloud, the city installs a </a:t>
            </a:r>
            <a:r>
              <a:rPr lang="en-US" b="0" dirty="0" smtClean="0"/>
              <a:t> single node </a:t>
            </a:r>
            <a:r>
              <a:rPr lang="en-US" b="0" dirty="0"/>
              <a:t>in each district to process real-time traffic signals and emergency vehicle </a:t>
            </a:r>
            <a:r>
              <a:rPr lang="en-US" b="0" dirty="0" smtClean="0"/>
              <a:t>priority identify the edge deployment model and write the detail description</a:t>
            </a:r>
            <a:r>
              <a:rPr lang="en-US" sz="2000" b="0" dirty="0" smtClean="0"/>
              <a:t>. </a:t>
            </a:r>
            <a:endParaRPr lang="en-US" sz="2000" b="0" dirty="0" smtClean="0"/>
          </a:p>
          <a:p>
            <a:pPr algn="just"/>
            <a:endParaRPr lang="en-US" sz="2000" b="0" dirty="0"/>
          </a:p>
          <a:p>
            <a:pPr algn="just"/>
            <a:r>
              <a:rPr lang="en-US" b="0" dirty="0"/>
              <a:t>A hospital uses wearable health devices to continuously track patients’ vitals. All devices send data to a </a:t>
            </a:r>
            <a:r>
              <a:rPr lang="en-US" b="0" dirty="0" smtClean="0"/>
              <a:t>single </a:t>
            </a:r>
            <a:r>
              <a:rPr lang="en-US" b="0" dirty="0" smtClean="0"/>
              <a:t>server </a:t>
            </a:r>
            <a:r>
              <a:rPr lang="en-US" b="0" dirty="0"/>
              <a:t>within the hospital before selected information is transmitted to the </a:t>
            </a:r>
            <a:r>
              <a:rPr lang="en-US" b="0" dirty="0" smtClean="0"/>
              <a:t>cloud </a:t>
            </a:r>
            <a:r>
              <a:rPr lang="en-US" b="0" dirty="0"/>
              <a:t>identify the edge deployment model and write the detail description.</a:t>
            </a:r>
            <a:r>
              <a:rPr lang="en-US" sz="2000" b="0" dirty="0"/>
              <a:t> </a:t>
            </a:r>
            <a:endParaRPr lang="en-US" sz="2000" b="0" dirty="0"/>
          </a:p>
          <a:p>
            <a:pPr algn="just"/>
            <a:r>
              <a:rPr lang="en-US" sz="2000" dirty="0"/>
              <a:t>. </a:t>
            </a:r>
            <a:endParaRPr lang="en-US" sz="2000" dirty="0"/>
          </a:p>
          <a:p>
            <a:pPr algn="just"/>
            <a:endParaRPr lang="en-US" sz="2000" dirty="0" smtClean="0"/>
          </a:p>
          <a:p>
            <a:pPr algn="just"/>
            <a:endParaRPr lang="en-US" sz="2000" dirty="0"/>
          </a:p>
          <a:p>
            <a:pPr algn="just"/>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0727" y="393649"/>
            <a:ext cx="10410545" cy="1266190"/>
          </a:xfrm>
          <a:prstGeom prst="rect">
            <a:avLst/>
          </a:prstGeom>
        </p:spPr>
        <p:txBody>
          <a:bodyPr vert="horz" wrap="square" lIns="0" tIns="558927" rIns="0" bIns="0" rtlCol="0">
            <a:spAutoFit/>
          </a:bodyPr>
          <a:lstStyle/>
          <a:p>
            <a:pPr marL="297815">
              <a:lnSpc>
                <a:spcPct val="100000"/>
              </a:lnSpc>
              <a:spcBef>
                <a:spcPts val="110"/>
              </a:spcBef>
            </a:pPr>
            <a:r>
              <a:rPr lang="en-US" spc="-170" dirty="0"/>
              <a:t>Class </a:t>
            </a:r>
            <a:r>
              <a:rPr spc="-170" dirty="0"/>
              <a:t>Test</a:t>
            </a:r>
            <a:r>
              <a:rPr spc="-225" dirty="0"/>
              <a:t> </a:t>
            </a:r>
            <a:r>
              <a:rPr dirty="0"/>
              <a:t>I</a:t>
            </a:r>
            <a:r>
              <a:rPr spc="-114" dirty="0"/>
              <a:t> </a:t>
            </a:r>
            <a:r>
              <a:rPr dirty="0"/>
              <a:t>[</a:t>
            </a:r>
            <a:r>
              <a:rPr spc="-145" dirty="0"/>
              <a:t> </a:t>
            </a:r>
            <a:r>
              <a:rPr spc="-95" dirty="0"/>
              <a:t>Answer</a:t>
            </a:r>
            <a:r>
              <a:rPr spc="-195" dirty="0"/>
              <a:t> </a:t>
            </a:r>
            <a:r>
              <a:rPr spc="-40" dirty="0"/>
              <a:t>All</a:t>
            </a:r>
            <a:r>
              <a:rPr spc="-200" dirty="0"/>
              <a:t> </a:t>
            </a:r>
            <a:r>
              <a:rPr spc="-65" dirty="0"/>
              <a:t>Questions]</a:t>
            </a:r>
            <a:endParaRPr spc="-65" dirty="0"/>
          </a:p>
        </p:txBody>
      </p:sp>
      <p:sp>
        <p:nvSpPr>
          <p:cNvPr id="3" name="object 3"/>
          <p:cNvSpPr txBox="1"/>
          <p:nvPr/>
        </p:nvSpPr>
        <p:spPr>
          <a:xfrm>
            <a:off x="1084580" y="1896110"/>
            <a:ext cx="10153650" cy="3584575"/>
          </a:xfrm>
          <a:prstGeom prst="rect">
            <a:avLst/>
          </a:prstGeom>
        </p:spPr>
        <p:txBody>
          <a:bodyPr vert="horz" wrap="square" lIns="0" tIns="231775" rIns="0" bIns="0" rtlCol="0">
            <a:spAutoFit/>
          </a:bodyPr>
          <a:lstStyle/>
          <a:p>
            <a:pPr marL="469265" indent="-456565">
              <a:lnSpc>
                <a:spcPct val="100000"/>
              </a:lnSpc>
              <a:spcBef>
                <a:spcPts val="1825"/>
              </a:spcBef>
              <a:buClr>
                <a:srgbClr val="E88A33"/>
              </a:buClr>
              <a:buAutoNum type="arabicPeriod"/>
              <a:tabLst>
                <a:tab pos="469265" algn="l"/>
                <a:tab pos="4524375" algn="l"/>
              </a:tabLst>
            </a:pPr>
            <a:r>
              <a:rPr sz="2000" b="1" spc="-55" dirty="0">
                <a:solidFill>
                  <a:srgbClr val="6F2F9F"/>
                </a:solidFill>
                <a:latin typeface="Trebuchet MS" panose="020B0603020202020204"/>
                <a:cs typeface="Trebuchet MS" panose="020B0603020202020204"/>
              </a:rPr>
              <a:t>What</a:t>
            </a:r>
            <a:r>
              <a:rPr sz="2000" b="1" spc="-125" dirty="0">
                <a:solidFill>
                  <a:srgbClr val="6F2F9F"/>
                </a:solidFill>
                <a:latin typeface="Trebuchet MS" panose="020B0603020202020204"/>
                <a:cs typeface="Trebuchet MS" panose="020B0603020202020204"/>
              </a:rPr>
              <a:t> </a:t>
            </a:r>
            <a:r>
              <a:rPr sz="2000" b="1" spc="-50" dirty="0">
                <a:solidFill>
                  <a:srgbClr val="6F2F9F"/>
                </a:solidFill>
                <a:latin typeface="Trebuchet MS" panose="020B0603020202020204"/>
                <a:cs typeface="Trebuchet MS" panose="020B0603020202020204"/>
              </a:rPr>
              <a:t>is</a:t>
            </a:r>
            <a:r>
              <a:rPr sz="2000" b="1" spc="-114" dirty="0">
                <a:solidFill>
                  <a:srgbClr val="6F2F9F"/>
                </a:solidFill>
                <a:latin typeface="Trebuchet MS" panose="020B0603020202020204"/>
                <a:cs typeface="Trebuchet MS" panose="020B0603020202020204"/>
              </a:rPr>
              <a:t> </a:t>
            </a:r>
            <a:r>
              <a:rPr sz="2000" b="1" spc="-120" dirty="0">
                <a:solidFill>
                  <a:srgbClr val="6F2F9F"/>
                </a:solidFill>
                <a:latin typeface="Trebuchet MS" panose="020B0603020202020204"/>
                <a:cs typeface="Trebuchet MS" panose="020B0603020202020204"/>
              </a:rPr>
              <a:t>the</a:t>
            </a:r>
            <a:r>
              <a:rPr sz="2000" b="1" spc="-125" dirty="0">
                <a:solidFill>
                  <a:srgbClr val="6F2F9F"/>
                </a:solidFill>
                <a:latin typeface="Trebuchet MS" panose="020B0603020202020204"/>
                <a:cs typeface="Trebuchet MS" panose="020B0603020202020204"/>
              </a:rPr>
              <a:t> </a:t>
            </a:r>
            <a:r>
              <a:rPr sz="2000" b="1" spc="-145" dirty="0">
                <a:solidFill>
                  <a:srgbClr val="6F2F9F"/>
                </a:solidFill>
                <a:latin typeface="Trebuchet MS" panose="020B0603020202020204"/>
                <a:cs typeface="Trebuchet MS" panose="020B0603020202020204"/>
              </a:rPr>
              <a:t>need</a:t>
            </a:r>
            <a:r>
              <a:rPr sz="2000" b="1" spc="-130" dirty="0">
                <a:solidFill>
                  <a:srgbClr val="6F2F9F"/>
                </a:solidFill>
                <a:latin typeface="Trebuchet MS" panose="020B0603020202020204"/>
                <a:cs typeface="Trebuchet MS" panose="020B0603020202020204"/>
              </a:rPr>
              <a:t> </a:t>
            </a:r>
            <a:r>
              <a:rPr sz="2000" b="1" spc="-75" dirty="0">
                <a:solidFill>
                  <a:srgbClr val="6F2F9F"/>
                </a:solidFill>
                <a:latin typeface="Trebuchet MS" panose="020B0603020202020204"/>
                <a:cs typeface="Trebuchet MS" panose="020B0603020202020204"/>
              </a:rPr>
              <a:t>of</a:t>
            </a:r>
            <a:r>
              <a:rPr sz="2000" b="1" spc="-135" dirty="0">
                <a:solidFill>
                  <a:srgbClr val="6F2F9F"/>
                </a:solidFill>
                <a:latin typeface="Trebuchet MS" panose="020B0603020202020204"/>
                <a:cs typeface="Trebuchet MS" panose="020B0603020202020204"/>
              </a:rPr>
              <a:t> </a:t>
            </a:r>
            <a:r>
              <a:rPr lang="en-US" altLang="en-US" sz="2000" b="1" spc="-135" dirty="0">
                <a:solidFill>
                  <a:srgbClr val="6F2F9F"/>
                </a:solidFill>
                <a:latin typeface="Trebuchet MS" panose="020B0603020202020204"/>
                <a:cs typeface="Trebuchet MS" panose="020B0603020202020204"/>
              </a:rPr>
              <a:t>edge </a:t>
            </a:r>
            <a:r>
              <a:rPr sz="2000" b="1" spc="-100" dirty="0">
                <a:solidFill>
                  <a:srgbClr val="6F2F9F"/>
                </a:solidFill>
                <a:latin typeface="Trebuchet MS" panose="020B0603020202020204"/>
                <a:cs typeface="Trebuchet MS" panose="020B0603020202020204"/>
              </a:rPr>
              <a:t> </a:t>
            </a:r>
            <a:r>
              <a:rPr sz="2000" b="1" spc="-10" dirty="0">
                <a:solidFill>
                  <a:srgbClr val="6F2F9F"/>
                </a:solidFill>
                <a:latin typeface="Trebuchet MS" panose="020B0603020202020204"/>
                <a:cs typeface="Trebuchet MS" panose="020B0603020202020204"/>
              </a:rPr>
              <a:t>Computing.</a:t>
            </a:r>
            <a:r>
              <a:rPr sz="2000" b="1" dirty="0">
                <a:solidFill>
                  <a:srgbClr val="6F2F9F"/>
                </a:solidFill>
                <a:latin typeface="Trebuchet MS" panose="020B0603020202020204"/>
                <a:cs typeface="Trebuchet MS" panose="020B0603020202020204"/>
              </a:rPr>
              <a:t>	</a:t>
            </a:r>
            <a:r>
              <a:rPr sz="2800" b="1" spc="-25" dirty="0">
                <a:solidFill>
                  <a:srgbClr val="CC00CC"/>
                </a:solidFill>
                <a:latin typeface="Trebuchet MS" panose="020B0603020202020204"/>
                <a:cs typeface="Trebuchet MS" panose="020B0603020202020204"/>
              </a:rPr>
              <a:t>[</a:t>
            </a:r>
            <a:r>
              <a:rPr lang="en-US" altLang="en-US" sz="2800" b="1" spc="-25" dirty="0">
                <a:solidFill>
                  <a:srgbClr val="CC00CC"/>
                </a:solidFill>
                <a:latin typeface="Trebuchet MS" panose="020B0603020202020204"/>
                <a:cs typeface="Trebuchet MS" panose="020B0603020202020204"/>
              </a:rPr>
              <a:t>2</a:t>
            </a:r>
            <a:r>
              <a:rPr sz="2800" b="1" spc="-25" dirty="0">
                <a:solidFill>
                  <a:srgbClr val="CC00CC"/>
                </a:solidFill>
                <a:latin typeface="Trebuchet MS" panose="020B0603020202020204"/>
                <a:cs typeface="Trebuchet MS" panose="020B0603020202020204"/>
              </a:rPr>
              <a:t>]</a:t>
            </a:r>
            <a:endParaRPr sz="2800">
              <a:latin typeface="Trebuchet MS" panose="020B0603020202020204"/>
              <a:cs typeface="Trebuchet MS" panose="020B0603020202020204"/>
            </a:endParaRPr>
          </a:p>
          <a:p>
            <a:pPr marL="469265" indent="-456565">
              <a:lnSpc>
                <a:spcPct val="100000"/>
              </a:lnSpc>
              <a:spcBef>
                <a:spcPts val="1730"/>
              </a:spcBef>
              <a:buClr>
                <a:srgbClr val="E88A33"/>
              </a:buClr>
              <a:buAutoNum type="arabicPeriod"/>
              <a:tabLst>
                <a:tab pos="469265" algn="l"/>
              </a:tabLst>
            </a:pPr>
            <a:r>
              <a:rPr lang="en-US" altLang="en-US" sz="2000" b="1" spc="-90" dirty="0">
                <a:solidFill>
                  <a:srgbClr val="6F2F9F"/>
                </a:solidFill>
                <a:latin typeface="Trebuchet MS" panose="020B0603020202020204"/>
                <a:cs typeface="Trebuchet MS" panose="020B0603020202020204"/>
              </a:rPr>
              <a:t>Name the </a:t>
            </a:r>
            <a:r>
              <a:rPr sz="2000" b="1" spc="-90" dirty="0">
                <a:solidFill>
                  <a:srgbClr val="6F2F9F"/>
                </a:solidFill>
                <a:latin typeface="Trebuchet MS" panose="020B0603020202020204"/>
                <a:cs typeface="Trebuchet MS" panose="020B0603020202020204"/>
              </a:rPr>
              <a:t> </a:t>
            </a:r>
            <a:r>
              <a:rPr lang="en-US" altLang="en-US" sz="2000" b="1" spc="-90" dirty="0">
                <a:solidFill>
                  <a:srgbClr val="6F2F9F"/>
                </a:solidFill>
                <a:latin typeface="Trebuchet MS" panose="020B0603020202020204"/>
                <a:cs typeface="Trebuchet MS" panose="020B0603020202020204"/>
              </a:rPr>
              <a:t>benefits in real time analytics         </a:t>
            </a:r>
            <a:r>
              <a:rPr sz="2800" b="1" spc="-25" dirty="0">
                <a:solidFill>
                  <a:srgbClr val="CC00CC"/>
                </a:solidFill>
                <a:latin typeface="Trebuchet MS" panose="020B0603020202020204"/>
                <a:cs typeface="Trebuchet MS" panose="020B0603020202020204"/>
              </a:rPr>
              <a:t>[</a:t>
            </a:r>
            <a:r>
              <a:rPr lang="en-US" altLang="en-US" sz="2800" b="1" spc="-25" dirty="0">
                <a:solidFill>
                  <a:srgbClr val="CC00CC"/>
                </a:solidFill>
                <a:latin typeface="Trebuchet MS" panose="020B0603020202020204"/>
                <a:cs typeface="Trebuchet MS" panose="020B0603020202020204"/>
              </a:rPr>
              <a:t>2</a:t>
            </a:r>
            <a:r>
              <a:rPr sz="2800" b="1" spc="-25" dirty="0">
                <a:solidFill>
                  <a:srgbClr val="CC00CC"/>
                </a:solidFill>
                <a:latin typeface="Trebuchet MS" panose="020B0603020202020204"/>
                <a:cs typeface="Trebuchet MS" panose="020B0603020202020204"/>
              </a:rPr>
              <a:t>]</a:t>
            </a:r>
            <a:endParaRPr sz="2800">
              <a:latin typeface="Trebuchet MS" panose="020B0603020202020204"/>
              <a:cs typeface="Trebuchet MS" panose="020B0603020202020204"/>
            </a:endParaRPr>
          </a:p>
          <a:p>
            <a:pPr marL="469265" indent="-456565">
              <a:lnSpc>
                <a:spcPct val="100000"/>
              </a:lnSpc>
              <a:spcBef>
                <a:spcPts val="1730"/>
              </a:spcBef>
              <a:buClr>
                <a:srgbClr val="E88A33"/>
              </a:buClr>
              <a:buAutoNum type="arabicPeriod"/>
              <a:tabLst>
                <a:tab pos="469265" algn="l"/>
              </a:tabLst>
            </a:pPr>
            <a:r>
              <a:rPr sz="2000" b="1" spc="-65" dirty="0">
                <a:solidFill>
                  <a:srgbClr val="6F2F9F"/>
                </a:solidFill>
                <a:latin typeface="Trebuchet MS" panose="020B0603020202020204"/>
                <a:cs typeface="Trebuchet MS" panose="020B0603020202020204"/>
              </a:rPr>
              <a:t>List</a:t>
            </a:r>
            <a:r>
              <a:rPr sz="2000" b="1" spc="-90" dirty="0">
                <a:solidFill>
                  <a:srgbClr val="6F2F9F"/>
                </a:solidFill>
                <a:latin typeface="Trebuchet MS" panose="020B0603020202020204"/>
                <a:cs typeface="Trebuchet MS" panose="020B0603020202020204"/>
              </a:rPr>
              <a:t> </a:t>
            </a:r>
            <a:r>
              <a:rPr sz="2000" b="1" spc="-120" dirty="0">
                <a:solidFill>
                  <a:srgbClr val="6F2F9F"/>
                </a:solidFill>
                <a:latin typeface="Trebuchet MS" panose="020B0603020202020204"/>
                <a:cs typeface="Trebuchet MS" panose="020B0603020202020204"/>
              </a:rPr>
              <a:t>any</a:t>
            </a:r>
            <a:r>
              <a:rPr sz="2000" b="1" spc="-135" dirty="0">
                <a:solidFill>
                  <a:srgbClr val="6F2F9F"/>
                </a:solidFill>
                <a:latin typeface="Trebuchet MS" panose="020B0603020202020204"/>
                <a:cs typeface="Trebuchet MS" panose="020B0603020202020204"/>
              </a:rPr>
              <a:t> </a:t>
            </a:r>
            <a:r>
              <a:rPr lang="en-US" altLang="en-US" sz="2000" b="1" spc="-135" dirty="0">
                <a:solidFill>
                  <a:srgbClr val="6F2F9F"/>
                </a:solidFill>
                <a:latin typeface="Trebuchet MS" panose="020B0603020202020204"/>
                <a:cs typeface="Trebuchet MS" panose="020B0603020202020204"/>
              </a:rPr>
              <a:t>10 </a:t>
            </a:r>
            <a:r>
              <a:rPr sz="2000" b="1" spc="-130" dirty="0">
                <a:solidFill>
                  <a:srgbClr val="6F2F9F"/>
                </a:solidFill>
                <a:latin typeface="Trebuchet MS" panose="020B0603020202020204"/>
                <a:cs typeface="Trebuchet MS" panose="020B0603020202020204"/>
              </a:rPr>
              <a:t>difference</a:t>
            </a:r>
            <a:r>
              <a:rPr sz="2000" b="1" spc="-70" dirty="0">
                <a:solidFill>
                  <a:srgbClr val="6F2F9F"/>
                </a:solidFill>
                <a:latin typeface="Trebuchet MS" panose="020B0603020202020204"/>
                <a:cs typeface="Trebuchet MS" panose="020B0603020202020204"/>
              </a:rPr>
              <a:t> </a:t>
            </a:r>
            <a:r>
              <a:rPr sz="2000" b="1" spc="-145" dirty="0">
                <a:solidFill>
                  <a:srgbClr val="6F2F9F"/>
                </a:solidFill>
                <a:latin typeface="Trebuchet MS" panose="020B0603020202020204"/>
                <a:cs typeface="Trebuchet MS" panose="020B0603020202020204"/>
              </a:rPr>
              <a:t>between</a:t>
            </a:r>
            <a:r>
              <a:rPr sz="2000" b="1" spc="-135" dirty="0">
                <a:solidFill>
                  <a:srgbClr val="6F2F9F"/>
                </a:solidFill>
                <a:latin typeface="Trebuchet MS" panose="020B0603020202020204"/>
                <a:cs typeface="Trebuchet MS" panose="020B0603020202020204"/>
              </a:rPr>
              <a:t> </a:t>
            </a:r>
            <a:r>
              <a:rPr sz="2000" b="1" spc="-130" dirty="0">
                <a:solidFill>
                  <a:srgbClr val="6F2F9F"/>
                </a:solidFill>
                <a:latin typeface="Trebuchet MS" panose="020B0603020202020204"/>
                <a:cs typeface="Trebuchet MS" panose="020B0603020202020204"/>
              </a:rPr>
              <a:t>Cloud,</a:t>
            </a:r>
            <a:r>
              <a:rPr sz="2000" b="1" spc="-100" dirty="0">
                <a:solidFill>
                  <a:srgbClr val="6F2F9F"/>
                </a:solidFill>
                <a:latin typeface="Trebuchet MS" panose="020B0603020202020204"/>
                <a:cs typeface="Trebuchet MS" panose="020B0603020202020204"/>
              </a:rPr>
              <a:t> </a:t>
            </a:r>
            <a:r>
              <a:rPr sz="2000" b="1" spc="-80" dirty="0">
                <a:solidFill>
                  <a:srgbClr val="6F2F9F"/>
                </a:solidFill>
                <a:latin typeface="Trebuchet MS" panose="020B0603020202020204"/>
                <a:cs typeface="Trebuchet MS" panose="020B0603020202020204"/>
              </a:rPr>
              <a:t>Fog</a:t>
            </a:r>
            <a:r>
              <a:rPr sz="2000" b="1" spc="-120" dirty="0">
                <a:solidFill>
                  <a:srgbClr val="6F2F9F"/>
                </a:solidFill>
                <a:latin typeface="Trebuchet MS" panose="020B0603020202020204"/>
                <a:cs typeface="Trebuchet MS" panose="020B0603020202020204"/>
              </a:rPr>
              <a:t> </a:t>
            </a:r>
            <a:r>
              <a:rPr sz="2000" b="1" spc="-100" dirty="0">
                <a:solidFill>
                  <a:srgbClr val="6F2F9F"/>
                </a:solidFill>
                <a:latin typeface="Trebuchet MS" panose="020B0603020202020204"/>
                <a:cs typeface="Trebuchet MS" panose="020B0603020202020204"/>
              </a:rPr>
              <a:t>and</a:t>
            </a:r>
            <a:r>
              <a:rPr sz="2000" b="1" spc="-105" dirty="0">
                <a:solidFill>
                  <a:srgbClr val="6F2F9F"/>
                </a:solidFill>
                <a:latin typeface="Trebuchet MS" panose="020B0603020202020204"/>
                <a:cs typeface="Trebuchet MS" panose="020B0603020202020204"/>
              </a:rPr>
              <a:t> </a:t>
            </a:r>
            <a:r>
              <a:rPr sz="2000" b="1" spc="-75" dirty="0">
                <a:solidFill>
                  <a:srgbClr val="6F2F9F"/>
                </a:solidFill>
                <a:latin typeface="Trebuchet MS" panose="020B0603020202020204"/>
                <a:cs typeface="Trebuchet MS" panose="020B0603020202020204"/>
              </a:rPr>
              <a:t>Edge</a:t>
            </a:r>
            <a:r>
              <a:rPr sz="2000" b="1" spc="-145" dirty="0">
                <a:solidFill>
                  <a:srgbClr val="6F2F9F"/>
                </a:solidFill>
                <a:latin typeface="Trebuchet MS" panose="020B0603020202020204"/>
                <a:cs typeface="Trebuchet MS" panose="020B0603020202020204"/>
              </a:rPr>
              <a:t> </a:t>
            </a:r>
            <a:r>
              <a:rPr sz="2000" b="1" spc="-55" dirty="0">
                <a:solidFill>
                  <a:srgbClr val="6F2F9F"/>
                </a:solidFill>
                <a:latin typeface="Trebuchet MS" panose="020B0603020202020204"/>
                <a:cs typeface="Trebuchet MS" panose="020B0603020202020204"/>
              </a:rPr>
              <a:t>Computing</a:t>
            </a:r>
            <a:r>
              <a:rPr sz="2800" b="1" spc="-55" dirty="0">
                <a:solidFill>
                  <a:srgbClr val="CC00CC"/>
                </a:solidFill>
                <a:latin typeface="Trebuchet MS" panose="020B0603020202020204"/>
                <a:cs typeface="Trebuchet MS" panose="020B0603020202020204"/>
              </a:rPr>
              <a:t>[</a:t>
            </a:r>
            <a:r>
              <a:rPr lang="en-US" altLang="en-US" sz="2800" b="1" spc="-55" dirty="0">
                <a:solidFill>
                  <a:srgbClr val="CC00CC"/>
                </a:solidFill>
                <a:latin typeface="Trebuchet MS" panose="020B0603020202020204"/>
                <a:cs typeface="Trebuchet MS" panose="020B0603020202020204"/>
              </a:rPr>
              <a:t>5</a:t>
            </a:r>
            <a:r>
              <a:rPr sz="2800" b="1" spc="-55" dirty="0">
                <a:solidFill>
                  <a:srgbClr val="CC00CC"/>
                </a:solidFill>
                <a:latin typeface="Trebuchet MS" panose="020B0603020202020204"/>
                <a:cs typeface="Trebuchet MS" panose="020B0603020202020204"/>
              </a:rPr>
              <a:t>]</a:t>
            </a:r>
            <a:endParaRPr lang="en-US" altLang="en-US" sz="2800"/>
          </a:p>
          <a:p>
            <a:pPr marL="469265" indent="-456565">
              <a:lnSpc>
                <a:spcPct val="100000"/>
              </a:lnSpc>
              <a:spcBef>
                <a:spcPts val="1755"/>
              </a:spcBef>
              <a:buClr>
                <a:srgbClr val="E88A33"/>
              </a:buClr>
              <a:buAutoNum type="arabicPeriod"/>
              <a:tabLst>
                <a:tab pos="469265" algn="l"/>
              </a:tabLst>
            </a:pPr>
            <a:r>
              <a:rPr sz="2000" b="0" spc="-114" dirty="0">
                <a:solidFill>
                  <a:srgbClr val="7030A0"/>
                </a:solidFill>
                <a:latin typeface="Cambria" panose="02040503050406030204" charset="0"/>
                <a:cs typeface="Cambria" panose="02040503050406030204" charset="0"/>
                <a:sym typeface="+mn-ea"/>
              </a:rPr>
              <a:t> </a:t>
            </a:r>
            <a:r>
              <a:rPr lang="en-US" altLang="en-US" sz="2000" b="1">
                <a:solidFill>
                  <a:srgbClr val="7030A0"/>
                </a:solidFill>
                <a:latin typeface="Comic Sans MS" panose="030F0702030302020204" charset="0"/>
                <a:cs typeface="Comic Sans MS" panose="030F0702030302020204" charset="0"/>
                <a:sym typeface="+mn-ea"/>
              </a:rPr>
              <a:t>Explain the hierarchy of fog and edge computing  deployed layers with a diagram</a:t>
            </a:r>
            <a:r>
              <a:rPr lang="en-US" altLang="en-US" sz="2800">
                <a:sym typeface="+mn-ea"/>
              </a:rPr>
              <a:t> </a:t>
            </a:r>
            <a:r>
              <a:rPr sz="2800" b="1" spc="-25" dirty="0">
                <a:solidFill>
                  <a:srgbClr val="CC00CC"/>
                </a:solidFill>
                <a:latin typeface="Trebuchet MS" panose="020B0603020202020204"/>
                <a:cs typeface="Trebuchet MS" panose="020B0603020202020204"/>
              </a:rPr>
              <a:t>[5]</a:t>
            </a:r>
            <a:endParaRPr sz="2800">
              <a:latin typeface="Trebuchet MS" panose="020B0603020202020204"/>
              <a:cs typeface="Trebuchet MS" panose="020B0603020202020204"/>
            </a:endParaRPr>
          </a:p>
          <a:p>
            <a:pPr marL="469265" indent="-456565">
              <a:lnSpc>
                <a:spcPct val="100000"/>
              </a:lnSpc>
              <a:spcBef>
                <a:spcPts val="1730"/>
              </a:spcBef>
              <a:buClr>
                <a:srgbClr val="E88A33"/>
              </a:buClr>
              <a:buAutoNum type="arabicPeriod"/>
              <a:tabLst>
                <a:tab pos="469265" algn="l"/>
              </a:tabLst>
            </a:pPr>
            <a:r>
              <a:rPr sz="2000" b="1" spc="-90" dirty="0">
                <a:solidFill>
                  <a:srgbClr val="6F2F9F"/>
                </a:solidFill>
                <a:latin typeface="Trebuchet MS" panose="020B0603020202020204"/>
                <a:cs typeface="Trebuchet MS" panose="020B0603020202020204"/>
              </a:rPr>
              <a:t>Explain</a:t>
            </a:r>
            <a:r>
              <a:rPr sz="2000" b="1" spc="-120" dirty="0">
                <a:solidFill>
                  <a:srgbClr val="6F2F9F"/>
                </a:solidFill>
                <a:latin typeface="Trebuchet MS" panose="020B0603020202020204"/>
                <a:cs typeface="Trebuchet MS" panose="020B0603020202020204"/>
              </a:rPr>
              <a:t> </a:t>
            </a:r>
            <a:r>
              <a:rPr lang="en-US" altLang="en-US" sz="2000" b="1" spc="-80" dirty="0">
                <a:solidFill>
                  <a:srgbClr val="6F2F9F"/>
                </a:solidFill>
                <a:latin typeface="Trebuchet MS" panose="020B0603020202020204"/>
                <a:cs typeface="Trebuchet MS" panose="020B0603020202020204"/>
              </a:rPr>
              <a:t>MEC</a:t>
            </a:r>
            <a:r>
              <a:rPr sz="2000" b="1" spc="-145" dirty="0">
                <a:solidFill>
                  <a:srgbClr val="6F2F9F"/>
                </a:solidFill>
                <a:latin typeface="Trebuchet MS" panose="020B0603020202020204"/>
                <a:cs typeface="Trebuchet MS" panose="020B0603020202020204"/>
              </a:rPr>
              <a:t> </a:t>
            </a:r>
            <a:r>
              <a:rPr sz="2000" b="1" spc="-105" dirty="0">
                <a:solidFill>
                  <a:srgbClr val="6F2F9F"/>
                </a:solidFill>
                <a:latin typeface="Trebuchet MS" panose="020B0603020202020204"/>
                <a:cs typeface="Trebuchet MS" panose="020B0603020202020204"/>
              </a:rPr>
              <a:t>Deployment</a:t>
            </a:r>
            <a:r>
              <a:rPr sz="2000" b="1" spc="-70" dirty="0">
                <a:solidFill>
                  <a:srgbClr val="6F2F9F"/>
                </a:solidFill>
                <a:latin typeface="Trebuchet MS" panose="020B0603020202020204"/>
                <a:cs typeface="Trebuchet MS" panose="020B0603020202020204"/>
              </a:rPr>
              <a:t> </a:t>
            </a:r>
            <a:r>
              <a:rPr sz="2000" b="1" spc="-40" dirty="0">
                <a:solidFill>
                  <a:srgbClr val="6F2F9F"/>
                </a:solidFill>
                <a:latin typeface="Trebuchet MS" panose="020B0603020202020204"/>
                <a:cs typeface="Trebuchet MS" panose="020B0603020202020204"/>
              </a:rPr>
              <a:t>Models</a:t>
            </a:r>
            <a:r>
              <a:rPr sz="2000" b="1" spc="-120" dirty="0">
                <a:solidFill>
                  <a:srgbClr val="6F2F9F"/>
                </a:solidFill>
                <a:latin typeface="Trebuchet MS" panose="020B0603020202020204"/>
                <a:cs typeface="Trebuchet MS" panose="020B0603020202020204"/>
              </a:rPr>
              <a:t> </a:t>
            </a:r>
            <a:r>
              <a:rPr sz="2000" b="1" spc="-110" dirty="0">
                <a:solidFill>
                  <a:srgbClr val="6F2F9F"/>
                </a:solidFill>
                <a:latin typeface="Trebuchet MS" panose="020B0603020202020204"/>
                <a:cs typeface="Trebuchet MS" panose="020B0603020202020204"/>
              </a:rPr>
              <a:t>in</a:t>
            </a:r>
            <a:r>
              <a:rPr sz="2000" b="1" spc="-150" dirty="0">
                <a:solidFill>
                  <a:srgbClr val="6F2F9F"/>
                </a:solidFill>
                <a:latin typeface="Trebuchet MS" panose="020B0603020202020204"/>
                <a:cs typeface="Trebuchet MS" panose="020B0603020202020204"/>
              </a:rPr>
              <a:t> </a:t>
            </a:r>
            <a:r>
              <a:rPr sz="2000" b="1" spc="-50" dirty="0">
                <a:solidFill>
                  <a:srgbClr val="6F2F9F"/>
                </a:solidFill>
                <a:latin typeface="Trebuchet MS" panose="020B0603020202020204"/>
                <a:cs typeface="Trebuchet MS" panose="020B0603020202020204"/>
              </a:rPr>
              <a:t>detail</a:t>
            </a:r>
            <a:r>
              <a:rPr sz="2000" b="1" spc="114" dirty="0">
                <a:solidFill>
                  <a:srgbClr val="6F2F9F"/>
                </a:solidFill>
                <a:latin typeface="Trebuchet MS" panose="020B0603020202020204"/>
                <a:cs typeface="Trebuchet MS" panose="020B0603020202020204"/>
              </a:rPr>
              <a:t> </a:t>
            </a:r>
            <a:r>
              <a:rPr sz="2800" b="1" spc="-20" dirty="0">
                <a:solidFill>
                  <a:srgbClr val="CC00CC"/>
                </a:solidFill>
                <a:latin typeface="Trebuchet MS" panose="020B0603020202020204"/>
                <a:cs typeface="Trebuchet MS" panose="020B0603020202020204"/>
              </a:rPr>
              <a:t>(10)</a:t>
            </a:r>
            <a:endParaRPr sz="2800">
              <a:latin typeface="Trebuchet MS" panose="020B0603020202020204"/>
              <a:cs typeface="Trebuchet MS" panose="020B0603020202020204"/>
            </a:endParaRPr>
          </a:p>
        </p:txBody>
      </p:sp>
    </p:spTree>
  </p:cSld>
  <p:clrMapOvr>
    <a:masterClrMapping/>
  </p:clrMapOvr>
</p:sld>
</file>

<file path=ppt/tags/tag1.xml><?xml version="1.0" encoding="utf-8"?>
<p:tagLst xmlns:p="http://schemas.openxmlformats.org/presentationml/2006/main">
  <p:tag name="TABLE_ENDDRAG_ORIGIN_RECT" val="331*367"/>
  <p:tag name="TABLE_ENDDRAG_RECT" val="6*80*331*367"/>
</p:tagLst>
</file>

<file path=ppt/tags/tag2.xml><?xml version="1.0" encoding="utf-8"?>
<p:tagLst xmlns:p="http://schemas.openxmlformats.org/presentationml/2006/main">
  <p:tag name="TABLE_ENDDRAG_ORIGIN_RECT" val="352*197"/>
  <p:tag name="TABLE_ENDDRAG_RECT" val="354*96*352*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20770</Words>
  <Application>WPS Presentation</Application>
  <PresentationFormat>On-screen Show (4:3)</PresentationFormat>
  <Paragraphs>698</Paragraphs>
  <Slides>68</Slides>
  <Notes>0</Notes>
  <HiddenSlides>0</HiddenSlides>
  <MMClips>0</MMClips>
  <ScaleCrop>false</ScaleCrop>
  <HeadingPairs>
    <vt:vector size="8" baseType="variant">
      <vt:variant>
        <vt:lpstr>已用的字体</vt:lpstr>
      </vt:variant>
      <vt:variant>
        <vt:i4>23</vt:i4>
      </vt:variant>
      <vt:variant>
        <vt:lpstr>主题</vt:lpstr>
      </vt:variant>
      <vt:variant>
        <vt:i4>1</vt:i4>
      </vt:variant>
      <vt:variant>
        <vt:lpstr>嵌入 OLE 服务器</vt:lpstr>
      </vt:variant>
      <vt:variant>
        <vt:i4>10</vt:i4>
      </vt:variant>
      <vt:variant>
        <vt:lpstr>幻灯片标题</vt:lpstr>
      </vt:variant>
      <vt:variant>
        <vt:i4>68</vt:i4>
      </vt:variant>
    </vt:vector>
  </HeadingPairs>
  <TitlesOfParts>
    <vt:vector size="102" baseType="lpstr">
      <vt:lpstr>Arial</vt:lpstr>
      <vt:lpstr>SimSun</vt:lpstr>
      <vt:lpstr>Wingdings</vt:lpstr>
      <vt:lpstr>Calibri Light</vt:lpstr>
      <vt:lpstr>Arial</vt:lpstr>
      <vt:lpstr>Times New Roman</vt:lpstr>
      <vt:lpstr>Trebuchet MS</vt:lpstr>
      <vt:lpstr>Wingdings</vt:lpstr>
      <vt:lpstr>Wingdings</vt:lpstr>
      <vt:lpstr>Segoe UI</vt:lpstr>
      <vt:lpstr>Calibri</vt:lpstr>
      <vt:lpstr>Times New Roman</vt:lpstr>
      <vt:lpstr>Calibri</vt:lpstr>
      <vt:lpstr>Microsoft YaHei</vt:lpstr>
      <vt:lpstr>Arial Unicode MS</vt:lpstr>
      <vt:lpstr>Cambria</vt:lpstr>
      <vt:lpstr>Palatino Linotype</vt:lpstr>
      <vt:lpstr>Courier New</vt:lpstr>
      <vt:lpstr>Cambria</vt:lpstr>
      <vt:lpstr>Comic Sans MS</vt:lpstr>
      <vt:lpstr>Bell MT</vt:lpstr>
      <vt:lpstr>Berlin Sans FB</vt:lpstr>
      <vt:lpstr>Bauhaus 93</vt:lpstr>
      <vt:lpstr>Office Theme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CSD2006 Introduction to Edge Computing</vt:lpstr>
      <vt:lpstr>Module I –L1</vt:lpstr>
      <vt:lpstr>Introduction</vt:lpstr>
      <vt:lpstr>Why Edge Computing is Needed</vt:lpstr>
      <vt:lpstr>Working Principle</vt:lpstr>
      <vt:lpstr>OVERVIEW OF EDGE AI</vt:lpstr>
      <vt:lpstr>OVERVIEW OF EDGE AI</vt:lpstr>
      <vt:lpstr>Cutting-Edge - Computing </vt:lpstr>
      <vt:lpstr>Conti...</vt:lpstr>
      <vt:lpstr>Module I –L2</vt:lpstr>
      <vt:lpstr>DIFFERENCES BETWEEN CLOUD AI AND EDGE AI</vt:lpstr>
      <vt:lpstr>Conti.....</vt:lpstr>
      <vt:lpstr>conti...</vt:lpstr>
      <vt:lpstr>Comparison Between Cloud AI and Edge AI</vt:lpstr>
      <vt:lpstr>Comparison Between Cloud AI and Edge AI</vt:lpstr>
      <vt:lpstr>PowerPoint 演示文稿</vt:lpstr>
      <vt:lpstr>Benefits of Edge AI in real-time analytics</vt:lpstr>
      <vt:lpstr>Benefits of Edge AI in real-time analytics, </vt:lpstr>
      <vt:lpstr>conti..</vt:lpstr>
      <vt:lpstr>conti..</vt:lpstr>
      <vt:lpstr>PowerPoint 演示文稿</vt:lpstr>
      <vt:lpstr>Smart City</vt:lpstr>
      <vt:lpstr>Current Trends and Applications </vt:lpstr>
      <vt:lpstr>conti....</vt:lpstr>
      <vt:lpstr>Current Problems and Emerging Trends in Edge AI</vt:lpstr>
      <vt:lpstr>Current Problems and Emerging Trends in Edge AI</vt:lpstr>
      <vt:lpstr>conti...</vt:lpstr>
      <vt:lpstr>PowerPoint 演示文稿</vt:lpstr>
      <vt:lpstr>Future prospects of Edge</vt:lpstr>
      <vt:lpstr>Future prospects of Edge/EdgeAI</vt:lpstr>
      <vt:lpstr>conti...</vt:lpstr>
      <vt:lpstr>conti...</vt:lpstr>
      <vt:lpstr>PowerPoint 演示文稿</vt:lpstr>
      <vt:lpstr>Cloud Vs Edge </vt:lpstr>
      <vt:lpstr>Cloud Vs Edge Vs Fog</vt:lpstr>
      <vt:lpstr>Cloud Vs Edge Vs Fog</vt:lpstr>
      <vt:lpstr>PowerPoint 演示文稿</vt:lpstr>
      <vt:lpstr>Hierarchy of  Edge Computing technology</vt:lpstr>
      <vt:lpstr>PowerPoint 演示文稿</vt:lpstr>
      <vt:lpstr>The hierarchy of Fog and Edge Computing generally consists of three main layers:</vt:lpstr>
      <vt:lpstr>PowerPoint 演示文稿</vt:lpstr>
      <vt:lpstr>PowerPoint 演示文稿</vt:lpstr>
      <vt:lpstr>Module 1 -L8</vt:lpstr>
      <vt:lpstr>Hierarchy of Fog and Edge Computing</vt:lpstr>
      <vt:lpstr>Hierarchy of Fog and Edge Computing</vt:lpstr>
      <vt:lpstr>Hierarchy of Fog and Edge Computing</vt:lpstr>
      <vt:lpstr>Hierarchy of Fog and Edge Computing</vt:lpstr>
      <vt:lpstr>Hierarchy of Fog and Edge Computing</vt:lpstr>
      <vt:lpstr>PowerPoint 演示文稿</vt:lpstr>
      <vt:lpstr>Eaas </vt:lpstr>
      <vt:lpstr>Edge Nodes:</vt:lpstr>
      <vt:lpstr>Module 1-L10</vt:lpstr>
      <vt:lpstr>Network Slices for Edge Systems,  </vt:lpstr>
      <vt:lpstr>conti...</vt:lpstr>
      <vt:lpstr>Module-1- L11</vt:lpstr>
      <vt:lpstr>Edge and Fog Computing: Mobile Edge Computing (MEC)</vt:lpstr>
      <vt:lpstr>Edge and Fog Computing: Mobile Edge Computing (MEC)</vt:lpstr>
      <vt:lpstr>Edge and Fog Computing: Mobile Edge Computing (MEC)</vt:lpstr>
      <vt:lpstr>Edge and Fog Computing: Mobile Edge Computing (MEC)</vt:lpstr>
      <vt:lpstr>PowerPoint 演示文稿</vt:lpstr>
      <vt:lpstr>Mobile Edge Computing (MEC) Model:</vt:lpstr>
      <vt:lpstr>MEC- Model-cloud</vt:lpstr>
      <vt:lpstr>MEC-Model</vt:lpstr>
      <vt:lpstr>1. MEC System Model</vt:lpstr>
      <vt:lpstr>2. MEC Architecture (Conceptual Diagram)</vt:lpstr>
      <vt:lpstr>Sample questions(2M)</vt:lpstr>
      <vt:lpstr>PowerPoint 演示文稿</vt:lpstr>
      <vt:lpstr>Class Test I [ Answer All 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CSD2006 Introduction to Edge Computing</dc:title>
  <dc:creator/>
  <cp:lastModifiedBy>Lakshmisha S K</cp:lastModifiedBy>
  <cp:revision>42</cp:revision>
  <dcterms:created xsi:type="dcterms:W3CDTF">2026-01-13T14:21:00Z</dcterms:created>
  <dcterms:modified xsi:type="dcterms:W3CDTF">2026-02-02T17:13:39Z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2023-10-18T09:00:00Z</vt:filetime>
  </property>
  <property fmtid="{D5CDD505-2E9C-101B-9397-08002B2CF9AE}" pid="3" name="Creator">
    <vt:lpwstr>Microsoft® PowerPoint® 2016</vt:lpwstr>
  </property>
  <property fmtid="{D5CDD505-2E9C-101B-9397-08002B2CF9AE}" pid="4" name="LastSaved">
    <vt:filetime>2026-01-14T09:00:00Z</vt:filetime>
  </property>
  <property fmtid="{D5CDD505-2E9C-101B-9397-08002B2CF9AE}" pid="5" name="Producer">
    <vt:lpwstr>www.ilovepdf.com</vt:lpwstr>
  </property>
  <property fmtid="{D5CDD505-2E9C-101B-9397-08002B2CF9AE}" pid="6" name="ICV">
    <vt:lpwstr>3D6B62F62C304A09B73F71732D7BFEC9_13</vt:lpwstr>
  </property>
  <property fmtid="{D5CDD505-2E9C-101B-9397-08002B2CF9AE}" pid="7" name="KSOProductBuildVer">
    <vt:lpwstr>1033-12.2.0.23196</vt:lpwstr>
  </property>
</Properties>
</file>